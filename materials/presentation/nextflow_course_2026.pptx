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6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6" r:id="rId36"/>
    <p:sldId id="294" r:id="rId37"/>
    <p:sldId id="295" r:id="rId38"/>
    <p:sldId id="290" r:id="rId39"/>
    <p:sldId id="291" r:id="rId40"/>
    <p:sldId id="292" r:id="rId41"/>
    <p:sldId id="293" r:id="rId42"/>
    <p:sldId id="303" r:id="rId43"/>
    <p:sldId id="297" r:id="rId44"/>
    <p:sldId id="298" r:id="rId45"/>
    <p:sldId id="299" r:id="rId46"/>
    <p:sldId id="300" r:id="rId47"/>
    <p:sldId id="301" r:id="rId48"/>
    <p:sldId id="302"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8" r:id="rId63"/>
    <p:sldId id="317" r:id="rId64"/>
  </p:sldIdLst>
  <p:sldSz cx="9144000" cy="5143500" type="screen16x9"/>
  <p:notesSz cx="6858000" cy="9144000"/>
  <p:embeddedFontLst>
    <p:embeddedFont>
      <p:font typeface="Lato" panose="020F0502020204030203" pitchFamily="34" charset="0"/>
      <p:regular r:id="rId66"/>
      <p:bold r:id="rId67"/>
      <p:italic r:id="rId68"/>
      <p:boldItalic r:id="rId69"/>
    </p:embeddedFont>
    <p:embeddedFont>
      <p:font typeface="Maven Pro"/>
      <p:regular r:id="rId70"/>
      <p:bold r:id="rId71"/>
    </p:embeddedFont>
    <p:embeddedFont>
      <p:font typeface="Nunito" pitchFamily="2" charset="77"/>
      <p:regular r:id="rId72"/>
      <p:bold r:id="rId73"/>
      <p:italic r:id="rId74"/>
      <p:boldItalic r:id="rId75"/>
    </p:embeddedFont>
    <p:embeddedFont>
      <p:font typeface="Roboto" panose="02000000000000000000" pitchFamily="2" charset="0"/>
      <p:regular r:id="rId76"/>
      <p:bold r:id="rId77"/>
      <p:italic r:id="rId78"/>
      <p:boldItalic r:id="rId7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12A25F6-365B-4CE5-B9C8-0CC15657493F}">
  <a:tblStyle styleId="{712A25F6-365B-4CE5-B9C8-0CC15657493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85"/>
    <p:restoredTop sz="94771"/>
  </p:normalViewPr>
  <p:slideViewPr>
    <p:cSldViewPr snapToGrid="0">
      <p:cViewPr varScale="1">
        <p:scale>
          <a:sx n="153" d="100"/>
          <a:sy n="153" d="100"/>
        </p:scale>
        <p:origin x="568" y="3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3.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9.fntdata"/><Relationship Id="rId79" Type="http://schemas.openxmlformats.org/officeDocument/2006/relationships/font" Target="fonts/font14.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4.fntdata"/><Relationship Id="rId77"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7.fntdata"/><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5.fntdata"/><Relationship Id="rId75" Type="http://schemas.openxmlformats.org/officeDocument/2006/relationships/font" Target="fonts/font10.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73" Type="http://schemas.openxmlformats.org/officeDocument/2006/relationships/font" Target="fonts/font8.fntdata"/><Relationship Id="rId78" Type="http://schemas.openxmlformats.org/officeDocument/2006/relationships/font" Target="fonts/font13.fntdata"/><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1.fntdata"/><Relationship Id="rId7" Type="http://schemas.openxmlformats.org/officeDocument/2006/relationships/slide" Target="slides/slide6.xml"/><Relationship Id="rId71" Type="http://schemas.openxmlformats.org/officeDocument/2006/relationships/font" Target="fonts/font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1b714051ba_0_1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1b714051ba_0_1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21b714051ba_0_1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21b714051ba_0_1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21b714051ba_0_12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21b714051ba_0_1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1b714051ba_0_1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21b714051ba_0_1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21b714051ba_0_12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21b714051ba_0_1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21b714051ba_0_12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21b714051ba_0_1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21b714051ba_0_1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21b714051ba_0_1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21b714051ba_0_13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21b714051ba_0_1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21b714051ba_0_13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21b714051ba_0_1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21b714051ba_0_13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21b714051ba_0_1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21b714051ba_0_13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21b714051ba_0_13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21b714051ba_0_13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21b714051ba_0_1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1dfeea60a94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1dfeea60a94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21b714051ba_0_13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21b714051ba_0_1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21b714051ba_0_13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21b714051ba_0_1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21b714051ba_0_1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21b714051ba_0_1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21b714051ba_0_14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21b714051ba_0_14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21b714051ba_0_14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21b714051ba_0_14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21b714051ba_0_14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21b714051ba_0_14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1b714051ba_0_14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1b714051ba_0_1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1b714051ba_0_14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1b714051ba_0_14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1dfeea60a94_0_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1dfeea60a94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21b714051ba_0_14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21b714051ba_0_14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21b714051ba_0_14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21b714051ba_0_14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1dfeea60a94_0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3" name="Google Shape;503;g1dfeea60a94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dfeea60a94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dfeea60a94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21b714051ba_0_14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21b714051ba_0_1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21b714051ba_0_15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21b714051ba_0_15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1dfeea60a94_0_3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1dfeea60a94_0_3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21b714051ba_0_29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21b714051ba_0_29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1dfeea60a94_0_3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1dfeea60a94_0_3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g1dfeea60a94_0_4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5" name="Google Shape;605;g1dfeea60a94_0_4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1dfeea60a94_0_4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1dfeea60a94_0_4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21b714051ba_0_14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5" name="Google Shape;775;g21b714051ba_0_14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21b714051ba_0_15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6" name="Google Shape;756;g21b714051ba_0_15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21b714051ba_0_15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4" name="Google Shape;764;g21b714051ba_0_15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21b714051ba_0_29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21b714051ba_0_29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1dfeea60a94_0_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1dfeea60a94_0_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1dfeea60a94_0_5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1dfeea60a94_0_5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1dfeea60a94_0_6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8" name="Google Shape;728;g1dfeea60a94_0_6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c52662efa6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5" name="Google Shape;895;g2c52662efa6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1dfeea60a94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1dfeea60a94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1dfeea60a94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8" name="Google Shape;798;g1dfeea60a94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1dfeea60a94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5" name="Google Shape;805;g1dfeea60a94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1dfeea60a94_0_1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7" name="Google Shape;827;g1dfeea60a94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1dfeea60a94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8" name="Google Shape;848;g1dfeea60a94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g1dfeea60a94_0_2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3" name="Google Shape;873;g1dfeea60a94_0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1dfeea60a94_0_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2" name="Google Shape;902;g1dfeea60a94_0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g1dfeea60a94_0_3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9" name="Google Shape;909;g1dfeea60a94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1dfeea60a94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6" name="Google Shape;916;g1dfeea60a94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1dfeea60a94_0_3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3" name="Google Shape;923;g1dfeea60a94_0_3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2cd7b5a02c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8" name="Google Shape;928;g2cd7b5a02c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1dfeea60a94_0_7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3" name="Google Shape;933;g1dfeea60a94_0_7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1dfeea60a94_0_7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8" name="Google Shape;938;g1dfeea60a94_0_7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2ce6e159e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5" name="Google Shape;945;g2ce6e159e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g2ce6e159e76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3" name="Google Shape;953;g2ce6e159e7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22a8b8cdcb5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0" name="Google Shape;960;g22a8b8cdcb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2ce6e159e76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9" name="Google Shape;969;g2ce6e159e76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2a8b8cdcb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9" name="Google Shape;979;g22a8b8cdcb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22a8b8cdcb5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5" name="Google Shape;995;g22a8b8cdcb5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a:extLst>
            <a:ext uri="{FF2B5EF4-FFF2-40B4-BE49-F238E27FC236}">
              <a16:creationId xmlns:a16="http://schemas.microsoft.com/office/drawing/2014/main" id="{6EEB50AB-A244-FA84-F35C-318900A48754}"/>
            </a:ext>
          </a:extLst>
        </p:cNvPr>
        <p:cNvGrpSpPr/>
        <p:nvPr/>
      </p:nvGrpSpPr>
      <p:grpSpPr>
        <a:xfrm>
          <a:off x="0" y="0"/>
          <a:ext cx="0" cy="0"/>
          <a:chOff x="0" y="0"/>
          <a:chExt cx="0" cy="0"/>
        </a:xfrm>
      </p:grpSpPr>
      <p:sp>
        <p:nvSpPr>
          <p:cNvPr id="978" name="Google Shape;978;g22a8b8cdcb5_0_19:notes">
            <a:extLst>
              <a:ext uri="{FF2B5EF4-FFF2-40B4-BE49-F238E27FC236}">
                <a16:creationId xmlns:a16="http://schemas.microsoft.com/office/drawing/2014/main" id="{15DC2A9E-02EA-5A33-9AA6-E18864D721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9" name="Google Shape;979;g22a8b8cdcb5_0_19:notes">
            <a:extLst>
              <a:ext uri="{FF2B5EF4-FFF2-40B4-BE49-F238E27FC236}">
                <a16:creationId xmlns:a16="http://schemas.microsoft.com/office/drawing/2014/main" id="{80655F65-A2B7-9BF6-8440-3C8E7250FF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38191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5"/>
        <p:cNvGrpSpPr/>
        <p:nvPr/>
      </p:nvGrpSpPr>
      <p:grpSpPr>
        <a:xfrm>
          <a:off x="0" y="0"/>
          <a:ext cx="0" cy="0"/>
          <a:chOff x="0" y="0"/>
          <a:chExt cx="0" cy="0"/>
        </a:xfrm>
      </p:grpSpPr>
      <p:sp>
        <p:nvSpPr>
          <p:cNvPr id="1076" name="Google Shape;1076;g22a8b8cdcb5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7" name="Google Shape;1077;g22a8b8cdcb5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4.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6.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1.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image" Target="../media/image24.png"/><Relationship Id="rId5" Type="http://schemas.openxmlformats.org/officeDocument/2006/relationships/image" Target="../media/image2.png"/><Relationship Id="rId15" Type="http://schemas.openxmlformats.org/officeDocument/2006/relationships/image" Target="../media/image15.png"/><Relationship Id="rId23" Type="http://schemas.openxmlformats.org/officeDocument/2006/relationships/image" Target="../media/image23.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5.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11.xml"/><Relationship Id="rId4" Type="http://schemas.openxmlformats.org/officeDocument/2006/relationships/image" Target="../media/image35.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9.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6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Introduction to Nextflow</a:t>
            </a:r>
            <a:endParaRPr/>
          </a:p>
        </p:txBody>
      </p:sp>
      <p:sp>
        <p:nvSpPr>
          <p:cNvPr id="278" name="Google Shape;278;p13"/>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Akshai Parakkal Sreenivasan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pic>
        <p:nvPicPr>
          <p:cNvPr id="283" name="Google Shape;283;p14"/>
          <p:cNvPicPr preferRelativeResize="0"/>
          <p:nvPr/>
        </p:nvPicPr>
        <p:blipFill>
          <a:blip r:embed="rId3">
            <a:alphaModFix/>
          </a:blip>
          <a:stretch>
            <a:fillRect/>
          </a:stretch>
        </p:blipFill>
        <p:spPr>
          <a:xfrm>
            <a:off x="5715000" y="0"/>
            <a:ext cx="3429000" cy="5143500"/>
          </a:xfrm>
          <a:prstGeom prst="rect">
            <a:avLst/>
          </a:prstGeom>
          <a:noFill/>
          <a:ln>
            <a:noFill/>
          </a:ln>
        </p:spPr>
      </p:pic>
      <p:sp>
        <p:nvSpPr>
          <p:cNvPr id="284" name="Google Shape;284;p14"/>
          <p:cNvSpPr txBox="1"/>
          <p:nvPr/>
        </p:nvSpPr>
        <p:spPr>
          <a:xfrm>
            <a:off x="897500" y="2471750"/>
            <a:ext cx="23640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latin typeface="Nunito"/>
                <a:ea typeface="Nunito"/>
                <a:cs typeface="Nunito"/>
                <a:sym typeface="Nunito"/>
              </a:rPr>
              <a:t>What is a pipeline?</a:t>
            </a:r>
            <a:endParaRPr sz="1700" b="1">
              <a:latin typeface="Nunito"/>
              <a:ea typeface="Nunito"/>
              <a:cs typeface="Nunito"/>
              <a:sym typeface="Nunito"/>
            </a:endParaRPr>
          </a:p>
        </p:txBody>
      </p:sp>
      <p:sp>
        <p:nvSpPr>
          <p:cNvPr id="285" name="Google Shape;285;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Pipeline</a:t>
            </a:r>
            <a:endParaRPr/>
          </a:p>
        </p:txBody>
      </p:sp>
      <p:sp>
        <p:nvSpPr>
          <p:cNvPr id="286" name="Google Shape;286;p14"/>
          <p:cNvSpPr txBox="1"/>
          <p:nvPr/>
        </p:nvSpPr>
        <p:spPr>
          <a:xfrm>
            <a:off x="618450" y="3429000"/>
            <a:ext cx="3000000" cy="1446520"/>
          </a:xfrm>
          <a:prstGeom prst="rect">
            <a:avLst/>
          </a:prstGeom>
          <a:noFill/>
          <a:ln>
            <a:noFill/>
          </a:ln>
        </p:spPr>
        <p:txBody>
          <a:bodyPr spcFirstLastPara="1" wrap="square" lIns="91425" tIns="91425" rIns="91425" bIns="91425" anchor="t" anchorCtr="0">
            <a:spAutoFit/>
          </a:bodyPr>
          <a:lstStyle/>
          <a:p>
            <a:pPr lvl="0">
              <a:lnSpc>
                <a:spcPct val="150000"/>
              </a:lnSpc>
              <a:spcAft>
                <a:spcPts val="1200"/>
              </a:spcAft>
            </a:pPr>
            <a:r>
              <a:rPr lang="en-US" sz="1200" dirty="0">
                <a:solidFill>
                  <a:schemeClr val="bg2"/>
                </a:solidFill>
              </a:rPr>
              <a:t>The main benefits of a pipeline include reproducibility, reduced manual work, time efficiency, scalability, ease of use, and robust error handling.</a:t>
            </a:r>
            <a:endParaRPr sz="1300" dirty="0">
              <a:solidFill>
                <a:schemeClr val="bg2"/>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What is Nextflow?</a:t>
            </a:r>
            <a:endParaRPr/>
          </a:p>
        </p:txBody>
      </p:sp>
      <p:sp>
        <p:nvSpPr>
          <p:cNvPr id="292" name="Google Shape;292;p15"/>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lvl="0">
              <a:lnSpc>
                <a:spcPct val="150000"/>
              </a:lnSpc>
            </a:pPr>
            <a:r>
              <a:rPr lang="en-US" dirty="0" err="1"/>
              <a:t>Nextflow</a:t>
            </a:r>
            <a:r>
              <a:rPr lang="en-US" dirty="0"/>
              <a:t> is a domain-specific language for building workflow pipelines. </a:t>
            </a:r>
          </a:p>
          <a:p>
            <a:pPr lvl="0">
              <a:lnSpc>
                <a:spcPct val="150000"/>
              </a:lnSpc>
            </a:pPr>
            <a:r>
              <a:rPr lang="en-US" dirty="0"/>
              <a:t>It is based on the Groovy programming language, which itself runs on the Java platform. </a:t>
            </a:r>
          </a:p>
          <a:p>
            <a:pPr lvl="0">
              <a:lnSpc>
                <a:spcPct val="150000"/>
              </a:lnSpc>
            </a:pPr>
            <a:r>
              <a:rPr lang="en-US" dirty="0"/>
              <a:t>It enables scalable and reproducible workflows without the need to manage filenames, error handling, environments, dependencies, execution resumption, </a:t>
            </a:r>
            <a:r>
              <a:rPr lang="en-US" dirty="0" err="1"/>
              <a:t>parallelisation</a:t>
            </a:r>
            <a:r>
              <a:rPr lang="en-US" dirty="0"/>
              <a:t>, and related concerns.</a:t>
            </a:r>
            <a:endParaRPr dirty="0"/>
          </a:p>
          <a:p>
            <a:pPr marL="0" lvl="0" indent="0" algn="l" rtl="0">
              <a:lnSpc>
                <a:spcPct val="150000"/>
              </a:lnSpc>
              <a:spcBef>
                <a:spcPts val="1200"/>
              </a:spcBef>
              <a:spcAft>
                <a:spcPts val="1200"/>
              </a:spcAft>
              <a:buNone/>
            </a:pPr>
            <a:endParaRPr dirty="0"/>
          </a:p>
        </p:txBody>
      </p:sp>
      <p:pic>
        <p:nvPicPr>
          <p:cNvPr id="293" name="Google Shape;293;p15"/>
          <p:cNvPicPr preferRelativeResize="0"/>
          <p:nvPr/>
        </p:nvPicPr>
        <p:blipFill>
          <a:blip r:embed="rId3">
            <a:alphaModFix/>
          </a:blip>
          <a:stretch>
            <a:fillRect/>
          </a:stretch>
        </p:blipFill>
        <p:spPr>
          <a:xfrm>
            <a:off x="0" y="4684875"/>
            <a:ext cx="2053475" cy="458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1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
        <p:nvSpPr>
          <p:cNvPr id="299" name="Google Shape;299;p16"/>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00" name="Google Shape;300;p16"/>
          <p:cNvPicPr preferRelativeResize="0"/>
          <p:nvPr/>
        </p:nvPicPr>
        <p:blipFill>
          <a:blip r:embed="rId3">
            <a:alphaModFix/>
          </a:blip>
          <a:stretch>
            <a:fillRect/>
          </a:stretch>
        </p:blipFill>
        <p:spPr>
          <a:xfrm>
            <a:off x="695250" y="-30750"/>
            <a:ext cx="771525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Nextflow</a:t>
            </a:r>
            <a:endParaRPr/>
          </a:p>
        </p:txBody>
      </p:sp>
      <p:sp>
        <p:nvSpPr>
          <p:cNvPr id="306" name="Google Shape;306;p17"/>
          <p:cNvSpPr txBox="1">
            <a:spLocks noGrp="1"/>
          </p:cNvSpPr>
          <p:nvPr>
            <p:ph type="body" idx="2"/>
          </p:nvPr>
        </p:nvSpPr>
        <p:spPr>
          <a:xfrm>
            <a:off x="492250" y="1697150"/>
            <a:ext cx="7842000" cy="2834700"/>
          </a:xfrm>
          <a:prstGeom prst="rect">
            <a:avLst/>
          </a:prstGeom>
        </p:spPr>
        <p:txBody>
          <a:bodyPr spcFirstLastPara="1" wrap="square" lIns="91425" tIns="91425" rIns="91425" bIns="91425" anchor="t" anchorCtr="0">
            <a:normAutofit/>
          </a:bodyPr>
          <a:lstStyle/>
          <a:p>
            <a:pPr lvl="0">
              <a:lnSpc>
                <a:spcPct val="150000"/>
              </a:lnSpc>
            </a:pPr>
            <a:r>
              <a:rPr lang="en" b="1" dirty="0"/>
              <a:t>Fast prototyping - </a:t>
            </a:r>
            <a:r>
              <a:rPr lang="en-US" dirty="0"/>
              <a:t>Easily combine multiple tasks into a workflow</a:t>
            </a:r>
          </a:p>
          <a:p>
            <a:pPr lvl="0">
              <a:lnSpc>
                <a:spcPct val="150000"/>
              </a:lnSpc>
            </a:pPr>
            <a:r>
              <a:rPr lang="en" b="1" dirty="0"/>
              <a:t>Reproducibility - </a:t>
            </a:r>
            <a:r>
              <a:rPr lang="en-US" dirty="0"/>
              <a:t>Supports Docker, Singularity, Conda, and version control (e.g., GitHub)</a:t>
            </a:r>
            <a:r>
              <a:rPr lang="en" dirty="0"/>
              <a:t>.</a:t>
            </a:r>
            <a:endParaRPr dirty="0"/>
          </a:p>
          <a:p>
            <a:pPr lvl="0">
              <a:lnSpc>
                <a:spcPct val="150000"/>
              </a:lnSpc>
            </a:pPr>
            <a:r>
              <a:rPr lang="en" b="1" dirty="0"/>
              <a:t>Portable - </a:t>
            </a:r>
            <a:r>
              <a:rPr lang="en-US" dirty="0"/>
              <a:t>Runs on local systems, HPC (SLURM), and cloud platforms (AWS, Azure, Kubernetes)</a:t>
            </a:r>
            <a:endParaRPr dirty="0"/>
          </a:p>
          <a:p>
            <a:pPr lvl="0">
              <a:lnSpc>
                <a:spcPct val="150000"/>
              </a:lnSpc>
            </a:pPr>
            <a:r>
              <a:rPr lang="en" b="1" dirty="0"/>
              <a:t>Parallelism - </a:t>
            </a:r>
            <a:r>
              <a:rPr lang="en-US" dirty="0"/>
              <a:t>Automatically parallelizes tasks and scales efficiently</a:t>
            </a:r>
          </a:p>
          <a:p>
            <a:pPr lvl="0">
              <a:lnSpc>
                <a:spcPct val="150000"/>
              </a:lnSpc>
            </a:pPr>
            <a:r>
              <a:rPr lang="en" b="1" dirty="0"/>
              <a:t>Continuous checkpoints - </a:t>
            </a:r>
            <a:r>
              <a:rPr lang="en-US" dirty="0"/>
              <a:t>Intermediate results are stored, allowing workflow resumption</a:t>
            </a:r>
          </a:p>
          <a:p>
            <a:pPr lvl="0">
              <a:lnSpc>
                <a:spcPct val="150000"/>
              </a:lnSpc>
            </a:pPr>
            <a:r>
              <a:rPr lang="en" b="1" dirty="0"/>
              <a:t>Stream oriented - </a:t>
            </a:r>
            <a:r>
              <a:rPr lang="en-US" dirty="0"/>
              <a:t>Enables flexible and scalable pipeline construction</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pic>
        <p:nvPicPr>
          <p:cNvPr id="311" name="Google Shape;311;p18"/>
          <p:cNvPicPr preferRelativeResize="0"/>
          <p:nvPr/>
        </p:nvPicPr>
        <p:blipFill rotWithShape="1">
          <a:blip r:embed="rId3">
            <a:alphaModFix/>
          </a:blip>
          <a:srcRect t="34484" b="33286"/>
          <a:stretch/>
        </p:blipFill>
        <p:spPr>
          <a:xfrm>
            <a:off x="152400" y="1259100"/>
            <a:ext cx="2595800" cy="788175"/>
          </a:xfrm>
          <a:prstGeom prst="rect">
            <a:avLst/>
          </a:prstGeom>
          <a:noFill/>
          <a:ln>
            <a:noFill/>
          </a:ln>
        </p:spPr>
      </p:pic>
      <p:pic>
        <p:nvPicPr>
          <p:cNvPr id="312" name="Google Shape;312;p18"/>
          <p:cNvPicPr preferRelativeResize="0"/>
          <p:nvPr/>
        </p:nvPicPr>
        <p:blipFill>
          <a:blip r:embed="rId4">
            <a:alphaModFix/>
          </a:blip>
          <a:stretch>
            <a:fillRect/>
          </a:stretch>
        </p:blipFill>
        <p:spPr>
          <a:xfrm>
            <a:off x="4273625" y="3223769"/>
            <a:ext cx="1552224" cy="827281"/>
          </a:xfrm>
          <a:prstGeom prst="rect">
            <a:avLst/>
          </a:prstGeom>
          <a:noFill/>
          <a:ln>
            <a:noFill/>
          </a:ln>
        </p:spPr>
      </p:pic>
      <p:pic>
        <p:nvPicPr>
          <p:cNvPr id="313" name="Google Shape;313;p18"/>
          <p:cNvPicPr preferRelativeResize="0"/>
          <p:nvPr/>
        </p:nvPicPr>
        <p:blipFill>
          <a:blip r:embed="rId5">
            <a:alphaModFix/>
          </a:blip>
          <a:stretch>
            <a:fillRect/>
          </a:stretch>
        </p:blipFill>
        <p:spPr>
          <a:xfrm>
            <a:off x="3261574" y="522694"/>
            <a:ext cx="2800448" cy="625450"/>
          </a:xfrm>
          <a:prstGeom prst="rect">
            <a:avLst/>
          </a:prstGeom>
          <a:noFill/>
          <a:ln>
            <a:noFill/>
          </a:ln>
        </p:spPr>
      </p:pic>
      <p:pic>
        <p:nvPicPr>
          <p:cNvPr id="314" name="Google Shape;314;p18"/>
          <p:cNvPicPr preferRelativeResize="0"/>
          <p:nvPr/>
        </p:nvPicPr>
        <p:blipFill>
          <a:blip r:embed="rId6">
            <a:alphaModFix/>
          </a:blip>
          <a:stretch>
            <a:fillRect/>
          </a:stretch>
        </p:blipFill>
        <p:spPr>
          <a:xfrm>
            <a:off x="1155225" y="4364850"/>
            <a:ext cx="3205002" cy="696401"/>
          </a:xfrm>
          <a:prstGeom prst="rect">
            <a:avLst/>
          </a:prstGeom>
          <a:noFill/>
          <a:ln>
            <a:noFill/>
          </a:ln>
        </p:spPr>
      </p:pic>
      <p:pic>
        <p:nvPicPr>
          <p:cNvPr id="315" name="Google Shape;315;p18"/>
          <p:cNvPicPr preferRelativeResize="0"/>
          <p:nvPr/>
        </p:nvPicPr>
        <p:blipFill>
          <a:blip r:embed="rId7">
            <a:alphaModFix/>
          </a:blip>
          <a:stretch>
            <a:fillRect/>
          </a:stretch>
        </p:blipFill>
        <p:spPr>
          <a:xfrm>
            <a:off x="92300" y="2924950"/>
            <a:ext cx="1617300" cy="909726"/>
          </a:xfrm>
          <a:prstGeom prst="rect">
            <a:avLst/>
          </a:prstGeom>
          <a:noFill/>
          <a:ln>
            <a:noFill/>
          </a:ln>
        </p:spPr>
      </p:pic>
      <p:pic>
        <p:nvPicPr>
          <p:cNvPr id="316" name="Google Shape;316;p18"/>
          <p:cNvPicPr preferRelativeResize="0"/>
          <p:nvPr/>
        </p:nvPicPr>
        <p:blipFill>
          <a:blip r:embed="rId8">
            <a:alphaModFix/>
          </a:blip>
          <a:stretch>
            <a:fillRect/>
          </a:stretch>
        </p:blipFill>
        <p:spPr>
          <a:xfrm>
            <a:off x="6399376" y="1056850"/>
            <a:ext cx="2493476" cy="858350"/>
          </a:xfrm>
          <a:prstGeom prst="rect">
            <a:avLst/>
          </a:prstGeom>
          <a:noFill/>
          <a:ln>
            <a:noFill/>
          </a:ln>
        </p:spPr>
      </p:pic>
      <p:pic>
        <p:nvPicPr>
          <p:cNvPr id="317" name="Google Shape;317;p18"/>
          <p:cNvPicPr preferRelativeResize="0"/>
          <p:nvPr/>
        </p:nvPicPr>
        <p:blipFill>
          <a:blip r:embed="rId9">
            <a:alphaModFix/>
          </a:blip>
          <a:stretch>
            <a:fillRect/>
          </a:stretch>
        </p:blipFill>
        <p:spPr>
          <a:xfrm>
            <a:off x="7685100" y="3664929"/>
            <a:ext cx="1458900" cy="1193849"/>
          </a:xfrm>
          <a:prstGeom prst="rect">
            <a:avLst/>
          </a:prstGeom>
          <a:noFill/>
          <a:ln>
            <a:noFill/>
          </a:ln>
        </p:spPr>
      </p:pic>
      <p:pic>
        <p:nvPicPr>
          <p:cNvPr id="318" name="Google Shape;318;p18"/>
          <p:cNvPicPr preferRelativeResize="0"/>
          <p:nvPr/>
        </p:nvPicPr>
        <p:blipFill>
          <a:blip r:embed="rId10">
            <a:alphaModFix/>
          </a:blip>
          <a:stretch>
            <a:fillRect/>
          </a:stretch>
        </p:blipFill>
        <p:spPr>
          <a:xfrm>
            <a:off x="4847070" y="2293613"/>
            <a:ext cx="1951827" cy="502275"/>
          </a:xfrm>
          <a:prstGeom prst="rect">
            <a:avLst/>
          </a:prstGeom>
          <a:noFill/>
          <a:ln>
            <a:noFill/>
          </a:ln>
        </p:spPr>
      </p:pic>
      <p:pic>
        <p:nvPicPr>
          <p:cNvPr id="319" name="Google Shape;319;p18"/>
          <p:cNvPicPr preferRelativeResize="0"/>
          <p:nvPr/>
        </p:nvPicPr>
        <p:blipFill>
          <a:blip r:embed="rId11">
            <a:alphaModFix/>
          </a:blip>
          <a:stretch>
            <a:fillRect/>
          </a:stretch>
        </p:blipFill>
        <p:spPr>
          <a:xfrm>
            <a:off x="850427" y="2245824"/>
            <a:ext cx="2229477" cy="858350"/>
          </a:xfrm>
          <a:prstGeom prst="rect">
            <a:avLst/>
          </a:prstGeom>
          <a:noFill/>
          <a:ln>
            <a:noFill/>
          </a:ln>
        </p:spPr>
      </p:pic>
      <p:pic>
        <p:nvPicPr>
          <p:cNvPr id="320" name="Google Shape;320;p18"/>
          <p:cNvPicPr preferRelativeResize="0"/>
          <p:nvPr/>
        </p:nvPicPr>
        <p:blipFill>
          <a:blip r:embed="rId12">
            <a:alphaModFix/>
          </a:blip>
          <a:stretch>
            <a:fillRect/>
          </a:stretch>
        </p:blipFill>
        <p:spPr>
          <a:xfrm>
            <a:off x="4847075" y="4324630"/>
            <a:ext cx="2493475" cy="598869"/>
          </a:xfrm>
          <a:prstGeom prst="rect">
            <a:avLst/>
          </a:prstGeom>
          <a:noFill/>
          <a:ln>
            <a:noFill/>
          </a:ln>
        </p:spPr>
      </p:pic>
      <p:pic>
        <p:nvPicPr>
          <p:cNvPr id="321" name="Google Shape;321;p18"/>
          <p:cNvPicPr preferRelativeResize="0"/>
          <p:nvPr/>
        </p:nvPicPr>
        <p:blipFill>
          <a:blip r:embed="rId13">
            <a:alphaModFix/>
          </a:blip>
          <a:stretch>
            <a:fillRect/>
          </a:stretch>
        </p:blipFill>
        <p:spPr>
          <a:xfrm>
            <a:off x="2023150" y="0"/>
            <a:ext cx="1238425" cy="1238425"/>
          </a:xfrm>
          <a:prstGeom prst="rect">
            <a:avLst/>
          </a:prstGeom>
          <a:noFill/>
          <a:ln>
            <a:noFill/>
          </a:ln>
        </p:spPr>
      </p:pic>
      <p:pic>
        <p:nvPicPr>
          <p:cNvPr id="322" name="Google Shape;322;p18"/>
          <p:cNvPicPr preferRelativeResize="0"/>
          <p:nvPr/>
        </p:nvPicPr>
        <p:blipFill>
          <a:blip r:embed="rId14">
            <a:alphaModFix/>
          </a:blip>
          <a:stretch>
            <a:fillRect/>
          </a:stretch>
        </p:blipFill>
        <p:spPr>
          <a:xfrm>
            <a:off x="6798900" y="111023"/>
            <a:ext cx="2276399" cy="747215"/>
          </a:xfrm>
          <a:prstGeom prst="rect">
            <a:avLst/>
          </a:prstGeom>
          <a:noFill/>
          <a:ln>
            <a:noFill/>
          </a:ln>
        </p:spPr>
      </p:pic>
      <p:pic>
        <p:nvPicPr>
          <p:cNvPr id="323" name="Google Shape;323;p18"/>
          <p:cNvPicPr preferRelativeResize="0"/>
          <p:nvPr/>
        </p:nvPicPr>
        <p:blipFill>
          <a:blip r:embed="rId15">
            <a:alphaModFix/>
          </a:blip>
          <a:stretch>
            <a:fillRect/>
          </a:stretch>
        </p:blipFill>
        <p:spPr>
          <a:xfrm>
            <a:off x="7214024" y="1991694"/>
            <a:ext cx="1552226" cy="858350"/>
          </a:xfrm>
          <a:prstGeom prst="rect">
            <a:avLst/>
          </a:prstGeom>
          <a:noFill/>
          <a:ln>
            <a:noFill/>
          </a:ln>
        </p:spPr>
      </p:pic>
      <p:pic>
        <p:nvPicPr>
          <p:cNvPr id="324" name="Google Shape;324;p18"/>
          <p:cNvPicPr preferRelativeResize="0"/>
          <p:nvPr/>
        </p:nvPicPr>
        <p:blipFill>
          <a:blip r:embed="rId16">
            <a:alphaModFix/>
          </a:blip>
          <a:stretch>
            <a:fillRect/>
          </a:stretch>
        </p:blipFill>
        <p:spPr>
          <a:xfrm>
            <a:off x="2691375" y="3086200"/>
            <a:ext cx="1238425" cy="1238425"/>
          </a:xfrm>
          <a:prstGeom prst="rect">
            <a:avLst/>
          </a:prstGeom>
          <a:noFill/>
          <a:ln>
            <a:noFill/>
          </a:ln>
        </p:spPr>
      </p:pic>
      <p:pic>
        <p:nvPicPr>
          <p:cNvPr id="325" name="Google Shape;325;p18"/>
          <p:cNvPicPr preferRelativeResize="0"/>
          <p:nvPr/>
        </p:nvPicPr>
        <p:blipFill>
          <a:blip r:embed="rId17">
            <a:alphaModFix/>
          </a:blip>
          <a:stretch>
            <a:fillRect/>
          </a:stretch>
        </p:blipFill>
        <p:spPr>
          <a:xfrm>
            <a:off x="152400" y="34666"/>
            <a:ext cx="1823800" cy="1025884"/>
          </a:xfrm>
          <a:prstGeom prst="rect">
            <a:avLst/>
          </a:prstGeom>
          <a:noFill/>
          <a:ln>
            <a:noFill/>
          </a:ln>
        </p:spPr>
      </p:pic>
      <p:pic>
        <p:nvPicPr>
          <p:cNvPr id="326" name="Google Shape;326;p18"/>
          <p:cNvPicPr preferRelativeResize="0"/>
          <p:nvPr/>
        </p:nvPicPr>
        <p:blipFill>
          <a:blip r:embed="rId18">
            <a:alphaModFix/>
          </a:blip>
          <a:stretch>
            <a:fillRect/>
          </a:stretch>
        </p:blipFill>
        <p:spPr>
          <a:xfrm>
            <a:off x="3009238" y="1768964"/>
            <a:ext cx="1576806" cy="696400"/>
          </a:xfrm>
          <a:prstGeom prst="rect">
            <a:avLst/>
          </a:prstGeom>
          <a:noFill/>
          <a:ln>
            <a:noFill/>
          </a:ln>
        </p:spPr>
      </p:pic>
      <p:pic>
        <p:nvPicPr>
          <p:cNvPr id="327" name="Google Shape;327;p18"/>
          <p:cNvPicPr preferRelativeResize="0"/>
          <p:nvPr/>
        </p:nvPicPr>
        <p:blipFill>
          <a:blip r:embed="rId19">
            <a:alphaModFix/>
          </a:blip>
          <a:stretch>
            <a:fillRect/>
          </a:stretch>
        </p:blipFill>
        <p:spPr>
          <a:xfrm>
            <a:off x="3162511" y="1148150"/>
            <a:ext cx="1641615" cy="519488"/>
          </a:xfrm>
          <a:prstGeom prst="rect">
            <a:avLst/>
          </a:prstGeom>
          <a:noFill/>
          <a:ln>
            <a:noFill/>
          </a:ln>
        </p:spPr>
      </p:pic>
      <p:pic>
        <p:nvPicPr>
          <p:cNvPr id="328" name="Google Shape;328;p18"/>
          <p:cNvPicPr preferRelativeResize="0"/>
          <p:nvPr/>
        </p:nvPicPr>
        <p:blipFill>
          <a:blip r:embed="rId20">
            <a:alphaModFix/>
          </a:blip>
          <a:stretch>
            <a:fillRect/>
          </a:stretch>
        </p:blipFill>
        <p:spPr>
          <a:xfrm>
            <a:off x="5825847" y="3231869"/>
            <a:ext cx="2074374" cy="563400"/>
          </a:xfrm>
          <a:prstGeom prst="rect">
            <a:avLst/>
          </a:prstGeom>
          <a:noFill/>
          <a:ln>
            <a:noFill/>
          </a:ln>
        </p:spPr>
      </p:pic>
      <p:pic>
        <p:nvPicPr>
          <p:cNvPr id="329" name="Google Shape;329;p18"/>
          <p:cNvPicPr preferRelativeResize="0"/>
          <p:nvPr/>
        </p:nvPicPr>
        <p:blipFill>
          <a:blip r:embed="rId21">
            <a:alphaModFix/>
          </a:blip>
          <a:stretch>
            <a:fillRect/>
          </a:stretch>
        </p:blipFill>
        <p:spPr>
          <a:xfrm>
            <a:off x="1010225" y="3569803"/>
            <a:ext cx="1576800" cy="829397"/>
          </a:xfrm>
          <a:prstGeom prst="rect">
            <a:avLst/>
          </a:prstGeom>
          <a:noFill/>
          <a:ln>
            <a:noFill/>
          </a:ln>
        </p:spPr>
      </p:pic>
      <p:pic>
        <p:nvPicPr>
          <p:cNvPr id="330" name="Google Shape;330;p18"/>
          <p:cNvPicPr preferRelativeResize="0"/>
          <p:nvPr/>
        </p:nvPicPr>
        <p:blipFill>
          <a:blip r:embed="rId22">
            <a:alphaModFix/>
          </a:blip>
          <a:stretch>
            <a:fillRect/>
          </a:stretch>
        </p:blipFill>
        <p:spPr>
          <a:xfrm>
            <a:off x="4662848" y="1440309"/>
            <a:ext cx="1823799" cy="805515"/>
          </a:xfrm>
          <a:prstGeom prst="rect">
            <a:avLst/>
          </a:prstGeom>
          <a:noFill/>
          <a:ln>
            <a:noFill/>
          </a:ln>
        </p:spPr>
      </p:pic>
      <p:pic>
        <p:nvPicPr>
          <p:cNvPr id="331" name="Google Shape;331;p18"/>
          <p:cNvPicPr preferRelativeResize="0"/>
          <p:nvPr/>
        </p:nvPicPr>
        <p:blipFill>
          <a:blip r:embed="rId23">
            <a:alphaModFix/>
          </a:blip>
          <a:stretch>
            <a:fillRect/>
          </a:stretch>
        </p:blipFill>
        <p:spPr>
          <a:xfrm>
            <a:off x="76200" y="3893525"/>
            <a:ext cx="1025875" cy="1025875"/>
          </a:xfrm>
          <a:prstGeom prst="rect">
            <a:avLst/>
          </a:prstGeom>
          <a:noFill/>
          <a:ln>
            <a:noFill/>
          </a:ln>
        </p:spPr>
      </p:pic>
      <p:pic>
        <p:nvPicPr>
          <p:cNvPr id="332" name="Google Shape;332;p18"/>
          <p:cNvPicPr preferRelativeResize="0"/>
          <p:nvPr/>
        </p:nvPicPr>
        <p:blipFill>
          <a:blip r:embed="rId24">
            <a:alphaModFix/>
          </a:blip>
          <a:stretch>
            <a:fillRect/>
          </a:stretch>
        </p:blipFill>
        <p:spPr>
          <a:xfrm>
            <a:off x="4492450" y="0"/>
            <a:ext cx="1494234" cy="563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pic>
        <p:nvPicPr>
          <p:cNvPr id="337" name="Google Shape;337;p19"/>
          <p:cNvPicPr preferRelativeResize="0"/>
          <p:nvPr/>
        </p:nvPicPr>
        <p:blipFill>
          <a:blip r:embed="rId3">
            <a:alphaModFix/>
          </a:blip>
          <a:stretch>
            <a:fillRect/>
          </a:stretch>
        </p:blipFill>
        <p:spPr>
          <a:xfrm>
            <a:off x="152400" y="152399"/>
            <a:ext cx="8873078" cy="4991101"/>
          </a:xfrm>
          <a:prstGeom prst="rect">
            <a:avLst/>
          </a:prstGeom>
          <a:noFill/>
          <a:ln>
            <a:noFill/>
          </a:ln>
        </p:spPr>
      </p:pic>
      <p:sp>
        <p:nvSpPr>
          <p:cNvPr id="338" name="Google Shape;338;p19"/>
          <p:cNvSpPr txBox="1">
            <a:spLocks noGrp="1"/>
          </p:cNvSpPr>
          <p:nvPr>
            <p:ph type="title"/>
          </p:nvPr>
        </p:nvSpPr>
        <p:spPr>
          <a:xfrm>
            <a:off x="1303800" y="1413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Overview</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20"/>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How does it work?</a:t>
            </a:r>
            <a:endParaRPr/>
          </a:p>
        </p:txBody>
      </p:sp>
      <p:sp>
        <p:nvSpPr>
          <p:cNvPr id="344" name="Google Shape;344;p20"/>
          <p:cNvSpPr txBox="1">
            <a:spLocks noGrp="1"/>
          </p:cNvSpPr>
          <p:nvPr>
            <p:ph type="body" idx="1"/>
          </p:nvPr>
        </p:nvSpPr>
        <p:spPr>
          <a:xfrm>
            <a:off x="189625" y="1705400"/>
            <a:ext cx="4065600" cy="3266700"/>
          </a:xfrm>
          <a:prstGeom prst="rect">
            <a:avLst/>
          </a:prstGeom>
        </p:spPr>
        <p:txBody>
          <a:bodyPr spcFirstLastPara="1" wrap="square" lIns="91425" tIns="91425" rIns="91425" bIns="91425" anchor="t" anchorCtr="0">
            <a:normAutofit fontScale="92500" lnSpcReduction="20000"/>
          </a:bodyPr>
          <a:lstStyle/>
          <a:p>
            <a:pPr marL="457200" lvl="0" indent="-304958" algn="l" rtl="0">
              <a:lnSpc>
                <a:spcPct val="150000"/>
              </a:lnSpc>
              <a:spcBef>
                <a:spcPts val="0"/>
              </a:spcBef>
              <a:spcAft>
                <a:spcPts val="0"/>
              </a:spcAft>
              <a:buSzPct val="100000"/>
              <a:buChar char="●"/>
            </a:pPr>
            <a:r>
              <a:rPr lang="en" dirty="0"/>
              <a:t>Pipeline is made by stitching different processes together. Process can be in any scripting language executed by </a:t>
            </a:r>
            <a:r>
              <a:rPr lang="en" dirty="0" err="1"/>
              <a:t>linux</a:t>
            </a:r>
            <a:r>
              <a:rPr lang="en" dirty="0"/>
              <a:t> platform</a:t>
            </a:r>
            <a:endParaRPr dirty="0"/>
          </a:p>
          <a:p>
            <a:pPr marL="457200" lvl="0" indent="0" algn="l" rtl="0">
              <a:lnSpc>
                <a:spcPct val="150000"/>
              </a:lnSpc>
              <a:spcBef>
                <a:spcPts val="1200"/>
              </a:spcBef>
              <a:spcAft>
                <a:spcPts val="0"/>
              </a:spcAft>
              <a:buNone/>
            </a:pPr>
            <a:endParaRPr dirty="0"/>
          </a:p>
          <a:p>
            <a:pPr lvl="0" indent="-304958">
              <a:lnSpc>
                <a:spcPct val="150000"/>
              </a:lnSpc>
              <a:spcBef>
                <a:spcPts val="1200"/>
              </a:spcBef>
              <a:buSzPct val="100000"/>
            </a:pPr>
            <a:r>
              <a:rPr lang="en" dirty="0"/>
              <a:t>Processes are executed independently and are isolated. The communicate via </a:t>
            </a:r>
            <a:r>
              <a:rPr lang="en-US" dirty="0"/>
              <a:t>asynchronous</a:t>
            </a:r>
            <a:r>
              <a:rPr lang="en" dirty="0"/>
              <a:t> FIFO (First-in, first-out) queues called channels.</a:t>
            </a:r>
            <a:endParaRPr dirty="0"/>
          </a:p>
          <a:p>
            <a:pPr marL="457200" lvl="0" indent="0" algn="l" rtl="0">
              <a:lnSpc>
                <a:spcPct val="150000"/>
              </a:lnSpc>
              <a:spcBef>
                <a:spcPts val="1200"/>
              </a:spcBef>
              <a:spcAft>
                <a:spcPts val="0"/>
              </a:spcAft>
              <a:buNone/>
            </a:pPr>
            <a:endParaRPr dirty="0"/>
          </a:p>
          <a:p>
            <a:pPr lvl="0" indent="-304958">
              <a:lnSpc>
                <a:spcPct val="150000"/>
              </a:lnSpc>
              <a:spcBef>
                <a:spcPts val="1200"/>
              </a:spcBef>
              <a:buSzPct val="100000"/>
            </a:pPr>
            <a:r>
              <a:rPr lang="en-US" dirty="0"/>
              <a:t>Each process defines input and output channels that connect it to other processes.</a:t>
            </a:r>
            <a:endParaRPr dirty="0"/>
          </a:p>
        </p:txBody>
      </p:sp>
      <p:pic>
        <p:nvPicPr>
          <p:cNvPr id="345" name="Google Shape;345;p20"/>
          <p:cNvPicPr preferRelativeResize="0"/>
          <p:nvPr/>
        </p:nvPicPr>
        <p:blipFill>
          <a:blip r:embed="rId3">
            <a:alphaModFix/>
          </a:blip>
          <a:stretch>
            <a:fillRect/>
          </a:stretch>
        </p:blipFill>
        <p:spPr>
          <a:xfrm>
            <a:off x="4655094" y="2439275"/>
            <a:ext cx="4393225" cy="829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Example</a:t>
            </a:r>
            <a:endParaRPr/>
          </a:p>
        </p:txBody>
      </p:sp>
      <p:sp>
        <p:nvSpPr>
          <p:cNvPr id="351" name="Google Shape;351;p21"/>
          <p:cNvSpPr txBox="1"/>
          <p:nvPr/>
        </p:nvSpPr>
        <p:spPr>
          <a:xfrm>
            <a:off x="4648200" y="-47525"/>
            <a:ext cx="3820800" cy="5356500"/>
          </a:xfrm>
          <a:prstGeom prst="rect">
            <a:avLst/>
          </a:prstGeom>
          <a:solidFill>
            <a:srgbClr val="D0E0E3"/>
          </a:solidFill>
          <a:ln w="9525"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900" dirty="0"/>
              <a:t>#!/</a:t>
            </a:r>
            <a:r>
              <a:rPr lang="en" sz="900" dirty="0" err="1"/>
              <a:t>usr</a:t>
            </a:r>
            <a:r>
              <a:rPr lang="en" sz="900" dirty="0"/>
              <a:t>/bin/env </a:t>
            </a:r>
            <a:r>
              <a:rPr lang="en" sz="900" dirty="0" err="1"/>
              <a:t>nextflow</a:t>
            </a:r>
            <a:r>
              <a:rPr lang="en" sz="900" dirty="0"/>
              <a:t>   </a:t>
            </a:r>
            <a:r>
              <a:rPr lang="en" sz="1200" dirty="0">
                <a:solidFill>
                  <a:srgbClr val="0000FF"/>
                </a:solidFill>
              </a:rPr>
              <a:t>→</a:t>
            </a:r>
            <a:r>
              <a:rPr lang="en" sz="900" dirty="0">
                <a:solidFill>
                  <a:srgbClr val="0000FF"/>
                </a:solidFill>
              </a:rPr>
              <a:t>  shebang </a:t>
            </a:r>
            <a:endParaRPr sz="900" dirty="0">
              <a:solidFill>
                <a:srgbClr val="0000FF"/>
              </a:solidFill>
            </a:endParaRPr>
          </a:p>
          <a:p>
            <a:pPr marL="0" lvl="0" indent="0" algn="l" rtl="0">
              <a:spcBef>
                <a:spcPts val="0"/>
              </a:spcBef>
              <a:spcAft>
                <a:spcPts val="0"/>
              </a:spcAft>
              <a:buNone/>
            </a:pPr>
            <a:endParaRPr sz="900" dirty="0"/>
          </a:p>
          <a:p>
            <a:pPr marL="0" lvl="0" indent="0" algn="l" rtl="0">
              <a:spcBef>
                <a:spcPts val="0"/>
              </a:spcBef>
              <a:spcAft>
                <a:spcPts val="0"/>
              </a:spcAft>
              <a:buNone/>
            </a:pPr>
            <a:r>
              <a:rPr lang="en" sz="900" dirty="0" err="1"/>
              <a:t>params.greeting</a:t>
            </a:r>
            <a:r>
              <a:rPr lang="en" sz="900" dirty="0"/>
              <a:t> = 'Hello world!' </a:t>
            </a:r>
            <a:r>
              <a:rPr lang="en" sz="900" dirty="0">
                <a:solidFill>
                  <a:srgbClr val="0000FF"/>
                </a:solidFill>
              </a:rPr>
              <a:t>→ input parameter</a:t>
            </a:r>
            <a:endParaRPr sz="900" dirty="0">
              <a:solidFill>
                <a:srgbClr val="0000FF"/>
              </a:solidFill>
            </a:endParaRPr>
          </a:p>
          <a:p>
            <a:pPr marL="0" lvl="0" indent="0" algn="l" rtl="0">
              <a:spcBef>
                <a:spcPts val="0"/>
              </a:spcBef>
              <a:spcAft>
                <a:spcPts val="0"/>
              </a:spcAft>
              <a:buNone/>
            </a:pPr>
            <a:r>
              <a:rPr lang="en" sz="900" dirty="0" err="1"/>
              <a:t>greeting_ch</a:t>
            </a:r>
            <a:r>
              <a:rPr lang="en" sz="900" dirty="0"/>
              <a:t> = </a:t>
            </a:r>
            <a:r>
              <a:rPr lang="en" sz="900" dirty="0" err="1"/>
              <a:t>Channel.of</a:t>
            </a:r>
            <a:r>
              <a:rPr lang="en" sz="900" dirty="0"/>
              <a:t>(</a:t>
            </a:r>
            <a:r>
              <a:rPr lang="en" sz="900" dirty="0" err="1"/>
              <a:t>params.greeting</a:t>
            </a:r>
            <a:r>
              <a:rPr lang="en" sz="900" dirty="0"/>
              <a:t>) </a:t>
            </a:r>
            <a:r>
              <a:rPr lang="en" sz="900" dirty="0">
                <a:solidFill>
                  <a:srgbClr val="0000FF"/>
                </a:solidFill>
              </a:rPr>
              <a:t>→ creating channel</a:t>
            </a:r>
            <a:endParaRPr sz="900" dirty="0">
              <a:solidFill>
                <a:srgbClr val="0000FF"/>
              </a:solidFill>
            </a:endParaRPr>
          </a:p>
          <a:p>
            <a:pPr marL="0" lvl="0" indent="0" algn="l" rtl="0">
              <a:spcBef>
                <a:spcPts val="0"/>
              </a:spcBef>
              <a:spcAft>
                <a:spcPts val="0"/>
              </a:spcAft>
              <a:buNone/>
            </a:pPr>
            <a:endParaRPr sz="900" dirty="0"/>
          </a:p>
          <a:p>
            <a:pPr marL="0" lvl="0" indent="0" algn="l" rtl="0">
              <a:spcBef>
                <a:spcPts val="0"/>
              </a:spcBef>
              <a:spcAft>
                <a:spcPts val="0"/>
              </a:spcAft>
              <a:buNone/>
            </a:pPr>
            <a:r>
              <a:rPr lang="en" sz="900" dirty="0"/>
              <a:t>process SPLITLETTERS { </a:t>
            </a:r>
            <a:r>
              <a:rPr lang="en" sz="900" dirty="0">
                <a:solidFill>
                  <a:srgbClr val="0000FF"/>
                </a:solidFill>
              </a:rPr>
              <a:t>→ Process 1</a:t>
            </a:r>
            <a:endParaRPr sz="900" dirty="0">
              <a:solidFill>
                <a:srgbClr val="0000FF"/>
              </a:solidFill>
            </a:endParaRPr>
          </a:p>
          <a:p>
            <a:pPr marL="0" lvl="0" indent="0" algn="l" rtl="0">
              <a:spcBef>
                <a:spcPts val="0"/>
              </a:spcBef>
              <a:spcAft>
                <a:spcPts val="0"/>
              </a:spcAft>
              <a:buNone/>
            </a:pPr>
            <a:endParaRPr sz="900" dirty="0"/>
          </a:p>
          <a:p>
            <a:pPr marL="0" lvl="0" indent="0" algn="l" rtl="0">
              <a:spcBef>
                <a:spcPts val="0"/>
              </a:spcBef>
              <a:spcAft>
                <a:spcPts val="0"/>
              </a:spcAft>
              <a:buNone/>
            </a:pPr>
            <a:r>
              <a:rPr lang="en" sz="900" dirty="0"/>
              <a:t>    </a:t>
            </a:r>
            <a:r>
              <a:rPr lang="en" sz="900" dirty="0" err="1"/>
              <a:t>cpus</a:t>
            </a:r>
            <a:r>
              <a:rPr lang="en" sz="900" dirty="0"/>
              <a:t> 4</a:t>
            </a:r>
            <a:endParaRPr sz="900" dirty="0"/>
          </a:p>
          <a:p>
            <a:pPr marL="0" lvl="0" indent="0" algn="l" rtl="0">
              <a:spcBef>
                <a:spcPts val="0"/>
              </a:spcBef>
              <a:spcAft>
                <a:spcPts val="0"/>
              </a:spcAft>
              <a:buNone/>
            </a:pPr>
            <a:r>
              <a:rPr lang="en" sz="900" dirty="0"/>
              <a:t>    label “</a:t>
            </a:r>
            <a:r>
              <a:rPr lang="en" sz="900" dirty="0" err="1"/>
              <a:t>splitting_letters</a:t>
            </a:r>
            <a:r>
              <a:rPr lang="en" sz="900" dirty="0"/>
              <a:t>” </a:t>
            </a:r>
            <a:endParaRPr sz="900" dirty="0"/>
          </a:p>
          <a:p>
            <a:pPr marL="0" lvl="0" indent="0" algn="l" rtl="0">
              <a:spcBef>
                <a:spcPts val="0"/>
              </a:spcBef>
              <a:spcAft>
                <a:spcPts val="0"/>
              </a:spcAft>
              <a:buNone/>
            </a:pPr>
            <a:r>
              <a:rPr lang="en" sz="900" dirty="0"/>
              <a:t>    </a:t>
            </a:r>
            <a:endParaRPr sz="900" dirty="0"/>
          </a:p>
          <a:p>
            <a:pPr marL="0" lvl="0" indent="0" algn="l" rtl="0">
              <a:spcBef>
                <a:spcPts val="0"/>
              </a:spcBef>
              <a:spcAft>
                <a:spcPts val="0"/>
              </a:spcAft>
              <a:buNone/>
            </a:pPr>
            <a:r>
              <a:rPr lang="en" sz="900" dirty="0"/>
              <a:t>    input: 	</a:t>
            </a:r>
            <a:r>
              <a:rPr lang="en" sz="900" dirty="0">
                <a:solidFill>
                  <a:srgbClr val="0000FF"/>
                </a:solidFill>
              </a:rPr>
              <a:t>→ input block</a:t>
            </a:r>
            <a:endParaRPr sz="900" dirty="0">
              <a:solidFill>
                <a:srgbClr val="0000FF"/>
              </a:solidFill>
            </a:endParaRPr>
          </a:p>
          <a:p>
            <a:pPr marL="0" lvl="0" indent="0" algn="l" rtl="0">
              <a:spcBef>
                <a:spcPts val="0"/>
              </a:spcBef>
              <a:spcAft>
                <a:spcPts val="0"/>
              </a:spcAft>
              <a:buNone/>
            </a:pPr>
            <a:r>
              <a:rPr lang="en" sz="900" dirty="0"/>
              <a:t>    </a:t>
            </a:r>
            <a:r>
              <a:rPr lang="en" sz="900" dirty="0" err="1"/>
              <a:t>val</a:t>
            </a:r>
            <a:r>
              <a:rPr lang="en" sz="900" dirty="0"/>
              <a:t> x </a:t>
            </a:r>
            <a:endParaRPr sz="900" dirty="0"/>
          </a:p>
          <a:p>
            <a:pPr marL="0" lvl="0" indent="0" algn="l" rtl="0">
              <a:spcBef>
                <a:spcPts val="0"/>
              </a:spcBef>
              <a:spcAft>
                <a:spcPts val="0"/>
              </a:spcAft>
              <a:buNone/>
            </a:pPr>
            <a:endParaRPr sz="900" dirty="0"/>
          </a:p>
          <a:p>
            <a:pPr marL="0" lvl="0" indent="0" algn="l" rtl="0">
              <a:spcBef>
                <a:spcPts val="0"/>
              </a:spcBef>
              <a:spcAft>
                <a:spcPts val="0"/>
              </a:spcAft>
              <a:buNone/>
            </a:pPr>
            <a:r>
              <a:rPr lang="en" sz="900" dirty="0"/>
              <a:t>    output:	</a:t>
            </a:r>
            <a:r>
              <a:rPr lang="en" sz="900" dirty="0">
                <a:solidFill>
                  <a:srgbClr val="0000FF"/>
                </a:solidFill>
              </a:rPr>
              <a:t>→ output block</a:t>
            </a:r>
            <a:endParaRPr sz="900" dirty="0">
              <a:solidFill>
                <a:srgbClr val="0000FF"/>
              </a:solidFill>
            </a:endParaRPr>
          </a:p>
          <a:p>
            <a:pPr marL="0" lvl="0" indent="0" algn="l" rtl="0">
              <a:spcBef>
                <a:spcPts val="0"/>
              </a:spcBef>
              <a:spcAft>
                <a:spcPts val="0"/>
              </a:spcAft>
              <a:buNone/>
            </a:pPr>
            <a:r>
              <a:rPr lang="en" sz="900" dirty="0"/>
              <a:t>    path 'chunk_*' </a:t>
            </a:r>
            <a:endParaRPr sz="900" dirty="0"/>
          </a:p>
          <a:p>
            <a:pPr marL="0" lvl="0" indent="0" algn="l" rtl="0">
              <a:spcBef>
                <a:spcPts val="0"/>
              </a:spcBef>
              <a:spcAft>
                <a:spcPts val="0"/>
              </a:spcAft>
              <a:buNone/>
            </a:pPr>
            <a:endParaRPr sz="900" dirty="0"/>
          </a:p>
          <a:p>
            <a:pPr marL="0" lvl="0" indent="0" algn="l" rtl="0">
              <a:spcBef>
                <a:spcPts val="0"/>
              </a:spcBef>
              <a:spcAft>
                <a:spcPts val="0"/>
              </a:spcAft>
              <a:buNone/>
            </a:pPr>
            <a:r>
              <a:rPr lang="en" sz="900" dirty="0"/>
              <a:t>    """</a:t>
            </a:r>
            <a:endParaRPr sz="900" dirty="0"/>
          </a:p>
          <a:p>
            <a:pPr marL="0" lvl="0" indent="0" algn="l" rtl="0">
              <a:spcBef>
                <a:spcPts val="0"/>
              </a:spcBef>
              <a:spcAft>
                <a:spcPts val="0"/>
              </a:spcAft>
              <a:buNone/>
            </a:pPr>
            <a:r>
              <a:rPr lang="en" sz="900" dirty="0"/>
              <a:t>    echo '$x' | split -b 6 - chunk_</a:t>
            </a:r>
            <a:endParaRPr sz="900" dirty="0"/>
          </a:p>
          <a:p>
            <a:pPr marL="0" lvl="0" indent="0" algn="l" rtl="0">
              <a:spcBef>
                <a:spcPts val="0"/>
              </a:spcBef>
              <a:spcAft>
                <a:spcPts val="0"/>
              </a:spcAft>
              <a:buNone/>
            </a:pPr>
            <a:r>
              <a:rPr lang="en" sz="900" dirty="0"/>
              <a:t>    """</a:t>
            </a:r>
            <a:endParaRPr sz="900" dirty="0"/>
          </a:p>
          <a:p>
            <a:pPr marL="0" lvl="0" indent="0" algn="l" rtl="0">
              <a:spcBef>
                <a:spcPts val="0"/>
              </a:spcBef>
              <a:spcAft>
                <a:spcPts val="0"/>
              </a:spcAft>
              <a:buNone/>
            </a:pPr>
            <a:r>
              <a:rPr lang="en" sz="900" dirty="0"/>
              <a:t>}</a:t>
            </a:r>
            <a:endParaRPr sz="900" dirty="0"/>
          </a:p>
          <a:p>
            <a:pPr marL="0" lvl="0" indent="0" algn="l" rtl="0">
              <a:spcBef>
                <a:spcPts val="0"/>
              </a:spcBef>
              <a:spcAft>
                <a:spcPts val="0"/>
              </a:spcAft>
              <a:buNone/>
            </a:pPr>
            <a:endParaRPr sz="900" dirty="0"/>
          </a:p>
          <a:p>
            <a:pPr marL="0" lvl="0" indent="0" algn="l" rtl="0">
              <a:spcBef>
                <a:spcPts val="0"/>
              </a:spcBef>
              <a:spcAft>
                <a:spcPts val="0"/>
              </a:spcAft>
              <a:buNone/>
            </a:pPr>
            <a:r>
              <a:rPr lang="en" sz="900" dirty="0"/>
              <a:t>process CONVERTTOUPPER { </a:t>
            </a:r>
            <a:r>
              <a:rPr lang="en" sz="900" dirty="0">
                <a:solidFill>
                  <a:srgbClr val="0000FF"/>
                </a:solidFill>
              </a:rPr>
              <a:t>→ Process 2</a:t>
            </a:r>
            <a:endParaRPr sz="900" dirty="0"/>
          </a:p>
          <a:p>
            <a:pPr marL="0" lvl="0" indent="0" algn="l" rtl="0">
              <a:spcBef>
                <a:spcPts val="0"/>
              </a:spcBef>
              <a:spcAft>
                <a:spcPts val="0"/>
              </a:spcAft>
              <a:buNone/>
            </a:pPr>
            <a:r>
              <a:rPr lang="en" sz="900" dirty="0"/>
              <a:t>    input:</a:t>
            </a:r>
            <a:endParaRPr sz="900" dirty="0"/>
          </a:p>
          <a:p>
            <a:pPr marL="0" lvl="0" indent="0" algn="l" rtl="0">
              <a:spcBef>
                <a:spcPts val="0"/>
              </a:spcBef>
              <a:spcAft>
                <a:spcPts val="0"/>
              </a:spcAft>
              <a:buNone/>
            </a:pPr>
            <a:r>
              <a:rPr lang="en" sz="900" dirty="0"/>
              <a:t>    path y</a:t>
            </a:r>
            <a:endParaRPr sz="900" dirty="0"/>
          </a:p>
          <a:p>
            <a:pPr marL="0" lvl="0" indent="0" algn="l" rtl="0">
              <a:spcBef>
                <a:spcPts val="0"/>
              </a:spcBef>
              <a:spcAft>
                <a:spcPts val="0"/>
              </a:spcAft>
              <a:buNone/>
            </a:pPr>
            <a:endParaRPr sz="900" dirty="0"/>
          </a:p>
          <a:p>
            <a:pPr marL="0" lvl="0" indent="0" algn="l" rtl="0">
              <a:spcBef>
                <a:spcPts val="0"/>
              </a:spcBef>
              <a:spcAft>
                <a:spcPts val="0"/>
              </a:spcAft>
              <a:buNone/>
            </a:pPr>
            <a:r>
              <a:rPr lang="en" sz="900" dirty="0"/>
              <a:t>    output:</a:t>
            </a:r>
            <a:endParaRPr sz="900" dirty="0"/>
          </a:p>
          <a:p>
            <a:pPr marL="0" lvl="0" indent="0" algn="l" rtl="0">
              <a:spcBef>
                <a:spcPts val="0"/>
              </a:spcBef>
              <a:spcAft>
                <a:spcPts val="0"/>
              </a:spcAft>
              <a:buNone/>
            </a:pPr>
            <a:r>
              <a:rPr lang="en" sz="900" dirty="0"/>
              <a:t>    </a:t>
            </a:r>
            <a:r>
              <a:rPr lang="en" sz="900" dirty="0" err="1"/>
              <a:t>stdout</a:t>
            </a:r>
            <a:r>
              <a:rPr lang="en" sz="900" dirty="0"/>
              <a:t> </a:t>
            </a:r>
            <a:endParaRPr sz="900" dirty="0"/>
          </a:p>
          <a:p>
            <a:pPr marL="0" lvl="0" indent="0" algn="l" rtl="0">
              <a:spcBef>
                <a:spcPts val="0"/>
              </a:spcBef>
              <a:spcAft>
                <a:spcPts val="0"/>
              </a:spcAft>
              <a:buNone/>
            </a:pPr>
            <a:endParaRPr sz="900" dirty="0"/>
          </a:p>
          <a:p>
            <a:pPr marL="0" lvl="0" indent="0" algn="l" rtl="0">
              <a:spcBef>
                <a:spcPts val="0"/>
              </a:spcBef>
              <a:spcAft>
                <a:spcPts val="0"/>
              </a:spcAft>
              <a:buNone/>
            </a:pPr>
            <a:r>
              <a:rPr lang="en" sz="900" dirty="0"/>
              <a:t>    """</a:t>
            </a:r>
            <a:endParaRPr sz="900" dirty="0"/>
          </a:p>
          <a:p>
            <a:pPr marL="0" lvl="0" indent="0" algn="l" rtl="0">
              <a:spcBef>
                <a:spcPts val="0"/>
              </a:spcBef>
              <a:spcAft>
                <a:spcPts val="0"/>
              </a:spcAft>
              <a:buNone/>
            </a:pPr>
            <a:r>
              <a:rPr lang="en" sz="900" dirty="0"/>
              <a:t>    cat $y | tr '[a-z]' '[A-Z]'</a:t>
            </a:r>
            <a:endParaRPr sz="900" dirty="0"/>
          </a:p>
          <a:p>
            <a:pPr marL="0" lvl="0" indent="0" algn="l" rtl="0">
              <a:spcBef>
                <a:spcPts val="0"/>
              </a:spcBef>
              <a:spcAft>
                <a:spcPts val="0"/>
              </a:spcAft>
              <a:buNone/>
            </a:pPr>
            <a:r>
              <a:rPr lang="en" sz="900" dirty="0"/>
              <a:t>    """</a:t>
            </a:r>
            <a:endParaRPr sz="900" dirty="0"/>
          </a:p>
          <a:p>
            <a:pPr marL="0" lvl="0" indent="0" algn="l" rtl="0">
              <a:spcBef>
                <a:spcPts val="0"/>
              </a:spcBef>
              <a:spcAft>
                <a:spcPts val="0"/>
              </a:spcAft>
              <a:buNone/>
            </a:pPr>
            <a:r>
              <a:rPr lang="en" sz="900" dirty="0"/>
              <a:t>}</a:t>
            </a:r>
            <a:endParaRPr sz="900" dirty="0"/>
          </a:p>
          <a:p>
            <a:pPr marL="0" lvl="0" indent="0" algn="l" rtl="0">
              <a:spcBef>
                <a:spcPts val="0"/>
              </a:spcBef>
              <a:spcAft>
                <a:spcPts val="0"/>
              </a:spcAft>
              <a:buNone/>
            </a:pPr>
            <a:r>
              <a:rPr lang="en" sz="900" dirty="0"/>
              <a:t>workflow { </a:t>
            </a:r>
            <a:endParaRPr sz="900" dirty="0"/>
          </a:p>
          <a:p>
            <a:pPr marL="0" lvl="0" indent="0" algn="l" rtl="0">
              <a:spcBef>
                <a:spcPts val="0"/>
              </a:spcBef>
              <a:spcAft>
                <a:spcPts val="0"/>
              </a:spcAft>
              <a:buNone/>
            </a:pPr>
            <a:r>
              <a:rPr lang="en" sz="900" dirty="0" err="1"/>
              <a:t>greet_out_ch</a:t>
            </a:r>
            <a:r>
              <a:rPr lang="en" sz="900" dirty="0"/>
              <a:t> = SPLITLETTERS(</a:t>
            </a:r>
            <a:r>
              <a:rPr lang="en" sz="900" dirty="0" err="1"/>
              <a:t>greeting_ch</a:t>
            </a:r>
            <a:r>
              <a:rPr lang="en" sz="900" dirty="0"/>
              <a:t>)</a:t>
            </a:r>
            <a:endParaRPr sz="900" dirty="0"/>
          </a:p>
          <a:p>
            <a:pPr marL="0" lvl="0" indent="0" algn="l" rtl="0">
              <a:spcBef>
                <a:spcPts val="0"/>
              </a:spcBef>
              <a:spcAft>
                <a:spcPts val="0"/>
              </a:spcAft>
              <a:buNone/>
            </a:pPr>
            <a:r>
              <a:rPr lang="en" sz="900" dirty="0" err="1"/>
              <a:t>read_ch</a:t>
            </a:r>
            <a:r>
              <a:rPr lang="en" sz="900" dirty="0"/>
              <a:t> = CONVERTTOUPPER(</a:t>
            </a:r>
            <a:r>
              <a:rPr lang="en" sz="900" dirty="0" err="1"/>
              <a:t>greet_out_ch</a:t>
            </a:r>
            <a:r>
              <a:rPr lang="en" sz="900" dirty="0"/>
              <a:t>)</a:t>
            </a:r>
            <a:endParaRPr sz="900" dirty="0"/>
          </a:p>
          <a:p>
            <a:pPr marL="0" lvl="0" indent="0" algn="l" rtl="0">
              <a:spcBef>
                <a:spcPts val="0"/>
              </a:spcBef>
              <a:spcAft>
                <a:spcPts val="0"/>
              </a:spcAft>
              <a:buNone/>
            </a:pPr>
            <a:r>
              <a:rPr lang="en" sz="900" dirty="0" err="1"/>
              <a:t>read_ch.view</a:t>
            </a:r>
            <a:r>
              <a:rPr lang="en" sz="900" dirty="0"/>
              <a:t>()}</a:t>
            </a:r>
            <a:endParaRPr sz="900" dirty="0"/>
          </a:p>
          <a:p>
            <a:pPr marL="0" lvl="0" indent="0" algn="l" rtl="0">
              <a:spcBef>
                <a:spcPts val="0"/>
              </a:spcBef>
              <a:spcAft>
                <a:spcPts val="0"/>
              </a:spcAft>
              <a:buNone/>
            </a:pPr>
            <a:endParaRPr sz="900" dirty="0"/>
          </a:p>
        </p:txBody>
      </p:sp>
      <p:sp>
        <p:nvSpPr>
          <p:cNvPr id="352" name="Google Shape;352;p21"/>
          <p:cNvSpPr/>
          <p:nvPr/>
        </p:nvSpPr>
        <p:spPr>
          <a:xfrm>
            <a:off x="6377425" y="2343150"/>
            <a:ext cx="123300" cy="338700"/>
          </a:xfrm>
          <a:prstGeom prst="rightBrace">
            <a:avLst>
              <a:gd name="adj1" fmla="val 50000"/>
              <a:gd name="adj2" fmla="val 50000"/>
            </a:avLst>
          </a:prstGeom>
          <a:no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1"/>
          <p:cNvSpPr txBox="1"/>
          <p:nvPr/>
        </p:nvSpPr>
        <p:spPr>
          <a:xfrm>
            <a:off x="6500725" y="2326200"/>
            <a:ext cx="15585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0000FF"/>
                </a:solidFill>
                <a:latin typeface="Nunito"/>
                <a:ea typeface="Nunito"/>
                <a:cs typeface="Nunito"/>
                <a:sym typeface="Nunito"/>
              </a:rPr>
              <a:t>Script section</a:t>
            </a:r>
            <a:endParaRPr sz="1000">
              <a:solidFill>
                <a:srgbClr val="0000FF"/>
              </a:solidFill>
              <a:latin typeface="Nunito"/>
              <a:ea typeface="Nunito"/>
              <a:cs typeface="Nunito"/>
              <a:sym typeface="Nunito"/>
            </a:endParaRPr>
          </a:p>
        </p:txBody>
      </p:sp>
      <p:sp>
        <p:nvSpPr>
          <p:cNvPr id="354" name="Google Shape;354;p21"/>
          <p:cNvSpPr txBox="1"/>
          <p:nvPr/>
        </p:nvSpPr>
        <p:spPr>
          <a:xfrm>
            <a:off x="730750" y="1973025"/>
            <a:ext cx="2766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Currently Nextflow run in DSL2</a:t>
            </a:r>
            <a:endParaRPr>
              <a:latin typeface="Nunito"/>
              <a:ea typeface="Nunito"/>
              <a:cs typeface="Nunito"/>
              <a:sym typeface="Nunito"/>
            </a:endParaRPr>
          </a:p>
        </p:txBody>
      </p:sp>
      <p:sp>
        <p:nvSpPr>
          <p:cNvPr id="355" name="Google Shape;355;p21"/>
          <p:cNvSpPr/>
          <p:nvPr/>
        </p:nvSpPr>
        <p:spPr>
          <a:xfrm>
            <a:off x="5944900" y="1094500"/>
            <a:ext cx="123300" cy="311400"/>
          </a:xfrm>
          <a:prstGeom prst="rightBrace">
            <a:avLst>
              <a:gd name="adj1" fmla="val 50000"/>
              <a:gd name="adj2" fmla="val 50000"/>
            </a:avLst>
          </a:prstGeom>
          <a:no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1"/>
          <p:cNvSpPr txBox="1"/>
          <p:nvPr/>
        </p:nvSpPr>
        <p:spPr>
          <a:xfrm>
            <a:off x="6068200" y="1080850"/>
            <a:ext cx="15585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0000FF"/>
                </a:solidFill>
                <a:latin typeface="Nunito"/>
                <a:ea typeface="Nunito"/>
                <a:cs typeface="Nunito"/>
                <a:sym typeface="Nunito"/>
              </a:rPr>
              <a:t>Directives</a:t>
            </a:r>
            <a:endParaRPr sz="1000">
              <a:solidFill>
                <a:srgbClr val="0000FF"/>
              </a:solidFill>
              <a:latin typeface="Nunito"/>
              <a:ea typeface="Nunito"/>
              <a:cs typeface="Nunito"/>
              <a:sym typeface="Nunito"/>
            </a:endParaRPr>
          </a:p>
        </p:txBody>
      </p:sp>
      <p:pic>
        <p:nvPicPr>
          <p:cNvPr id="357" name="Google Shape;357;p21"/>
          <p:cNvPicPr preferRelativeResize="0"/>
          <p:nvPr/>
        </p:nvPicPr>
        <p:blipFill>
          <a:blip r:embed="rId3">
            <a:alphaModFix/>
          </a:blip>
          <a:stretch>
            <a:fillRect/>
          </a:stretch>
        </p:blipFill>
        <p:spPr>
          <a:xfrm>
            <a:off x="163162" y="2495550"/>
            <a:ext cx="3901775" cy="2096000"/>
          </a:xfrm>
          <a:prstGeom prst="rect">
            <a:avLst/>
          </a:prstGeom>
          <a:noFill/>
          <a:ln>
            <a:noFill/>
          </a:ln>
        </p:spPr>
      </p:pic>
      <p:sp>
        <p:nvSpPr>
          <p:cNvPr id="358" name="Google Shape;358;p21"/>
          <p:cNvSpPr txBox="1"/>
          <p:nvPr/>
        </p:nvSpPr>
        <p:spPr>
          <a:xfrm>
            <a:off x="7322750" y="4502825"/>
            <a:ext cx="9087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rgbClr val="0000FF"/>
                </a:solidFill>
                <a:latin typeface="Nunito"/>
                <a:ea typeface="Nunito"/>
                <a:cs typeface="Nunito"/>
                <a:sym typeface="Nunito"/>
              </a:rPr>
              <a:t>Define workflow</a:t>
            </a:r>
            <a:endParaRPr sz="1000">
              <a:solidFill>
                <a:srgbClr val="0000FF"/>
              </a:solidFill>
              <a:latin typeface="Nunito"/>
              <a:ea typeface="Nunito"/>
              <a:cs typeface="Nunito"/>
              <a:sym typeface="Nunito"/>
            </a:endParaRPr>
          </a:p>
        </p:txBody>
      </p:sp>
      <p:sp>
        <p:nvSpPr>
          <p:cNvPr id="359" name="Google Shape;359;p21"/>
          <p:cNvSpPr/>
          <p:nvPr/>
        </p:nvSpPr>
        <p:spPr>
          <a:xfrm>
            <a:off x="7217000" y="4454525"/>
            <a:ext cx="220200" cy="589200"/>
          </a:xfrm>
          <a:prstGeom prst="rightBrace">
            <a:avLst>
              <a:gd name="adj1" fmla="val 50000"/>
              <a:gd name="adj2" fmla="val 50000"/>
            </a:avLst>
          </a:prstGeom>
          <a:no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2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Usage</a:t>
            </a:r>
            <a:endParaRPr/>
          </a:p>
        </p:txBody>
      </p:sp>
      <p:sp>
        <p:nvSpPr>
          <p:cNvPr id="365" name="Google Shape;365;p22"/>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lnSpcReduction="10000"/>
          </a:bodyPr>
          <a:lstStyle/>
          <a:p>
            <a:pPr marL="457200" lvl="0" indent="-311150" algn="l" rtl="0">
              <a:lnSpc>
                <a:spcPct val="150000"/>
              </a:lnSpc>
              <a:spcBef>
                <a:spcPts val="0"/>
              </a:spcBef>
              <a:spcAft>
                <a:spcPts val="0"/>
              </a:spcAft>
              <a:buSzPts val="1300"/>
              <a:buChar char="●"/>
            </a:pPr>
            <a:r>
              <a:rPr lang="en"/>
              <a:t>The Nextflow script is usually saved in a file called </a:t>
            </a:r>
            <a:r>
              <a:rPr lang="en" b="1"/>
              <a:t>main.nf</a:t>
            </a:r>
            <a:endParaRPr b="1"/>
          </a:p>
          <a:p>
            <a:pPr marL="457200" lvl="0" indent="-311150" algn="l" rtl="0">
              <a:lnSpc>
                <a:spcPct val="150000"/>
              </a:lnSpc>
              <a:spcBef>
                <a:spcPts val="0"/>
              </a:spcBef>
              <a:spcAft>
                <a:spcPts val="0"/>
              </a:spcAft>
              <a:buSzPts val="1300"/>
              <a:buChar char="●"/>
            </a:pPr>
            <a:r>
              <a:rPr lang="en"/>
              <a:t>The script is run using</a:t>
            </a:r>
            <a:endParaRPr/>
          </a:p>
          <a:p>
            <a:pPr marL="914400" lvl="1" indent="-298450" algn="l" rtl="0">
              <a:lnSpc>
                <a:spcPct val="150000"/>
              </a:lnSpc>
              <a:spcBef>
                <a:spcPts val="0"/>
              </a:spcBef>
              <a:spcAft>
                <a:spcPts val="0"/>
              </a:spcAft>
              <a:buSzPts val="1100"/>
              <a:buChar char="○"/>
            </a:pPr>
            <a:r>
              <a:rPr lang="en" b="1" i="1"/>
              <a:t>nextflow run main.nf</a:t>
            </a:r>
            <a:endParaRPr b="1" i="1"/>
          </a:p>
          <a:p>
            <a:pPr marL="914400" lvl="1" indent="-298450" algn="l" rtl="0">
              <a:lnSpc>
                <a:spcPct val="150000"/>
              </a:lnSpc>
              <a:spcBef>
                <a:spcPts val="0"/>
              </a:spcBef>
              <a:spcAft>
                <a:spcPts val="0"/>
              </a:spcAft>
              <a:buSzPts val="1100"/>
              <a:buChar char="○"/>
            </a:pPr>
            <a:r>
              <a:rPr lang="en" b="1" i="1"/>
              <a:t>nextflow main.nf</a:t>
            </a:r>
            <a:endParaRPr b="1" i="1"/>
          </a:p>
          <a:p>
            <a:pPr marL="457200" lvl="0" indent="-311150" algn="l" rtl="0">
              <a:lnSpc>
                <a:spcPct val="150000"/>
              </a:lnSpc>
              <a:spcBef>
                <a:spcPts val="0"/>
              </a:spcBef>
              <a:spcAft>
                <a:spcPts val="0"/>
              </a:spcAft>
              <a:buSzPts val="1300"/>
              <a:buChar char="●"/>
            </a:pPr>
            <a:r>
              <a:rPr lang="en"/>
              <a:t>To resume an unfinished pipeline</a:t>
            </a:r>
            <a:endParaRPr/>
          </a:p>
          <a:p>
            <a:pPr marL="914400" lvl="1" indent="-298450" algn="l" rtl="0">
              <a:lnSpc>
                <a:spcPct val="150000"/>
              </a:lnSpc>
              <a:spcBef>
                <a:spcPts val="0"/>
              </a:spcBef>
              <a:spcAft>
                <a:spcPts val="0"/>
              </a:spcAft>
              <a:buSzPts val="1100"/>
              <a:buChar char="○"/>
            </a:pPr>
            <a:r>
              <a:rPr lang="en" b="1" i="1"/>
              <a:t>nextflow main.nf -resume</a:t>
            </a:r>
            <a:endParaRPr i="1"/>
          </a:p>
          <a:p>
            <a:pPr marL="457200" lvl="0" indent="-311150" algn="l" rtl="0">
              <a:lnSpc>
                <a:spcPct val="150000"/>
              </a:lnSpc>
              <a:spcBef>
                <a:spcPts val="0"/>
              </a:spcBef>
              <a:spcAft>
                <a:spcPts val="0"/>
              </a:spcAft>
              <a:buSzPts val="1300"/>
              <a:buChar char="●"/>
            </a:pPr>
            <a:r>
              <a:rPr lang="en"/>
              <a:t>Parameters are passed using</a:t>
            </a:r>
            <a:endParaRPr/>
          </a:p>
          <a:p>
            <a:pPr marL="914400" lvl="1" indent="-298450" algn="l" rtl="0">
              <a:lnSpc>
                <a:spcPct val="150000"/>
              </a:lnSpc>
              <a:spcBef>
                <a:spcPts val="0"/>
              </a:spcBef>
              <a:spcAft>
                <a:spcPts val="0"/>
              </a:spcAft>
              <a:buSzPts val="1100"/>
              <a:buChar char="○"/>
            </a:pPr>
            <a:r>
              <a:rPr lang="en" b="1" i="1"/>
              <a:t>nextflow main.nf  --param_name1 parameter1  --param_name2 parameter2 -resume</a:t>
            </a:r>
            <a:endParaRPr b="1" i="1"/>
          </a:p>
          <a:p>
            <a:pPr marL="1371600" lvl="2" indent="-298450" algn="l" rtl="0">
              <a:lnSpc>
                <a:spcPct val="150000"/>
              </a:lnSpc>
              <a:spcBef>
                <a:spcPts val="0"/>
              </a:spcBef>
              <a:spcAft>
                <a:spcPts val="0"/>
              </a:spcAft>
              <a:buSzPts val="1100"/>
              <a:buChar char="■"/>
            </a:pPr>
            <a:r>
              <a:rPr lang="en" b="1"/>
              <a:t>Eg:</a:t>
            </a:r>
            <a:r>
              <a:rPr lang="en" b="1" i="1"/>
              <a:t> nextflow main.nf --greeting “hello world”</a:t>
            </a:r>
            <a:endParaRPr b="1" i="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23"/>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Basics</a:t>
            </a:r>
            <a:endParaRPr/>
          </a:p>
        </p:txBody>
      </p:sp>
      <p:sp>
        <p:nvSpPr>
          <p:cNvPr id="371" name="Google Shape;371;p23"/>
          <p:cNvSpPr txBox="1">
            <a:spLocks noGrp="1"/>
          </p:cNvSpPr>
          <p:nvPr>
            <p:ph type="body" idx="1"/>
          </p:nvPr>
        </p:nvSpPr>
        <p:spPr>
          <a:xfrm>
            <a:off x="230550" y="1319850"/>
            <a:ext cx="7924800" cy="2022000"/>
          </a:xfrm>
          <a:prstGeom prst="rect">
            <a:avLst/>
          </a:prstGeom>
        </p:spPr>
        <p:txBody>
          <a:bodyPr spcFirstLastPara="1" wrap="square" lIns="91425" tIns="91425" rIns="91425" bIns="91425" anchor="t" anchorCtr="0">
            <a:normAutofit fontScale="85000" lnSpcReduction="20000"/>
          </a:bodyPr>
          <a:lstStyle/>
          <a:p>
            <a:pPr marL="457200" lvl="0" indent="-298767" algn="l" rtl="0">
              <a:lnSpc>
                <a:spcPct val="150000"/>
              </a:lnSpc>
              <a:spcBef>
                <a:spcPts val="0"/>
              </a:spcBef>
              <a:spcAft>
                <a:spcPts val="0"/>
              </a:spcAft>
              <a:buSzPct val="100000"/>
              <a:buChar char="●"/>
            </a:pPr>
            <a:r>
              <a:rPr lang="en" b="1"/>
              <a:t>Channels</a:t>
            </a:r>
            <a:r>
              <a:rPr lang="en"/>
              <a:t>: They connect tasks/process to each other or apply data transformation</a:t>
            </a:r>
            <a:endParaRPr/>
          </a:p>
          <a:p>
            <a:pPr marL="914400" lvl="1" indent="-287972" algn="l" rtl="0">
              <a:lnSpc>
                <a:spcPct val="150000"/>
              </a:lnSpc>
              <a:spcBef>
                <a:spcPts val="0"/>
              </a:spcBef>
              <a:spcAft>
                <a:spcPts val="0"/>
              </a:spcAft>
              <a:buSzPct val="100000"/>
              <a:buChar char="○"/>
            </a:pPr>
            <a:r>
              <a:rPr lang="en"/>
              <a:t>Two types i) Queue channel ii) Value channel</a:t>
            </a:r>
            <a:endParaRPr/>
          </a:p>
          <a:p>
            <a:pPr marL="457200" lvl="0" indent="-298767" algn="l" rtl="0">
              <a:lnSpc>
                <a:spcPct val="150000"/>
              </a:lnSpc>
              <a:spcBef>
                <a:spcPts val="0"/>
              </a:spcBef>
              <a:spcAft>
                <a:spcPts val="0"/>
              </a:spcAft>
              <a:buSzPct val="100000"/>
              <a:buChar char="●"/>
            </a:pPr>
            <a:r>
              <a:rPr lang="en" b="1"/>
              <a:t>Processes</a:t>
            </a:r>
            <a:r>
              <a:rPr lang="en"/>
              <a:t>: To run any script</a:t>
            </a:r>
            <a:endParaRPr/>
          </a:p>
          <a:p>
            <a:pPr marL="914400" lvl="1" indent="-287972" algn="l" rtl="0">
              <a:lnSpc>
                <a:spcPct val="150000"/>
              </a:lnSpc>
              <a:spcBef>
                <a:spcPts val="0"/>
              </a:spcBef>
              <a:spcAft>
                <a:spcPts val="0"/>
              </a:spcAft>
              <a:buSzPct val="100000"/>
              <a:buChar char="○"/>
            </a:pPr>
            <a:r>
              <a:rPr lang="en"/>
              <a:t>May contain five definition blocks</a:t>
            </a:r>
            <a:endParaRPr/>
          </a:p>
          <a:p>
            <a:pPr marL="1371600" lvl="2" indent="-287972" algn="l" rtl="0">
              <a:lnSpc>
                <a:spcPct val="150000"/>
              </a:lnSpc>
              <a:spcBef>
                <a:spcPts val="0"/>
              </a:spcBef>
              <a:spcAft>
                <a:spcPts val="0"/>
              </a:spcAft>
              <a:buSzPct val="100000"/>
              <a:buChar char="■"/>
            </a:pPr>
            <a:r>
              <a:rPr lang="en"/>
              <a:t>Directives, Input, Output, When, Script</a:t>
            </a:r>
            <a:endParaRPr/>
          </a:p>
          <a:p>
            <a:pPr marL="457200" lvl="0" indent="-298767" algn="l" rtl="0">
              <a:lnSpc>
                <a:spcPct val="150000"/>
              </a:lnSpc>
              <a:spcBef>
                <a:spcPts val="0"/>
              </a:spcBef>
              <a:spcAft>
                <a:spcPts val="0"/>
              </a:spcAft>
              <a:buSzPct val="100000"/>
              <a:buChar char="●"/>
            </a:pPr>
            <a:r>
              <a:rPr lang="en" b="1"/>
              <a:t>Operators</a:t>
            </a:r>
            <a:r>
              <a:rPr lang="en"/>
              <a:t>: Connect and transforms channels content</a:t>
            </a:r>
            <a:endParaRPr/>
          </a:p>
          <a:p>
            <a:pPr marL="914400" lvl="1" indent="-287972" algn="l" rtl="0">
              <a:lnSpc>
                <a:spcPct val="150000"/>
              </a:lnSpc>
              <a:spcBef>
                <a:spcPts val="0"/>
              </a:spcBef>
              <a:spcAft>
                <a:spcPts val="0"/>
              </a:spcAft>
              <a:buSzPct val="100000"/>
              <a:buChar char="○"/>
            </a:pPr>
            <a:r>
              <a:rPr lang="en"/>
              <a:t>Eg. collect, flatten</a:t>
            </a:r>
            <a:endParaRPr/>
          </a:p>
          <a:p>
            <a:pPr marL="457200" lvl="0" indent="-298767" algn="l" rtl="0">
              <a:lnSpc>
                <a:spcPct val="150000"/>
              </a:lnSpc>
              <a:spcBef>
                <a:spcPts val="0"/>
              </a:spcBef>
              <a:spcAft>
                <a:spcPts val="0"/>
              </a:spcAft>
              <a:buSzPct val="100000"/>
              <a:buChar char="●"/>
            </a:pPr>
            <a:r>
              <a:rPr lang="en" b="1"/>
              <a:t>Workflow</a:t>
            </a:r>
            <a:endParaRPr b="1"/>
          </a:p>
          <a:p>
            <a:pPr marL="914400" lvl="1" indent="-287972" algn="l" rtl="0">
              <a:lnSpc>
                <a:spcPct val="150000"/>
              </a:lnSpc>
              <a:spcBef>
                <a:spcPts val="0"/>
              </a:spcBef>
              <a:spcAft>
                <a:spcPts val="0"/>
              </a:spcAft>
              <a:buSzPct val="100000"/>
              <a:buChar char="○"/>
            </a:pPr>
            <a:r>
              <a:rPr lang="en"/>
              <a:t>The data flow or logic of the workflow</a:t>
            </a:r>
            <a:endParaRPr/>
          </a:p>
        </p:txBody>
      </p:sp>
      <p:pic>
        <p:nvPicPr>
          <p:cNvPr id="372" name="Google Shape;372;p23"/>
          <p:cNvPicPr preferRelativeResize="0"/>
          <p:nvPr/>
        </p:nvPicPr>
        <p:blipFill>
          <a:blip r:embed="rId3">
            <a:alphaModFix/>
          </a:blip>
          <a:stretch>
            <a:fillRect/>
          </a:stretch>
        </p:blipFill>
        <p:spPr>
          <a:xfrm>
            <a:off x="723625" y="3290325"/>
            <a:ext cx="7962975" cy="1853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2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Channels</a:t>
            </a:r>
            <a:endParaRPr/>
          </a:p>
        </p:txBody>
      </p:sp>
      <p:sp>
        <p:nvSpPr>
          <p:cNvPr id="378" name="Google Shape;378;p24"/>
          <p:cNvSpPr txBox="1">
            <a:spLocks noGrp="1"/>
          </p:cNvSpPr>
          <p:nvPr>
            <p:ph type="body" idx="1"/>
          </p:nvPr>
        </p:nvSpPr>
        <p:spPr>
          <a:xfrm>
            <a:off x="0" y="1445475"/>
            <a:ext cx="8807700" cy="3393300"/>
          </a:xfrm>
          <a:prstGeom prst="rect">
            <a:avLst/>
          </a:prstGeom>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SzPts val="1400"/>
              <a:buChar char="●"/>
            </a:pPr>
            <a:r>
              <a:rPr lang="en" sz="1400"/>
              <a:t>Channels connect one process to another</a:t>
            </a:r>
            <a:endParaRPr sz="1400"/>
          </a:p>
          <a:p>
            <a:pPr marL="457200" lvl="0" indent="-317500" algn="l" rtl="0">
              <a:lnSpc>
                <a:spcPct val="150000"/>
              </a:lnSpc>
              <a:spcBef>
                <a:spcPts val="0"/>
              </a:spcBef>
              <a:spcAft>
                <a:spcPts val="0"/>
              </a:spcAft>
              <a:buSzPts val="1400"/>
              <a:buChar char="●"/>
            </a:pPr>
            <a:r>
              <a:rPr lang="en" sz="1400"/>
              <a:t>Consider as data is flowed through the channels and the receiving process will do necessary operation on it</a:t>
            </a:r>
            <a:endParaRPr sz="1400"/>
          </a:p>
          <a:p>
            <a:pPr marL="457200" lvl="0" indent="-317500" algn="l" rtl="0">
              <a:lnSpc>
                <a:spcPct val="150000"/>
              </a:lnSpc>
              <a:spcBef>
                <a:spcPts val="0"/>
              </a:spcBef>
              <a:spcAft>
                <a:spcPts val="0"/>
              </a:spcAft>
              <a:buSzPts val="1400"/>
              <a:buChar char="●"/>
            </a:pPr>
            <a:r>
              <a:rPr lang="en" sz="1400"/>
              <a:t>The channels can contain different types of data based on how it is defined</a:t>
            </a:r>
            <a:endParaRPr sz="1400"/>
          </a:p>
          <a:p>
            <a:pPr marL="457200" lvl="0" indent="-317500" algn="l" rtl="0">
              <a:lnSpc>
                <a:spcPct val="150000"/>
              </a:lnSpc>
              <a:spcBef>
                <a:spcPts val="0"/>
              </a:spcBef>
              <a:spcAft>
                <a:spcPts val="0"/>
              </a:spcAft>
              <a:buSzPts val="1400"/>
              <a:buChar char="●"/>
            </a:pPr>
            <a:r>
              <a:rPr lang="en" sz="1400"/>
              <a:t>The Queue channels cannot be used more than once but the value channels can be used multiple times</a:t>
            </a:r>
            <a:endParaRPr sz="1400"/>
          </a:p>
          <a:p>
            <a:pPr marL="457200" lvl="0" indent="-317500" algn="l" rtl="0">
              <a:lnSpc>
                <a:spcPct val="150000"/>
              </a:lnSpc>
              <a:spcBef>
                <a:spcPts val="0"/>
              </a:spcBef>
              <a:spcAft>
                <a:spcPts val="0"/>
              </a:spcAft>
              <a:buSzPts val="1400"/>
              <a:buChar char="●"/>
            </a:pPr>
            <a:r>
              <a:rPr lang="en" sz="1400"/>
              <a:t>Queue channels are asynchronous, unidirectional and FIFO</a:t>
            </a:r>
            <a:endParaRPr sz="1200"/>
          </a:p>
        </p:txBody>
      </p:sp>
      <p:pic>
        <p:nvPicPr>
          <p:cNvPr id="379" name="Google Shape;379;p24"/>
          <p:cNvPicPr preferRelativeResize="0"/>
          <p:nvPr/>
        </p:nvPicPr>
        <p:blipFill>
          <a:blip r:embed="rId3">
            <a:alphaModFix/>
          </a:blip>
          <a:stretch>
            <a:fillRect/>
          </a:stretch>
        </p:blipFill>
        <p:spPr>
          <a:xfrm>
            <a:off x="2207232" y="4012250"/>
            <a:ext cx="4393225" cy="829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2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How to create a channel?</a:t>
            </a:r>
            <a:endParaRPr/>
          </a:p>
        </p:txBody>
      </p:sp>
      <p:sp>
        <p:nvSpPr>
          <p:cNvPr id="385" name="Google Shape;385;p25"/>
          <p:cNvSpPr txBox="1">
            <a:spLocks noGrp="1"/>
          </p:cNvSpPr>
          <p:nvPr>
            <p:ph type="body" idx="1"/>
          </p:nvPr>
        </p:nvSpPr>
        <p:spPr>
          <a:xfrm>
            <a:off x="228600" y="1521675"/>
            <a:ext cx="2871900" cy="34782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rgbClr val="000000"/>
                </a:solidFill>
                <a:latin typeface="Arial"/>
                <a:ea typeface="Arial"/>
                <a:cs typeface="Arial"/>
                <a:sym typeface="Arial"/>
              </a:rPr>
              <a:t>Value Channel: </a:t>
            </a:r>
            <a:r>
              <a:rPr lang="en" b="1" dirty="0">
                <a:solidFill>
                  <a:srgbClr val="000000"/>
                </a:solidFill>
                <a:latin typeface="Arial"/>
                <a:ea typeface="Arial"/>
                <a:cs typeface="Arial"/>
                <a:sym typeface="Arial"/>
              </a:rPr>
              <a:t>value()</a:t>
            </a:r>
            <a:endParaRPr b="1" dirty="0">
              <a:solidFill>
                <a:srgbClr val="000000"/>
              </a:solidFill>
              <a:latin typeface="Arial"/>
              <a:ea typeface="Arial"/>
              <a:cs typeface="Arial"/>
              <a:sym typeface="Arial"/>
            </a:endParaRPr>
          </a:p>
          <a:p>
            <a:pPr marL="0" lvl="0" indent="0" algn="l" rtl="0">
              <a:spcBef>
                <a:spcPts val="1200"/>
              </a:spcBef>
              <a:spcAft>
                <a:spcPts val="0"/>
              </a:spcAft>
              <a:buNone/>
            </a:pPr>
            <a:endParaRPr sz="1000" dirty="0">
              <a:solidFill>
                <a:srgbClr val="000000"/>
              </a:solidFill>
              <a:latin typeface="Arial"/>
              <a:ea typeface="Arial"/>
              <a:cs typeface="Arial"/>
              <a:sym typeface="Arial"/>
            </a:endParaRPr>
          </a:p>
          <a:p>
            <a:pPr marL="0" lvl="0" indent="0" algn="l" rtl="0">
              <a:spcBef>
                <a:spcPts val="1200"/>
              </a:spcBef>
              <a:spcAft>
                <a:spcPts val="0"/>
              </a:spcAft>
              <a:buNone/>
            </a:pPr>
            <a:endParaRPr sz="1100" dirty="0">
              <a:solidFill>
                <a:srgbClr val="000000"/>
              </a:solidFill>
              <a:latin typeface="Arial"/>
              <a:ea typeface="Arial"/>
              <a:cs typeface="Arial"/>
              <a:sym typeface="Arial"/>
            </a:endParaRPr>
          </a:p>
          <a:p>
            <a:pPr marL="0" lvl="0" indent="0" algn="l" rtl="0">
              <a:spcBef>
                <a:spcPts val="1200"/>
              </a:spcBef>
              <a:spcAft>
                <a:spcPts val="0"/>
              </a:spcAft>
              <a:buNone/>
            </a:pPr>
            <a:endParaRPr sz="1100" dirty="0">
              <a:solidFill>
                <a:srgbClr val="000000"/>
              </a:solidFill>
              <a:latin typeface="Arial"/>
              <a:ea typeface="Arial"/>
              <a:cs typeface="Arial"/>
              <a:sym typeface="Arial"/>
            </a:endParaRPr>
          </a:p>
          <a:p>
            <a:pPr marL="0" lvl="0" indent="0" algn="l" rtl="0">
              <a:spcBef>
                <a:spcPts val="1200"/>
              </a:spcBef>
              <a:spcAft>
                <a:spcPts val="0"/>
              </a:spcAft>
              <a:buNone/>
            </a:pPr>
            <a:endParaRPr sz="1100" dirty="0">
              <a:solidFill>
                <a:srgbClr val="000000"/>
              </a:solidFill>
              <a:latin typeface="Arial"/>
              <a:ea typeface="Arial"/>
              <a:cs typeface="Arial"/>
              <a:sym typeface="Arial"/>
            </a:endParaRPr>
          </a:p>
          <a:p>
            <a:pPr marL="0" lvl="0" indent="0" algn="l" rtl="0">
              <a:spcBef>
                <a:spcPts val="1200"/>
              </a:spcBef>
              <a:spcAft>
                <a:spcPts val="0"/>
              </a:spcAft>
              <a:buNone/>
            </a:pPr>
            <a:endParaRPr sz="1100" dirty="0">
              <a:solidFill>
                <a:srgbClr val="000000"/>
              </a:solidFill>
              <a:latin typeface="Arial"/>
              <a:ea typeface="Arial"/>
              <a:cs typeface="Arial"/>
              <a:sym typeface="Arial"/>
            </a:endParaRPr>
          </a:p>
          <a:p>
            <a:pPr marL="0" lvl="0" indent="0" algn="l" rtl="0">
              <a:spcBef>
                <a:spcPts val="1200"/>
              </a:spcBef>
              <a:spcAft>
                <a:spcPts val="0"/>
              </a:spcAft>
              <a:buNone/>
            </a:pPr>
            <a:r>
              <a:rPr lang="en" sz="1100" dirty="0">
                <a:solidFill>
                  <a:srgbClr val="000000"/>
                </a:solidFill>
                <a:latin typeface="Arial"/>
                <a:ea typeface="Arial"/>
                <a:cs typeface="Arial"/>
                <a:sym typeface="Arial"/>
              </a:rPr>
              <a:t>Output:</a:t>
            </a:r>
            <a:endParaRPr sz="1100" dirty="0">
              <a:solidFill>
                <a:srgbClr val="000000"/>
              </a:solidFill>
              <a:latin typeface="Arial"/>
              <a:ea typeface="Arial"/>
              <a:cs typeface="Arial"/>
              <a:sym typeface="Arial"/>
            </a:endParaRPr>
          </a:p>
          <a:p>
            <a:pPr marL="0" lvl="0" indent="0" algn="l" rtl="0">
              <a:spcBef>
                <a:spcPts val="1200"/>
              </a:spcBef>
              <a:spcAft>
                <a:spcPts val="1200"/>
              </a:spcAft>
              <a:buNone/>
            </a:pPr>
            <a:endParaRPr sz="1100" dirty="0">
              <a:solidFill>
                <a:srgbClr val="000000"/>
              </a:solidFill>
              <a:latin typeface="Arial"/>
              <a:ea typeface="Arial"/>
              <a:cs typeface="Arial"/>
              <a:sym typeface="Arial"/>
            </a:endParaRPr>
          </a:p>
        </p:txBody>
      </p:sp>
      <p:sp>
        <p:nvSpPr>
          <p:cNvPr id="386" name="Google Shape;386;p25"/>
          <p:cNvSpPr txBox="1">
            <a:spLocks noGrp="1"/>
          </p:cNvSpPr>
          <p:nvPr>
            <p:ph type="body" idx="1"/>
          </p:nvPr>
        </p:nvSpPr>
        <p:spPr>
          <a:xfrm>
            <a:off x="3100500" y="1521675"/>
            <a:ext cx="3019800" cy="34782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000000"/>
                </a:solidFill>
                <a:latin typeface="Arial"/>
                <a:ea typeface="Arial"/>
                <a:cs typeface="Arial"/>
                <a:sym typeface="Arial"/>
              </a:rPr>
              <a:t>Queue Channel: </a:t>
            </a:r>
            <a:r>
              <a:rPr lang="en" b="1">
                <a:solidFill>
                  <a:srgbClr val="000000"/>
                </a:solidFill>
                <a:latin typeface="Arial"/>
                <a:ea typeface="Arial"/>
                <a:cs typeface="Arial"/>
                <a:sym typeface="Arial"/>
              </a:rPr>
              <a:t>of()</a:t>
            </a:r>
            <a:endParaRPr b="1">
              <a:solidFill>
                <a:srgbClr val="000000"/>
              </a:solidFill>
              <a:latin typeface="Arial"/>
              <a:ea typeface="Arial"/>
              <a:cs typeface="Arial"/>
              <a:sym typeface="Arial"/>
            </a:endParaRPr>
          </a:p>
          <a:p>
            <a:pPr marL="0" lvl="0" indent="0" algn="l" rtl="0">
              <a:spcBef>
                <a:spcPts val="1200"/>
              </a:spcBef>
              <a:spcAft>
                <a:spcPts val="0"/>
              </a:spcAft>
              <a:buNone/>
            </a:pPr>
            <a:endParaRPr sz="1000">
              <a:solidFill>
                <a:srgbClr val="000000"/>
              </a:solidFill>
              <a:latin typeface="Arial"/>
              <a:ea typeface="Arial"/>
              <a:cs typeface="Arial"/>
              <a:sym typeface="Arial"/>
            </a:endParaRPr>
          </a:p>
          <a:p>
            <a:pPr marL="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0"/>
              </a:spcAft>
              <a:buNone/>
            </a:pPr>
            <a:r>
              <a:rPr lang="en" sz="1100">
                <a:solidFill>
                  <a:srgbClr val="000000"/>
                </a:solidFill>
                <a:latin typeface="Arial"/>
                <a:ea typeface="Arial"/>
                <a:cs typeface="Arial"/>
                <a:sym typeface="Arial"/>
              </a:rPr>
              <a:t>Output:</a:t>
            </a:r>
            <a:endParaRPr sz="1100">
              <a:solidFill>
                <a:srgbClr val="000000"/>
              </a:solidFill>
              <a:latin typeface="Arial"/>
              <a:ea typeface="Arial"/>
              <a:cs typeface="Arial"/>
              <a:sym typeface="Arial"/>
            </a:endParaRPr>
          </a:p>
          <a:p>
            <a:pPr marL="0" lvl="0" indent="0" algn="l" rtl="0">
              <a:spcBef>
                <a:spcPts val="1200"/>
              </a:spcBef>
              <a:spcAft>
                <a:spcPts val="1200"/>
              </a:spcAft>
              <a:buNone/>
            </a:pPr>
            <a:endParaRPr sz="1100">
              <a:solidFill>
                <a:srgbClr val="000000"/>
              </a:solidFill>
              <a:latin typeface="Arial"/>
              <a:ea typeface="Arial"/>
              <a:cs typeface="Arial"/>
              <a:sym typeface="Arial"/>
            </a:endParaRPr>
          </a:p>
        </p:txBody>
      </p:sp>
      <p:sp>
        <p:nvSpPr>
          <p:cNvPr id="387" name="Google Shape;387;p25"/>
          <p:cNvSpPr txBox="1">
            <a:spLocks noGrp="1"/>
          </p:cNvSpPr>
          <p:nvPr>
            <p:ph type="body" idx="1"/>
          </p:nvPr>
        </p:nvSpPr>
        <p:spPr>
          <a:xfrm>
            <a:off x="6120300" y="1521675"/>
            <a:ext cx="2871900" cy="34782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000000"/>
                </a:solidFill>
                <a:latin typeface="Arial"/>
                <a:ea typeface="Arial"/>
                <a:cs typeface="Arial"/>
                <a:sym typeface="Arial"/>
              </a:rPr>
              <a:t>Queue Channel: </a:t>
            </a:r>
            <a:r>
              <a:rPr lang="en" b="1">
                <a:solidFill>
                  <a:srgbClr val="000000"/>
                </a:solidFill>
                <a:latin typeface="Arial"/>
                <a:ea typeface="Arial"/>
                <a:cs typeface="Arial"/>
                <a:sym typeface="Arial"/>
              </a:rPr>
              <a:t>fromList()</a:t>
            </a:r>
            <a:endParaRPr b="1">
              <a:solidFill>
                <a:srgbClr val="000000"/>
              </a:solidFill>
              <a:latin typeface="Arial"/>
              <a:ea typeface="Arial"/>
              <a:cs typeface="Arial"/>
              <a:sym typeface="Arial"/>
            </a:endParaRPr>
          </a:p>
          <a:p>
            <a:pPr marL="0" lvl="0" indent="0" algn="l" rtl="0">
              <a:spcBef>
                <a:spcPts val="1200"/>
              </a:spcBef>
              <a:spcAft>
                <a:spcPts val="0"/>
              </a:spcAft>
              <a:buNone/>
            </a:pPr>
            <a:endParaRPr sz="1000">
              <a:solidFill>
                <a:srgbClr val="000000"/>
              </a:solidFill>
              <a:latin typeface="Arial"/>
              <a:ea typeface="Arial"/>
              <a:cs typeface="Arial"/>
              <a:sym typeface="Arial"/>
            </a:endParaRPr>
          </a:p>
          <a:p>
            <a:pPr marL="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0"/>
              </a:spcAft>
              <a:buNone/>
            </a:pPr>
            <a:r>
              <a:rPr lang="en" sz="1100">
                <a:solidFill>
                  <a:srgbClr val="000000"/>
                </a:solidFill>
                <a:latin typeface="Arial"/>
                <a:ea typeface="Arial"/>
                <a:cs typeface="Arial"/>
                <a:sym typeface="Arial"/>
              </a:rPr>
              <a:t>Output:</a:t>
            </a:r>
            <a:endParaRPr sz="1100">
              <a:solidFill>
                <a:srgbClr val="000000"/>
              </a:solidFill>
              <a:latin typeface="Arial"/>
              <a:ea typeface="Arial"/>
              <a:cs typeface="Arial"/>
              <a:sym typeface="Arial"/>
            </a:endParaRPr>
          </a:p>
          <a:p>
            <a:pPr marL="0" lvl="0" indent="0" algn="l" rtl="0">
              <a:spcBef>
                <a:spcPts val="1200"/>
              </a:spcBef>
              <a:spcAft>
                <a:spcPts val="1200"/>
              </a:spcAft>
              <a:buNone/>
            </a:pPr>
            <a:endParaRPr sz="1100">
              <a:solidFill>
                <a:srgbClr val="000000"/>
              </a:solidFill>
              <a:latin typeface="Arial"/>
              <a:ea typeface="Arial"/>
              <a:cs typeface="Arial"/>
              <a:sym typeface="Arial"/>
            </a:endParaRPr>
          </a:p>
        </p:txBody>
      </p:sp>
      <p:sp>
        <p:nvSpPr>
          <p:cNvPr id="388" name="Google Shape;388;p25"/>
          <p:cNvSpPr txBox="1"/>
          <p:nvPr/>
        </p:nvSpPr>
        <p:spPr>
          <a:xfrm>
            <a:off x="318000" y="2294000"/>
            <a:ext cx="2693100" cy="861900"/>
          </a:xfrm>
          <a:prstGeom prst="rect">
            <a:avLst/>
          </a:prstGeom>
          <a:solidFill>
            <a:srgbClr val="D0E0E3"/>
          </a:solidFill>
          <a:ln w="9525"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t>ch1 = </a:t>
            </a:r>
            <a:r>
              <a:rPr lang="en" sz="1100" dirty="0" err="1"/>
              <a:t>Channel.value</a:t>
            </a:r>
            <a:r>
              <a:rPr lang="en" sz="1100" dirty="0"/>
              <a:t>( 'Hello there' ) </a:t>
            </a:r>
            <a:endParaRPr sz="1100" dirty="0"/>
          </a:p>
          <a:p>
            <a:pPr marL="0" lvl="0" indent="0" algn="l" rtl="0">
              <a:spcBef>
                <a:spcPts val="0"/>
              </a:spcBef>
              <a:spcAft>
                <a:spcPts val="0"/>
              </a:spcAft>
              <a:buNone/>
            </a:pPr>
            <a:r>
              <a:rPr lang="en" sz="1100" dirty="0"/>
              <a:t>ch2 = </a:t>
            </a:r>
            <a:r>
              <a:rPr lang="en" sz="1100" dirty="0" err="1"/>
              <a:t>Channel.value</a:t>
            </a:r>
            <a:r>
              <a:rPr lang="en" sz="1100" dirty="0"/>
              <a:t>( [1,2,3,4,5] )</a:t>
            </a:r>
            <a:endParaRPr sz="1100" dirty="0"/>
          </a:p>
          <a:p>
            <a:pPr marL="0" lvl="0" indent="0" algn="l" rtl="0">
              <a:spcBef>
                <a:spcPts val="0"/>
              </a:spcBef>
              <a:spcAft>
                <a:spcPts val="0"/>
              </a:spcAft>
              <a:buNone/>
            </a:pPr>
            <a:r>
              <a:rPr lang="en" sz="1100" dirty="0"/>
              <a:t>ch1.view()</a:t>
            </a:r>
            <a:endParaRPr sz="1100" dirty="0"/>
          </a:p>
          <a:p>
            <a:pPr marL="0" lvl="0" indent="0" algn="l" rtl="0">
              <a:spcBef>
                <a:spcPts val="0"/>
              </a:spcBef>
              <a:spcAft>
                <a:spcPts val="0"/>
              </a:spcAft>
              <a:buNone/>
            </a:pPr>
            <a:r>
              <a:rPr lang="en" sz="1100" dirty="0"/>
              <a:t>ch2.view()</a:t>
            </a:r>
            <a:endParaRPr sz="1100" dirty="0"/>
          </a:p>
        </p:txBody>
      </p:sp>
      <p:sp>
        <p:nvSpPr>
          <p:cNvPr id="389" name="Google Shape;389;p25"/>
          <p:cNvSpPr txBox="1"/>
          <p:nvPr/>
        </p:nvSpPr>
        <p:spPr>
          <a:xfrm>
            <a:off x="228600" y="3994000"/>
            <a:ext cx="23055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Hello there</a:t>
            </a:r>
            <a:endParaRPr sz="1100"/>
          </a:p>
          <a:p>
            <a:pPr marL="0" lvl="0" indent="0" algn="l" rtl="0">
              <a:spcBef>
                <a:spcPts val="0"/>
              </a:spcBef>
              <a:spcAft>
                <a:spcPts val="0"/>
              </a:spcAft>
              <a:buNone/>
            </a:pPr>
            <a:r>
              <a:rPr lang="en" sz="1100"/>
              <a:t>[1, 2, 3, 4, 5]</a:t>
            </a:r>
            <a:endParaRPr sz="1100"/>
          </a:p>
        </p:txBody>
      </p:sp>
      <p:sp>
        <p:nvSpPr>
          <p:cNvPr id="390" name="Google Shape;390;p25"/>
          <p:cNvSpPr txBox="1"/>
          <p:nvPr/>
        </p:nvSpPr>
        <p:spPr>
          <a:xfrm>
            <a:off x="3389650" y="2463350"/>
            <a:ext cx="2540700" cy="5232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ch = Channel.of( 1, 3, 5, 7 )</a:t>
            </a:r>
            <a:endParaRPr sz="1100"/>
          </a:p>
          <a:p>
            <a:pPr marL="0" lvl="0" indent="0" algn="l" rtl="0">
              <a:spcBef>
                <a:spcPts val="0"/>
              </a:spcBef>
              <a:spcAft>
                <a:spcPts val="0"/>
              </a:spcAft>
              <a:buNone/>
            </a:pPr>
            <a:r>
              <a:rPr lang="en" sz="1100"/>
              <a:t>ch.view()</a:t>
            </a:r>
            <a:endParaRPr sz="1100"/>
          </a:p>
        </p:txBody>
      </p:sp>
      <p:sp>
        <p:nvSpPr>
          <p:cNvPr id="391" name="Google Shape;391;p25"/>
          <p:cNvSpPr txBox="1"/>
          <p:nvPr/>
        </p:nvSpPr>
        <p:spPr>
          <a:xfrm>
            <a:off x="3110400" y="3960850"/>
            <a:ext cx="30000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1</a:t>
            </a:r>
            <a:endParaRPr sz="1100"/>
          </a:p>
          <a:p>
            <a:pPr marL="0" lvl="0" indent="0" algn="l" rtl="0">
              <a:spcBef>
                <a:spcPts val="0"/>
              </a:spcBef>
              <a:spcAft>
                <a:spcPts val="0"/>
              </a:spcAft>
              <a:buNone/>
            </a:pPr>
            <a:r>
              <a:rPr lang="en" sz="1100"/>
              <a:t>3</a:t>
            </a:r>
            <a:endParaRPr sz="1100"/>
          </a:p>
          <a:p>
            <a:pPr marL="0" lvl="0" indent="0" algn="l" rtl="0">
              <a:spcBef>
                <a:spcPts val="0"/>
              </a:spcBef>
              <a:spcAft>
                <a:spcPts val="0"/>
              </a:spcAft>
              <a:buNone/>
            </a:pPr>
            <a:r>
              <a:rPr lang="en" sz="1100"/>
              <a:t>5</a:t>
            </a:r>
            <a:endParaRPr sz="1100"/>
          </a:p>
          <a:p>
            <a:pPr marL="0" lvl="0" indent="0" algn="l" rtl="0">
              <a:spcBef>
                <a:spcPts val="0"/>
              </a:spcBef>
              <a:spcAft>
                <a:spcPts val="0"/>
              </a:spcAft>
              <a:buNone/>
            </a:pPr>
            <a:r>
              <a:rPr lang="en" sz="1100"/>
              <a:t>7</a:t>
            </a:r>
            <a:endParaRPr sz="1100"/>
          </a:p>
        </p:txBody>
      </p:sp>
      <p:sp>
        <p:nvSpPr>
          <p:cNvPr id="392" name="Google Shape;392;p25"/>
          <p:cNvSpPr txBox="1"/>
          <p:nvPr/>
        </p:nvSpPr>
        <p:spPr>
          <a:xfrm>
            <a:off x="6308900" y="2378600"/>
            <a:ext cx="2350200" cy="6927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list = ['hello', 'world' , '!', '.']</a:t>
            </a:r>
            <a:endParaRPr sz="1100"/>
          </a:p>
          <a:p>
            <a:pPr marL="0" lvl="0" indent="0" algn="l" rtl="0">
              <a:spcBef>
                <a:spcPts val="0"/>
              </a:spcBef>
              <a:spcAft>
                <a:spcPts val="0"/>
              </a:spcAft>
              <a:buNone/>
            </a:pPr>
            <a:r>
              <a:rPr lang="en" sz="1100"/>
              <a:t>Channel.fromList(list)</a:t>
            </a:r>
            <a:endParaRPr sz="1100"/>
          </a:p>
          <a:p>
            <a:pPr marL="0" lvl="0" indent="0" algn="l" rtl="0">
              <a:spcBef>
                <a:spcPts val="0"/>
              </a:spcBef>
              <a:spcAft>
                <a:spcPts val="0"/>
              </a:spcAft>
              <a:buNone/>
            </a:pPr>
            <a:r>
              <a:rPr lang="en" sz="1100"/>
              <a:t>  	  .view()</a:t>
            </a:r>
            <a:endParaRPr sz="1100"/>
          </a:p>
        </p:txBody>
      </p:sp>
      <p:sp>
        <p:nvSpPr>
          <p:cNvPr id="393" name="Google Shape;393;p25"/>
          <p:cNvSpPr txBox="1"/>
          <p:nvPr/>
        </p:nvSpPr>
        <p:spPr>
          <a:xfrm>
            <a:off x="6120300" y="3960850"/>
            <a:ext cx="30000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hello</a:t>
            </a:r>
            <a:endParaRPr sz="1100"/>
          </a:p>
          <a:p>
            <a:pPr marL="0" lvl="0" indent="0" algn="l" rtl="0">
              <a:spcBef>
                <a:spcPts val="0"/>
              </a:spcBef>
              <a:spcAft>
                <a:spcPts val="0"/>
              </a:spcAft>
              <a:buNone/>
            </a:pPr>
            <a:r>
              <a:rPr lang="en" sz="1100"/>
              <a:t>world</a:t>
            </a:r>
            <a:endParaRPr sz="1100"/>
          </a:p>
          <a:p>
            <a:pPr marL="0" lvl="0" indent="0" algn="l" rtl="0">
              <a:spcBef>
                <a:spcPts val="0"/>
              </a:spcBef>
              <a:spcAft>
                <a:spcPts val="0"/>
              </a:spcAft>
              <a:buNone/>
            </a:pPr>
            <a:r>
              <a:rPr lang="en" sz="1100"/>
              <a:t>!</a:t>
            </a:r>
            <a:endParaRPr sz="1100"/>
          </a:p>
          <a:p>
            <a:pPr marL="0" lvl="0" indent="0" algn="l" rtl="0">
              <a:spcBef>
                <a:spcPts val="0"/>
              </a:spcBef>
              <a:spcAft>
                <a:spcPts val="0"/>
              </a:spcAft>
              <a:buNone/>
            </a:pPr>
            <a:r>
              <a:rPr lang="en" sz="1100"/>
              <a:t>.</a:t>
            </a:r>
            <a:endParaRPr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26"/>
          <p:cNvSpPr/>
          <p:nvPr/>
        </p:nvSpPr>
        <p:spPr>
          <a:xfrm rot="-5400000">
            <a:off x="2928350" y="3040150"/>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6"/>
          <p:cNvSpPr/>
          <p:nvPr/>
        </p:nvSpPr>
        <p:spPr>
          <a:xfrm rot="-5400000">
            <a:off x="2145400" y="3040150"/>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6"/>
          <p:cNvSpPr/>
          <p:nvPr/>
        </p:nvSpPr>
        <p:spPr>
          <a:xfrm rot="-5400000">
            <a:off x="1362450" y="3040150"/>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How to create a channel?</a:t>
            </a:r>
            <a:endParaRPr/>
          </a:p>
        </p:txBody>
      </p:sp>
      <p:sp>
        <p:nvSpPr>
          <p:cNvPr id="402" name="Google Shape;402;p26"/>
          <p:cNvSpPr txBox="1">
            <a:spLocks noGrp="1"/>
          </p:cNvSpPr>
          <p:nvPr>
            <p:ph type="body" idx="1"/>
          </p:nvPr>
        </p:nvSpPr>
        <p:spPr>
          <a:xfrm>
            <a:off x="5113825" y="1692075"/>
            <a:ext cx="3019800" cy="16689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000000"/>
                </a:solidFill>
                <a:latin typeface="Arial"/>
                <a:ea typeface="Arial"/>
                <a:cs typeface="Arial"/>
                <a:sym typeface="Arial"/>
              </a:rPr>
              <a:t>Queue Channel: </a:t>
            </a:r>
            <a:r>
              <a:rPr lang="en" b="1">
                <a:solidFill>
                  <a:srgbClr val="000000"/>
                </a:solidFill>
                <a:latin typeface="Arial"/>
                <a:ea typeface="Arial"/>
                <a:cs typeface="Arial"/>
                <a:sym typeface="Arial"/>
              </a:rPr>
              <a:t>of()</a:t>
            </a:r>
            <a:endParaRPr b="1">
              <a:solidFill>
                <a:srgbClr val="000000"/>
              </a:solidFill>
              <a:latin typeface="Arial"/>
              <a:ea typeface="Arial"/>
              <a:cs typeface="Arial"/>
              <a:sym typeface="Arial"/>
            </a:endParaRPr>
          </a:p>
          <a:p>
            <a:pPr marL="0" lvl="0" indent="0" algn="l" rtl="0">
              <a:spcBef>
                <a:spcPts val="1200"/>
              </a:spcBef>
              <a:spcAft>
                <a:spcPts val="0"/>
              </a:spcAft>
              <a:buNone/>
            </a:pPr>
            <a:endParaRPr sz="1000">
              <a:solidFill>
                <a:srgbClr val="000000"/>
              </a:solidFill>
              <a:latin typeface="Arial"/>
              <a:ea typeface="Arial"/>
              <a:cs typeface="Arial"/>
              <a:sym typeface="Arial"/>
            </a:endParaRPr>
          </a:p>
          <a:p>
            <a:pPr marL="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200"/>
              </a:spcAft>
              <a:buNone/>
            </a:pPr>
            <a:endParaRPr sz="1100">
              <a:solidFill>
                <a:srgbClr val="000000"/>
              </a:solidFill>
              <a:latin typeface="Arial"/>
              <a:ea typeface="Arial"/>
              <a:cs typeface="Arial"/>
              <a:sym typeface="Arial"/>
            </a:endParaRPr>
          </a:p>
        </p:txBody>
      </p:sp>
      <p:sp>
        <p:nvSpPr>
          <p:cNvPr id="403" name="Google Shape;403;p26"/>
          <p:cNvSpPr txBox="1"/>
          <p:nvPr/>
        </p:nvSpPr>
        <p:spPr>
          <a:xfrm>
            <a:off x="5402975" y="2633750"/>
            <a:ext cx="2540700" cy="5232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ch = Channel.of( [1, 3, 5, 7])</a:t>
            </a:r>
            <a:endParaRPr sz="1100"/>
          </a:p>
          <a:p>
            <a:pPr marL="0" lvl="0" indent="0" algn="l" rtl="0">
              <a:spcBef>
                <a:spcPts val="0"/>
              </a:spcBef>
              <a:spcAft>
                <a:spcPts val="0"/>
              </a:spcAft>
              <a:buNone/>
            </a:pPr>
            <a:r>
              <a:rPr lang="en" sz="1100"/>
              <a:t>ch.view()</a:t>
            </a:r>
            <a:endParaRPr sz="1100"/>
          </a:p>
        </p:txBody>
      </p:sp>
      <p:sp>
        <p:nvSpPr>
          <p:cNvPr id="404" name="Google Shape;404;p26"/>
          <p:cNvSpPr/>
          <p:nvPr/>
        </p:nvSpPr>
        <p:spPr>
          <a:xfrm rot="-5400000">
            <a:off x="579500" y="3040150"/>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6"/>
          <p:cNvSpPr txBox="1"/>
          <p:nvPr/>
        </p:nvSpPr>
        <p:spPr>
          <a:xfrm>
            <a:off x="669250" y="2701488"/>
            <a:ext cx="2540700" cy="5232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ch = Channel.of( 1, 3, 5, 7 )</a:t>
            </a:r>
            <a:endParaRPr sz="1100"/>
          </a:p>
          <a:p>
            <a:pPr marL="0" lvl="0" indent="0" algn="l" rtl="0">
              <a:spcBef>
                <a:spcPts val="0"/>
              </a:spcBef>
              <a:spcAft>
                <a:spcPts val="0"/>
              </a:spcAft>
              <a:buNone/>
            </a:pPr>
            <a:r>
              <a:rPr lang="en" sz="1100"/>
              <a:t>ch.view()</a:t>
            </a:r>
            <a:endParaRPr sz="1100"/>
          </a:p>
        </p:txBody>
      </p:sp>
      <p:sp>
        <p:nvSpPr>
          <p:cNvPr id="406" name="Google Shape;406;p26"/>
          <p:cNvSpPr txBox="1"/>
          <p:nvPr/>
        </p:nvSpPr>
        <p:spPr>
          <a:xfrm>
            <a:off x="669250" y="3355475"/>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1</a:t>
            </a:r>
            <a:endParaRPr>
              <a:latin typeface="Nunito"/>
              <a:ea typeface="Nunito"/>
              <a:cs typeface="Nunito"/>
              <a:sym typeface="Nunito"/>
            </a:endParaRPr>
          </a:p>
        </p:txBody>
      </p:sp>
      <p:sp>
        <p:nvSpPr>
          <p:cNvPr id="407" name="Google Shape;407;p26"/>
          <p:cNvSpPr txBox="1"/>
          <p:nvPr/>
        </p:nvSpPr>
        <p:spPr>
          <a:xfrm>
            <a:off x="1479225" y="3355475"/>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3</a:t>
            </a:r>
            <a:endParaRPr>
              <a:latin typeface="Nunito"/>
              <a:ea typeface="Nunito"/>
              <a:cs typeface="Nunito"/>
              <a:sym typeface="Nunito"/>
            </a:endParaRPr>
          </a:p>
        </p:txBody>
      </p:sp>
      <p:sp>
        <p:nvSpPr>
          <p:cNvPr id="408" name="Google Shape;408;p26"/>
          <p:cNvSpPr txBox="1"/>
          <p:nvPr/>
        </p:nvSpPr>
        <p:spPr>
          <a:xfrm>
            <a:off x="2244150" y="3355475"/>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5</a:t>
            </a:r>
            <a:endParaRPr>
              <a:latin typeface="Nunito"/>
              <a:ea typeface="Nunito"/>
              <a:cs typeface="Nunito"/>
              <a:sym typeface="Nunito"/>
            </a:endParaRPr>
          </a:p>
        </p:txBody>
      </p:sp>
      <p:sp>
        <p:nvSpPr>
          <p:cNvPr id="409" name="Google Shape;409;p26"/>
          <p:cNvSpPr txBox="1"/>
          <p:nvPr/>
        </p:nvSpPr>
        <p:spPr>
          <a:xfrm>
            <a:off x="3009075" y="3355475"/>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7</a:t>
            </a:r>
            <a:endParaRPr>
              <a:latin typeface="Nunito"/>
              <a:ea typeface="Nunito"/>
              <a:cs typeface="Nunito"/>
              <a:sym typeface="Nunito"/>
            </a:endParaRPr>
          </a:p>
        </p:txBody>
      </p:sp>
      <p:sp>
        <p:nvSpPr>
          <p:cNvPr id="410" name="Google Shape;410;p26"/>
          <p:cNvSpPr/>
          <p:nvPr/>
        </p:nvSpPr>
        <p:spPr>
          <a:xfrm rot="-5400000">
            <a:off x="6561025" y="3287900"/>
            <a:ext cx="378300" cy="14142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6"/>
          <p:cNvSpPr txBox="1"/>
          <p:nvPr/>
        </p:nvSpPr>
        <p:spPr>
          <a:xfrm>
            <a:off x="6394400" y="3794900"/>
            <a:ext cx="882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[1,3,5,7]</a:t>
            </a:r>
            <a:endParaRPr>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2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How to create file channels?</a:t>
            </a:r>
            <a:endParaRPr/>
          </a:p>
        </p:txBody>
      </p:sp>
      <p:sp>
        <p:nvSpPr>
          <p:cNvPr id="417" name="Google Shape;417;p27"/>
          <p:cNvSpPr txBox="1">
            <a:spLocks noGrp="1"/>
          </p:cNvSpPr>
          <p:nvPr>
            <p:ph type="body" idx="1"/>
          </p:nvPr>
        </p:nvSpPr>
        <p:spPr>
          <a:xfrm>
            <a:off x="228600" y="1521675"/>
            <a:ext cx="2871900" cy="34782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000000"/>
                </a:solidFill>
                <a:latin typeface="Arial"/>
                <a:ea typeface="Arial"/>
                <a:cs typeface="Arial"/>
                <a:sym typeface="Arial"/>
              </a:rPr>
              <a:t>Queue Channel: </a:t>
            </a:r>
            <a:r>
              <a:rPr lang="en" b="1">
                <a:solidFill>
                  <a:srgbClr val="000000"/>
                </a:solidFill>
                <a:latin typeface="Arial"/>
                <a:ea typeface="Arial"/>
                <a:cs typeface="Arial"/>
                <a:sym typeface="Arial"/>
              </a:rPr>
              <a:t>fromPath()</a:t>
            </a:r>
            <a:endParaRPr b="1">
              <a:solidFill>
                <a:srgbClr val="000000"/>
              </a:solidFill>
              <a:latin typeface="Arial"/>
              <a:ea typeface="Arial"/>
              <a:cs typeface="Arial"/>
              <a:sym typeface="Arial"/>
            </a:endParaRPr>
          </a:p>
          <a:p>
            <a:pPr marL="0" lvl="0" indent="0" algn="l" rtl="0">
              <a:spcBef>
                <a:spcPts val="1200"/>
              </a:spcBef>
              <a:spcAft>
                <a:spcPts val="0"/>
              </a:spcAft>
              <a:buNone/>
            </a:pPr>
            <a:endParaRPr sz="1000">
              <a:solidFill>
                <a:srgbClr val="000000"/>
              </a:solidFill>
              <a:latin typeface="Arial"/>
              <a:ea typeface="Arial"/>
              <a:cs typeface="Arial"/>
              <a:sym typeface="Arial"/>
            </a:endParaRPr>
          </a:p>
          <a:p>
            <a:pPr marL="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0"/>
              </a:spcAft>
              <a:buNone/>
            </a:pPr>
            <a:r>
              <a:rPr lang="en" sz="1100">
                <a:solidFill>
                  <a:srgbClr val="000000"/>
                </a:solidFill>
                <a:latin typeface="Arial"/>
                <a:ea typeface="Arial"/>
                <a:cs typeface="Arial"/>
                <a:sym typeface="Arial"/>
              </a:rPr>
              <a:t>Output:</a:t>
            </a:r>
            <a:endParaRPr sz="1100">
              <a:solidFill>
                <a:srgbClr val="000000"/>
              </a:solidFill>
              <a:latin typeface="Arial"/>
              <a:ea typeface="Arial"/>
              <a:cs typeface="Arial"/>
              <a:sym typeface="Arial"/>
            </a:endParaRPr>
          </a:p>
          <a:p>
            <a:pPr marL="0" lvl="0" indent="0" algn="l" rtl="0">
              <a:spcBef>
                <a:spcPts val="1200"/>
              </a:spcBef>
              <a:spcAft>
                <a:spcPts val="1200"/>
              </a:spcAft>
              <a:buNone/>
            </a:pPr>
            <a:endParaRPr sz="1100">
              <a:solidFill>
                <a:srgbClr val="000000"/>
              </a:solidFill>
              <a:latin typeface="Arial"/>
              <a:ea typeface="Arial"/>
              <a:cs typeface="Arial"/>
              <a:sym typeface="Arial"/>
            </a:endParaRPr>
          </a:p>
        </p:txBody>
      </p:sp>
      <p:sp>
        <p:nvSpPr>
          <p:cNvPr id="418" name="Google Shape;418;p27"/>
          <p:cNvSpPr txBox="1"/>
          <p:nvPr/>
        </p:nvSpPr>
        <p:spPr>
          <a:xfrm>
            <a:off x="331650" y="2303000"/>
            <a:ext cx="2665800" cy="3540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36464E"/>
                </a:solidFill>
              </a:rPr>
              <a:t>Channel</a:t>
            </a:r>
            <a:r>
              <a:rPr lang="en" sz="1100"/>
              <a:t>.fromPath(</a:t>
            </a:r>
            <a:r>
              <a:rPr lang="en" sz="1100">
                <a:solidFill>
                  <a:srgbClr val="36464E"/>
                </a:solidFill>
              </a:rPr>
              <a:t> </a:t>
            </a:r>
            <a:r>
              <a:rPr lang="en" sz="1100"/>
              <a:t>'./data/folder/*.csv'</a:t>
            </a:r>
            <a:r>
              <a:rPr lang="en" sz="1100">
                <a:solidFill>
                  <a:srgbClr val="36464E"/>
                </a:solidFill>
              </a:rPr>
              <a:t> </a:t>
            </a:r>
            <a:r>
              <a:rPr lang="en" sz="1100"/>
              <a:t>)</a:t>
            </a:r>
            <a:endParaRPr sz="1100"/>
          </a:p>
        </p:txBody>
      </p:sp>
      <p:sp>
        <p:nvSpPr>
          <p:cNvPr id="419" name="Google Shape;419;p27"/>
          <p:cNvSpPr txBox="1"/>
          <p:nvPr/>
        </p:nvSpPr>
        <p:spPr>
          <a:xfrm>
            <a:off x="280550" y="2863350"/>
            <a:ext cx="2305500" cy="69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/user/project/csv_files/file_1.csv</a:t>
            </a:r>
            <a:endParaRPr sz="1100"/>
          </a:p>
          <a:p>
            <a:pPr marL="0" lvl="0" indent="0" algn="l" rtl="0">
              <a:spcBef>
                <a:spcPts val="0"/>
              </a:spcBef>
              <a:spcAft>
                <a:spcPts val="0"/>
              </a:spcAft>
              <a:buNone/>
            </a:pPr>
            <a:r>
              <a:rPr lang="en" sz="1100"/>
              <a:t>/user/project/csv_files/file_2.csv</a:t>
            </a:r>
            <a:endParaRPr sz="1100"/>
          </a:p>
          <a:p>
            <a:pPr marL="0" lvl="0" indent="0" algn="l" rtl="0">
              <a:spcBef>
                <a:spcPts val="0"/>
              </a:spcBef>
              <a:spcAft>
                <a:spcPts val="0"/>
              </a:spcAft>
              <a:buNone/>
            </a:pPr>
            <a:r>
              <a:rPr lang="en" sz="1100"/>
              <a:t>/user/project/csv_files/file_3.csv</a:t>
            </a:r>
            <a:endParaRPr sz="1100"/>
          </a:p>
        </p:txBody>
      </p:sp>
      <p:sp>
        <p:nvSpPr>
          <p:cNvPr id="420" name="Google Shape;420;p27"/>
          <p:cNvSpPr txBox="1"/>
          <p:nvPr/>
        </p:nvSpPr>
        <p:spPr>
          <a:xfrm>
            <a:off x="3495250" y="2363100"/>
            <a:ext cx="5065500" cy="13698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Font typeface="Nunito"/>
              <a:buChar char="●"/>
            </a:pPr>
            <a:r>
              <a:rPr lang="en">
                <a:latin typeface="Nunito"/>
                <a:ea typeface="Nunito"/>
                <a:cs typeface="Nunito"/>
                <a:sym typeface="Nunito"/>
              </a:rPr>
              <a:t>The “*” represents the glob character. It matches the pattern in the filename.</a:t>
            </a:r>
            <a:endParaRPr>
              <a:latin typeface="Nunito"/>
              <a:ea typeface="Nunito"/>
              <a:cs typeface="Nunito"/>
              <a:sym typeface="Nunito"/>
            </a:endParaRPr>
          </a:p>
          <a:p>
            <a:pPr marL="457200" lvl="0" indent="-317500" algn="l" rtl="0">
              <a:lnSpc>
                <a:spcPct val="150000"/>
              </a:lnSpc>
              <a:spcBef>
                <a:spcPts val="0"/>
              </a:spcBef>
              <a:spcAft>
                <a:spcPts val="0"/>
              </a:spcAft>
              <a:buSzPts val="1400"/>
              <a:buFont typeface="Nunito"/>
              <a:buChar char="●"/>
            </a:pPr>
            <a:r>
              <a:rPr lang="en">
                <a:latin typeface="Nunito"/>
                <a:ea typeface="Nunito"/>
                <a:cs typeface="Nunito"/>
                <a:sym typeface="Nunito"/>
              </a:rPr>
              <a:t>“**.csv” would do recursive file pattern matching</a:t>
            </a:r>
            <a:endParaRPr>
              <a:latin typeface="Nunito"/>
              <a:ea typeface="Nunito"/>
              <a:cs typeface="Nunito"/>
              <a:sym typeface="Nunito"/>
            </a:endParaRPr>
          </a:p>
          <a:p>
            <a:pPr marL="914400" lvl="1" indent="-317500" algn="l" rtl="0">
              <a:lnSpc>
                <a:spcPct val="150000"/>
              </a:lnSpc>
              <a:spcBef>
                <a:spcPts val="0"/>
              </a:spcBef>
              <a:spcAft>
                <a:spcPts val="0"/>
              </a:spcAft>
              <a:buSzPts val="1400"/>
              <a:buFont typeface="Nunito"/>
              <a:buChar char="○"/>
            </a:pPr>
            <a:r>
              <a:rPr lang="en">
                <a:latin typeface="Nunito"/>
                <a:ea typeface="Nunito"/>
                <a:cs typeface="Nunito"/>
                <a:sym typeface="Nunito"/>
              </a:rPr>
              <a:t>i.e., search for pattern in a folder inside a folder</a:t>
            </a:r>
            <a:endParaRPr>
              <a:latin typeface="Nunito"/>
              <a:ea typeface="Nunito"/>
              <a:cs typeface="Nunito"/>
              <a:sym typeface="Nunito"/>
            </a:endParaRPr>
          </a:p>
        </p:txBody>
      </p:sp>
      <p:sp>
        <p:nvSpPr>
          <p:cNvPr id="421" name="Google Shape;421;p27"/>
          <p:cNvSpPr txBox="1"/>
          <p:nvPr/>
        </p:nvSpPr>
        <p:spPr>
          <a:xfrm>
            <a:off x="3430300" y="4532150"/>
            <a:ext cx="51954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Other channels such as Channel.fromFilePairs() and Channel.fromSRA()</a:t>
            </a:r>
            <a:endParaRPr sz="1100">
              <a:latin typeface="Nunito"/>
              <a:ea typeface="Nunito"/>
              <a:cs typeface="Nunito"/>
              <a:sym typeface="Nunito"/>
            </a:endParaRPr>
          </a:p>
          <a:p>
            <a:pPr marL="0" lvl="0" indent="0" algn="l" rtl="0">
              <a:spcBef>
                <a:spcPts val="0"/>
              </a:spcBef>
              <a:spcAft>
                <a:spcPts val="0"/>
              </a:spcAft>
              <a:buNone/>
            </a:pPr>
            <a:r>
              <a:rPr lang="en" sz="1100">
                <a:latin typeface="Nunito"/>
                <a:ea typeface="Nunito"/>
                <a:cs typeface="Nunito"/>
                <a:sym typeface="Nunito"/>
              </a:rPr>
              <a:t>We can avoid them for now</a:t>
            </a:r>
            <a:endParaRPr sz="1100">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2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Processes</a:t>
            </a:r>
            <a:endParaRPr/>
          </a:p>
        </p:txBody>
      </p:sp>
      <p:sp>
        <p:nvSpPr>
          <p:cNvPr id="427" name="Google Shape;427;p28"/>
          <p:cNvSpPr txBox="1"/>
          <p:nvPr/>
        </p:nvSpPr>
        <p:spPr>
          <a:xfrm>
            <a:off x="5292900" y="1080000"/>
            <a:ext cx="3851100" cy="40635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process</a:t>
            </a:r>
            <a:r>
              <a:rPr lang="en"/>
              <a:t> &lt; name &gt; {</a:t>
            </a:r>
            <a:endParaRPr/>
          </a:p>
          <a:p>
            <a:pPr marL="0" lvl="0" indent="0" algn="l" rtl="0">
              <a:spcBef>
                <a:spcPts val="0"/>
              </a:spcBef>
              <a:spcAft>
                <a:spcPts val="0"/>
              </a:spcAft>
              <a:buNone/>
            </a:pPr>
            <a:endParaRPr/>
          </a:p>
          <a:p>
            <a:pPr marL="0" lvl="0" indent="0" algn="l" rtl="0">
              <a:spcBef>
                <a:spcPts val="0"/>
              </a:spcBef>
              <a:spcAft>
                <a:spcPts val="0"/>
              </a:spcAft>
              <a:buNone/>
            </a:pPr>
            <a:r>
              <a:rPr lang="en"/>
              <a:t>  [ directives ] </a:t>
            </a:r>
            <a:endParaRPr/>
          </a:p>
          <a:p>
            <a:pPr marL="0" lvl="0" indent="0" algn="l" rtl="0">
              <a:spcBef>
                <a:spcPts val="0"/>
              </a:spcBef>
              <a:spcAft>
                <a:spcPts val="0"/>
              </a:spcAft>
              <a:buNone/>
            </a:pPr>
            <a:endParaRPr/>
          </a:p>
          <a:p>
            <a:pPr marL="0" lvl="0" indent="0" algn="l" rtl="0">
              <a:spcBef>
                <a:spcPts val="0"/>
              </a:spcBef>
              <a:spcAft>
                <a:spcPts val="0"/>
              </a:spcAft>
              <a:buNone/>
            </a:pPr>
            <a:r>
              <a:rPr lang="en"/>
              <a:t>  </a:t>
            </a:r>
            <a:r>
              <a:rPr lang="en" b="1"/>
              <a:t>input: </a:t>
            </a:r>
            <a:endParaRPr b="1"/>
          </a:p>
          <a:p>
            <a:pPr marL="0" lvl="0" indent="0" algn="l" rtl="0">
              <a:spcBef>
                <a:spcPts val="0"/>
              </a:spcBef>
              <a:spcAft>
                <a:spcPts val="0"/>
              </a:spcAft>
              <a:buNone/>
            </a:pPr>
            <a:r>
              <a:rPr lang="en"/>
              <a:t>  &lt; process inputs &gt;</a:t>
            </a:r>
            <a:endParaRPr/>
          </a:p>
          <a:p>
            <a:pPr marL="0" lvl="0" indent="0" algn="l" rtl="0">
              <a:spcBef>
                <a:spcPts val="0"/>
              </a:spcBef>
              <a:spcAft>
                <a:spcPts val="0"/>
              </a:spcAft>
              <a:buNone/>
            </a:pPr>
            <a:endParaRPr/>
          </a:p>
          <a:p>
            <a:pPr marL="0" lvl="0" indent="0" algn="l" rtl="0">
              <a:spcBef>
                <a:spcPts val="0"/>
              </a:spcBef>
              <a:spcAft>
                <a:spcPts val="0"/>
              </a:spcAft>
              <a:buNone/>
            </a:pPr>
            <a:r>
              <a:rPr lang="en"/>
              <a:t> </a:t>
            </a:r>
            <a:r>
              <a:rPr lang="en" b="1"/>
              <a:t> output: </a:t>
            </a:r>
            <a:endParaRPr b="1"/>
          </a:p>
          <a:p>
            <a:pPr marL="0" lvl="0" indent="0" algn="l" rtl="0">
              <a:spcBef>
                <a:spcPts val="0"/>
              </a:spcBef>
              <a:spcAft>
                <a:spcPts val="0"/>
              </a:spcAft>
              <a:buNone/>
            </a:pPr>
            <a:r>
              <a:rPr lang="en"/>
              <a:t>  &lt; process outputs &gt;</a:t>
            </a:r>
            <a:endParaRPr/>
          </a:p>
          <a:p>
            <a:pPr marL="0" lvl="0" indent="0" algn="l" rtl="0">
              <a:spcBef>
                <a:spcPts val="0"/>
              </a:spcBef>
              <a:spcAft>
                <a:spcPts val="0"/>
              </a:spcAft>
              <a:buNone/>
            </a:pPr>
            <a:endParaRPr/>
          </a:p>
          <a:p>
            <a:pPr marL="0" lvl="0" indent="0" algn="l" rtl="0">
              <a:spcBef>
                <a:spcPts val="0"/>
              </a:spcBef>
              <a:spcAft>
                <a:spcPts val="0"/>
              </a:spcAft>
              <a:buNone/>
            </a:pPr>
            <a:r>
              <a:rPr lang="en"/>
              <a:t>  </a:t>
            </a:r>
            <a:r>
              <a:rPr lang="en" b="1"/>
              <a:t>when: </a:t>
            </a:r>
            <a:endParaRPr b="1"/>
          </a:p>
          <a:p>
            <a:pPr marL="0" lvl="0" indent="0" algn="l" rtl="0">
              <a:spcBef>
                <a:spcPts val="0"/>
              </a:spcBef>
              <a:spcAft>
                <a:spcPts val="0"/>
              </a:spcAft>
              <a:buNone/>
            </a:pPr>
            <a:r>
              <a:rPr lang="en"/>
              <a:t>  &lt; condition &gt;</a:t>
            </a:r>
            <a:endParaRPr/>
          </a:p>
          <a:p>
            <a:pPr marL="0" lvl="0" indent="0" algn="l" rtl="0">
              <a:spcBef>
                <a:spcPts val="0"/>
              </a:spcBef>
              <a:spcAft>
                <a:spcPts val="0"/>
              </a:spcAft>
              <a:buNone/>
            </a:pPr>
            <a:endParaRPr/>
          </a:p>
          <a:p>
            <a:pPr marL="0" lvl="0" indent="0" algn="l" rtl="0">
              <a:spcBef>
                <a:spcPts val="0"/>
              </a:spcBef>
              <a:spcAft>
                <a:spcPts val="0"/>
              </a:spcAft>
              <a:buNone/>
            </a:pPr>
            <a:r>
              <a:rPr lang="en"/>
              <a:t>  </a:t>
            </a:r>
            <a:r>
              <a:rPr lang="en" b="1"/>
              <a:t>[script|shell|exec]:</a:t>
            </a:r>
            <a:r>
              <a:rPr lang="en"/>
              <a:t> </a:t>
            </a:r>
            <a:endParaRPr/>
          </a:p>
          <a:p>
            <a:pPr marL="0" lvl="0" indent="0" algn="l" rtl="0">
              <a:spcBef>
                <a:spcPts val="0"/>
              </a:spcBef>
              <a:spcAft>
                <a:spcPts val="0"/>
              </a:spcAft>
              <a:buNone/>
            </a:pPr>
            <a:r>
              <a:rPr lang="en"/>
              <a:t>  """</a:t>
            </a:r>
            <a:endParaRPr/>
          </a:p>
          <a:p>
            <a:pPr marL="0" lvl="0" indent="0" algn="l" rtl="0">
              <a:spcBef>
                <a:spcPts val="0"/>
              </a:spcBef>
              <a:spcAft>
                <a:spcPts val="0"/>
              </a:spcAft>
              <a:buNone/>
            </a:pPr>
            <a:r>
              <a:rPr lang="en"/>
              <a:t>  &lt; user script to be executed &gt;</a:t>
            </a:r>
            <a:endParaRPr/>
          </a:p>
          <a:p>
            <a:pPr marL="0" lvl="0" indent="0" algn="l" rtl="0">
              <a:spcBef>
                <a:spcPts val="0"/>
              </a:spcBef>
              <a:spcAft>
                <a:spcPts val="0"/>
              </a:spcAft>
              <a:buNone/>
            </a:pPr>
            <a:r>
              <a:rPr lang="en"/>
              <a:t>  """</a:t>
            </a:r>
            <a:endParaRPr/>
          </a:p>
          <a:p>
            <a:pPr marL="0" lvl="0" indent="0" algn="l" rtl="0">
              <a:spcBef>
                <a:spcPts val="0"/>
              </a:spcBef>
              <a:spcAft>
                <a:spcPts val="0"/>
              </a:spcAft>
              <a:buNone/>
            </a:pPr>
            <a:r>
              <a:rPr lang="en"/>
              <a:t>}</a:t>
            </a:r>
            <a:endParaRPr/>
          </a:p>
        </p:txBody>
      </p:sp>
      <p:sp>
        <p:nvSpPr>
          <p:cNvPr id="428" name="Google Shape;428;p28"/>
          <p:cNvSpPr txBox="1"/>
          <p:nvPr/>
        </p:nvSpPr>
        <p:spPr>
          <a:xfrm>
            <a:off x="118200" y="1867750"/>
            <a:ext cx="4453800" cy="2769959"/>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Font typeface="Nunito"/>
              <a:buChar char="●"/>
            </a:pPr>
            <a:r>
              <a:rPr lang="en" b="1" dirty="0">
                <a:latin typeface="Nunito"/>
                <a:ea typeface="Nunito"/>
                <a:cs typeface="Nunito"/>
                <a:sym typeface="Nunito"/>
              </a:rPr>
              <a:t>Directives</a:t>
            </a:r>
            <a:r>
              <a:rPr lang="en" dirty="0">
                <a:latin typeface="Nunito"/>
                <a:ea typeface="Nunito"/>
                <a:cs typeface="Nunito"/>
                <a:sym typeface="Nunito"/>
              </a:rPr>
              <a:t>: Initial declarations that are optional (</a:t>
            </a:r>
            <a:r>
              <a:rPr lang="en" dirty="0" err="1">
                <a:latin typeface="Nunito"/>
                <a:ea typeface="Nunito"/>
                <a:cs typeface="Nunito"/>
                <a:sym typeface="Nunito"/>
              </a:rPr>
              <a:t>eg</a:t>
            </a:r>
            <a:r>
              <a:rPr lang="en" dirty="0">
                <a:latin typeface="Nunito"/>
                <a:ea typeface="Nunito"/>
                <a:cs typeface="Nunito"/>
                <a:sym typeface="Nunito"/>
              </a:rPr>
              <a:t>: </a:t>
            </a:r>
            <a:r>
              <a:rPr lang="en" dirty="0" err="1">
                <a:latin typeface="Nunito"/>
                <a:ea typeface="Nunito"/>
                <a:cs typeface="Nunito"/>
                <a:sym typeface="Nunito"/>
              </a:rPr>
              <a:t>cpus</a:t>
            </a:r>
            <a:r>
              <a:rPr lang="en" dirty="0">
                <a:latin typeface="Nunito"/>
                <a:ea typeface="Nunito"/>
                <a:cs typeface="Nunito"/>
                <a:sym typeface="Nunito"/>
              </a:rPr>
              <a:t>, label, memory </a:t>
            </a:r>
            <a:r>
              <a:rPr lang="en" dirty="0" err="1">
                <a:latin typeface="Nunito"/>
                <a:ea typeface="Nunito"/>
                <a:cs typeface="Nunito"/>
                <a:sym typeface="Nunito"/>
              </a:rPr>
              <a:t>etc</a:t>
            </a:r>
            <a:r>
              <a:rPr lang="en" dirty="0">
                <a:latin typeface="Nunito"/>
                <a:ea typeface="Nunito"/>
                <a:cs typeface="Nunito"/>
                <a:sym typeface="Nunito"/>
              </a:rPr>
              <a:t>)</a:t>
            </a:r>
            <a:endParaRPr dirty="0">
              <a:latin typeface="Nunito"/>
              <a:ea typeface="Nunito"/>
              <a:cs typeface="Nunito"/>
              <a:sym typeface="Nunito"/>
            </a:endParaRPr>
          </a:p>
          <a:p>
            <a:pPr marL="457200" lvl="0" indent="-317500" algn="l" rtl="0">
              <a:lnSpc>
                <a:spcPct val="150000"/>
              </a:lnSpc>
              <a:spcBef>
                <a:spcPts val="0"/>
              </a:spcBef>
              <a:spcAft>
                <a:spcPts val="0"/>
              </a:spcAft>
              <a:buSzPts val="1400"/>
              <a:buFont typeface="Nunito"/>
              <a:buChar char="●"/>
            </a:pPr>
            <a:r>
              <a:rPr lang="en" b="1" dirty="0">
                <a:latin typeface="Nunito"/>
                <a:ea typeface="Nunito"/>
                <a:cs typeface="Nunito"/>
                <a:sym typeface="Nunito"/>
              </a:rPr>
              <a:t>Input</a:t>
            </a:r>
            <a:r>
              <a:rPr lang="en" dirty="0">
                <a:latin typeface="Nunito"/>
                <a:ea typeface="Nunito"/>
                <a:cs typeface="Nunito"/>
                <a:sym typeface="Nunito"/>
              </a:rPr>
              <a:t>: Defines the input channel</a:t>
            </a:r>
            <a:endParaRPr dirty="0">
              <a:latin typeface="Nunito"/>
              <a:ea typeface="Nunito"/>
              <a:cs typeface="Nunito"/>
              <a:sym typeface="Nunito"/>
            </a:endParaRPr>
          </a:p>
          <a:p>
            <a:pPr marL="457200" lvl="0" indent="-317500" algn="l" rtl="0">
              <a:lnSpc>
                <a:spcPct val="150000"/>
              </a:lnSpc>
              <a:spcBef>
                <a:spcPts val="0"/>
              </a:spcBef>
              <a:spcAft>
                <a:spcPts val="0"/>
              </a:spcAft>
              <a:buSzPts val="1400"/>
              <a:buFont typeface="Nunito"/>
              <a:buChar char="●"/>
            </a:pPr>
            <a:r>
              <a:rPr lang="en" b="1" dirty="0">
                <a:latin typeface="Nunito"/>
                <a:ea typeface="Nunito"/>
                <a:cs typeface="Nunito"/>
                <a:sym typeface="Nunito"/>
              </a:rPr>
              <a:t>Output</a:t>
            </a:r>
            <a:r>
              <a:rPr lang="en" dirty="0">
                <a:latin typeface="Nunito"/>
                <a:ea typeface="Nunito"/>
                <a:cs typeface="Nunito"/>
                <a:sym typeface="Nunito"/>
              </a:rPr>
              <a:t>: Defines the output channel</a:t>
            </a:r>
            <a:endParaRPr dirty="0">
              <a:latin typeface="Nunito"/>
              <a:ea typeface="Nunito"/>
              <a:cs typeface="Nunito"/>
              <a:sym typeface="Nunito"/>
            </a:endParaRPr>
          </a:p>
          <a:p>
            <a:pPr marL="457200" lvl="0" indent="-317500" algn="l" rtl="0">
              <a:lnSpc>
                <a:spcPct val="150000"/>
              </a:lnSpc>
              <a:spcBef>
                <a:spcPts val="0"/>
              </a:spcBef>
              <a:spcAft>
                <a:spcPts val="0"/>
              </a:spcAft>
              <a:buSzPts val="1400"/>
              <a:buFont typeface="Nunito"/>
              <a:buChar char="●"/>
            </a:pPr>
            <a:r>
              <a:rPr lang="en" b="1" dirty="0">
                <a:latin typeface="Nunito"/>
                <a:ea typeface="Nunito"/>
                <a:cs typeface="Nunito"/>
                <a:sym typeface="Nunito"/>
              </a:rPr>
              <a:t>When</a:t>
            </a:r>
            <a:r>
              <a:rPr lang="en" dirty="0">
                <a:latin typeface="Nunito"/>
                <a:ea typeface="Nunito"/>
                <a:cs typeface="Nunito"/>
                <a:sym typeface="Nunito"/>
              </a:rPr>
              <a:t>: Optional statement to check, If condition is true, the process will run or else otherwise.</a:t>
            </a:r>
            <a:endParaRPr dirty="0">
              <a:latin typeface="Nunito"/>
              <a:ea typeface="Nunito"/>
              <a:cs typeface="Nunito"/>
              <a:sym typeface="Nunito"/>
            </a:endParaRPr>
          </a:p>
          <a:p>
            <a:pPr marL="457200" lvl="0" indent="-317500">
              <a:lnSpc>
                <a:spcPct val="150000"/>
              </a:lnSpc>
              <a:buSzPts val="1400"/>
              <a:buFont typeface="Nunito"/>
              <a:buChar char="●"/>
            </a:pPr>
            <a:r>
              <a:rPr lang="en" b="1" dirty="0">
                <a:latin typeface="Nunito"/>
                <a:ea typeface="Nunito"/>
                <a:cs typeface="Nunito"/>
                <a:sym typeface="Nunito"/>
              </a:rPr>
              <a:t>Script</a:t>
            </a:r>
            <a:r>
              <a:rPr lang="en" dirty="0">
                <a:latin typeface="Nunito"/>
                <a:ea typeface="Nunito"/>
                <a:cs typeface="Nunito"/>
                <a:sym typeface="Nunito"/>
              </a:rPr>
              <a:t>: </a:t>
            </a:r>
            <a:r>
              <a:rPr lang="en-US" dirty="0">
                <a:latin typeface="Nunito"/>
              </a:rPr>
              <a:t>Defines the commands to be executed within the process</a:t>
            </a:r>
            <a:endParaRPr dirty="0">
              <a:latin typeface="Nunito"/>
              <a:sym typeface="Nuni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29"/>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Directives</a:t>
            </a:r>
            <a:endParaRPr/>
          </a:p>
        </p:txBody>
      </p:sp>
      <p:sp>
        <p:nvSpPr>
          <p:cNvPr id="434" name="Google Shape;434;p29"/>
          <p:cNvSpPr txBox="1">
            <a:spLocks noGrp="1"/>
          </p:cNvSpPr>
          <p:nvPr>
            <p:ph type="body" idx="4294967295"/>
          </p:nvPr>
        </p:nvSpPr>
        <p:spPr>
          <a:xfrm>
            <a:off x="414075" y="1801700"/>
            <a:ext cx="3529200" cy="2541600"/>
          </a:xfrm>
          <a:prstGeom prst="rect">
            <a:avLst/>
          </a:prstGeom>
        </p:spPr>
        <p:txBody>
          <a:bodyPr spcFirstLastPara="1" wrap="square" lIns="91425" tIns="91425" rIns="91425" bIns="91425" anchor="t" anchorCtr="0">
            <a:normAutofit/>
          </a:bodyPr>
          <a:lstStyle/>
          <a:p>
            <a:pPr lvl="0"/>
            <a:r>
              <a:rPr lang="en" dirty="0"/>
              <a:t>This is an optional settings for the execution of the current process without affecting the </a:t>
            </a:r>
            <a:r>
              <a:rPr lang="en-US" dirty="0"/>
              <a:t>logic</a:t>
            </a:r>
            <a:r>
              <a:rPr lang="en" dirty="0"/>
              <a:t> of the task itself.</a:t>
            </a:r>
            <a:endParaRPr dirty="0"/>
          </a:p>
          <a:p>
            <a:pPr marL="0" lvl="0" indent="0" algn="l" rtl="0">
              <a:spcBef>
                <a:spcPts val="1200"/>
              </a:spcBef>
              <a:spcAft>
                <a:spcPts val="0"/>
              </a:spcAft>
              <a:buNone/>
            </a:pPr>
            <a:endParaRPr dirty="0"/>
          </a:p>
          <a:p>
            <a:pPr marL="457200" lvl="0" indent="-311150" algn="l" rtl="0">
              <a:spcBef>
                <a:spcPts val="1200"/>
              </a:spcBef>
              <a:spcAft>
                <a:spcPts val="0"/>
              </a:spcAft>
              <a:buSzPts val="1300"/>
              <a:buChar char="●"/>
            </a:pPr>
            <a:r>
              <a:rPr lang="en" dirty="0"/>
              <a:t>It should be on top of the process body, i.e., above input and output blocks</a:t>
            </a:r>
            <a:endParaRPr dirty="0"/>
          </a:p>
          <a:p>
            <a:pPr marL="914400" lvl="0" indent="0" algn="l" rtl="0">
              <a:spcBef>
                <a:spcPts val="1200"/>
              </a:spcBef>
              <a:spcAft>
                <a:spcPts val="1200"/>
              </a:spcAft>
              <a:buNone/>
            </a:pPr>
            <a:endParaRPr dirty="0"/>
          </a:p>
        </p:txBody>
      </p:sp>
      <p:sp>
        <p:nvSpPr>
          <p:cNvPr id="435" name="Google Shape;435;p29"/>
          <p:cNvSpPr txBox="1"/>
          <p:nvPr/>
        </p:nvSpPr>
        <p:spPr>
          <a:xfrm>
            <a:off x="5292900" y="1080000"/>
            <a:ext cx="3851100" cy="40635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process &lt; name &gt; {</a:t>
            </a:r>
            <a:endParaRPr/>
          </a:p>
          <a:p>
            <a:pPr marL="0" lvl="0" indent="0" algn="l" rtl="0">
              <a:spcBef>
                <a:spcPts val="0"/>
              </a:spcBef>
              <a:spcAft>
                <a:spcPts val="0"/>
              </a:spcAft>
              <a:buNone/>
            </a:pPr>
            <a:endParaRPr/>
          </a:p>
          <a:p>
            <a:pPr marL="0" lvl="0" indent="0" algn="l" rtl="0">
              <a:spcBef>
                <a:spcPts val="0"/>
              </a:spcBef>
              <a:spcAft>
                <a:spcPts val="0"/>
              </a:spcAft>
              <a:buNone/>
            </a:pPr>
            <a:r>
              <a:rPr lang="en">
                <a:solidFill>
                  <a:srgbClr val="0000FF"/>
                </a:solidFill>
              </a:rPr>
              <a:t>  [ directives ] </a:t>
            </a:r>
            <a:endParaRPr>
              <a:solidFill>
                <a:srgbClr val="0000FF"/>
              </a:solidFill>
            </a:endParaRPr>
          </a:p>
          <a:p>
            <a:pPr marL="0" lvl="0" indent="0" algn="l" rtl="0">
              <a:spcBef>
                <a:spcPts val="0"/>
              </a:spcBef>
              <a:spcAft>
                <a:spcPts val="0"/>
              </a:spcAft>
              <a:buNone/>
            </a:pPr>
            <a:endParaRPr/>
          </a:p>
          <a:p>
            <a:pPr marL="0" lvl="0" indent="0" algn="l" rtl="0">
              <a:spcBef>
                <a:spcPts val="0"/>
              </a:spcBef>
              <a:spcAft>
                <a:spcPts val="0"/>
              </a:spcAft>
              <a:buNone/>
            </a:pPr>
            <a:r>
              <a:rPr lang="en"/>
              <a:t>  input: </a:t>
            </a:r>
            <a:endParaRPr/>
          </a:p>
          <a:p>
            <a:pPr marL="0" lvl="0" indent="0" algn="l" rtl="0">
              <a:spcBef>
                <a:spcPts val="0"/>
              </a:spcBef>
              <a:spcAft>
                <a:spcPts val="0"/>
              </a:spcAft>
              <a:buNone/>
            </a:pPr>
            <a:r>
              <a:rPr lang="en"/>
              <a:t>  &lt; process inputs &gt;</a:t>
            </a:r>
            <a:endParaRPr/>
          </a:p>
          <a:p>
            <a:pPr marL="0" lvl="0" indent="0" algn="l" rtl="0">
              <a:spcBef>
                <a:spcPts val="0"/>
              </a:spcBef>
              <a:spcAft>
                <a:spcPts val="0"/>
              </a:spcAft>
              <a:buNone/>
            </a:pPr>
            <a:endParaRPr/>
          </a:p>
          <a:p>
            <a:pPr marL="0" lvl="0" indent="0" algn="l" rtl="0">
              <a:spcBef>
                <a:spcPts val="0"/>
              </a:spcBef>
              <a:spcAft>
                <a:spcPts val="0"/>
              </a:spcAft>
              <a:buNone/>
            </a:pPr>
            <a:r>
              <a:rPr lang="en"/>
              <a:t>  output: </a:t>
            </a:r>
            <a:endParaRPr/>
          </a:p>
          <a:p>
            <a:pPr marL="0" lvl="0" indent="0" algn="l" rtl="0">
              <a:spcBef>
                <a:spcPts val="0"/>
              </a:spcBef>
              <a:spcAft>
                <a:spcPts val="0"/>
              </a:spcAft>
              <a:buNone/>
            </a:pPr>
            <a:r>
              <a:rPr lang="en"/>
              <a:t>  &lt; process outputs &gt;</a:t>
            </a:r>
            <a:endParaRPr/>
          </a:p>
          <a:p>
            <a:pPr marL="0" lvl="0" indent="0" algn="l" rtl="0">
              <a:spcBef>
                <a:spcPts val="0"/>
              </a:spcBef>
              <a:spcAft>
                <a:spcPts val="0"/>
              </a:spcAft>
              <a:buNone/>
            </a:pPr>
            <a:endParaRPr/>
          </a:p>
          <a:p>
            <a:pPr marL="0" lvl="0" indent="0" algn="l" rtl="0">
              <a:spcBef>
                <a:spcPts val="0"/>
              </a:spcBef>
              <a:spcAft>
                <a:spcPts val="0"/>
              </a:spcAft>
              <a:buNone/>
            </a:pPr>
            <a:r>
              <a:rPr lang="en"/>
              <a:t>  when: </a:t>
            </a:r>
            <a:endParaRPr/>
          </a:p>
          <a:p>
            <a:pPr marL="0" lvl="0" indent="0" algn="l" rtl="0">
              <a:spcBef>
                <a:spcPts val="0"/>
              </a:spcBef>
              <a:spcAft>
                <a:spcPts val="0"/>
              </a:spcAft>
              <a:buNone/>
            </a:pPr>
            <a:r>
              <a:rPr lang="en"/>
              <a:t>  &lt; condition &gt;</a:t>
            </a:r>
            <a:endParaRPr/>
          </a:p>
          <a:p>
            <a:pPr marL="0" lvl="0" indent="0" algn="l" rtl="0">
              <a:spcBef>
                <a:spcPts val="0"/>
              </a:spcBef>
              <a:spcAft>
                <a:spcPts val="0"/>
              </a:spcAft>
              <a:buNone/>
            </a:pPr>
            <a:endParaRPr/>
          </a:p>
          <a:p>
            <a:pPr marL="0" lvl="0" indent="0" algn="l" rtl="0">
              <a:spcBef>
                <a:spcPts val="0"/>
              </a:spcBef>
              <a:spcAft>
                <a:spcPts val="0"/>
              </a:spcAft>
              <a:buNone/>
            </a:pPr>
            <a:r>
              <a:rPr lang="en"/>
              <a:t>  [script|shell|exec]: </a:t>
            </a:r>
            <a:endParaRPr/>
          </a:p>
          <a:p>
            <a:pPr marL="0" lvl="0" indent="0" algn="l" rtl="0">
              <a:spcBef>
                <a:spcPts val="0"/>
              </a:spcBef>
              <a:spcAft>
                <a:spcPts val="0"/>
              </a:spcAft>
              <a:buNone/>
            </a:pPr>
            <a:r>
              <a:rPr lang="en"/>
              <a:t>  """</a:t>
            </a:r>
            <a:endParaRPr/>
          </a:p>
          <a:p>
            <a:pPr marL="0" lvl="0" indent="0" algn="l" rtl="0">
              <a:spcBef>
                <a:spcPts val="0"/>
              </a:spcBef>
              <a:spcAft>
                <a:spcPts val="0"/>
              </a:spcAft>
              <a:buNone/>
            </a:pPr>
            <a:r>
              <a:rPr lang="en"/>
              <a:t>  &lt; user script to be executed &gt;</a:t>
            </a:r>
            <a:endParaRPr/>
          </a:p>
          <a:p>
            <a:pPr marL="0" lvl="0" indent="0" algn="l" rtl="0">
              <a:spcBef>
                <a:spcPts val="0"/>
              </a:spcBef>
              <a:spcAft>
                <a:spcPts val="0"/>
              </a:spcAft>
              <a:buNone/>
            </a:pPr>
            <a:r>
              <a:rPr lang="en"/>
              <a:t>  """</a:t>
            </a:r>
            <a:endParaRPr/>
          </a:p>
          <a:p>
            <a:pPr marL="0" lvl="0" indent="0" algn="l" rtl="0">
              <a:spcBef>
                <a:spcPts val="0"/>
              </a:spcBef>
              <a:spcAft>
                <a:spcPts val="0"/>
              </a:spcAft>
              <a:buNone/>
            </a:pPr>
            <a:r>
              <a:rPr lang="en"/>
              <a:t>}</a:t>
            </a:r>
            <a:endParaRPr/>
          </a:p>
        </p:txBody>
      </p:sp>
      <p:pic>
        <p:nvPicPr>
          <p:cNvPr id="436" name="Google Shape;436;p29"/>
          <p:cNvPicPr preferRelativeResize="0"/>
          <p:nvPr/>
        </p:nvPicPr>
        <p:blipFill>
          <a:blip r:embed="rId3">
            <a:alphaModFix/>
          </a:blip>
          <a:stretch>
            <a:fillRect/>
          </a:stretch>
        </p:blipFill>
        <p:spPr>
          <a:xfrm>
            <a:off x="813689" y="598575"/>
            <a:ext cx="932451" cy="7806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30"/>
          <p:cNvSpPr txBox="1">
            <a:spLocks noGrp="1"/>
          </p:cNvSpPr>
          <p:nvPr>
            <p:ph type="body" idx="4294967295"/>
          </p:nvPr>
        </p:nvSpPr>
        <p:spPr>
          <a:xfrm>
            <a:off x="202625" y="1536550"/>
            <a:ext cx="4369500" cy="3474600"/>
          </a:xfrm>
          <a:prstGeom prst="rect">
            <a:avLst/>
          </a:prstGeom>
        </p:spPr>
        <p:txBody>
          <a:bodyPr spcFirstLastPara="1" wrap="square" lIns="91425" tIns="91425" rIns="91425" bIns="91425" anchor="t" anchorCtr="0">
            <a:normAutofit/>
          </a:bodyPr>
          <a:lstStyle/>
          <a:p>
            <a:pPr marL="914400" lvl="1" indent="-298450" algn="l" rtl="0">
              <a:lnSpc>
                <a:spcPct val="150000"/>
              </a:lnSpc>
              <a:spcBef>
                <a:spcPts val="0"/>
              </a:spcBef>
              <a:spcAft>
                <a:spcPts val="0"/>
              </a:spcAft>
              <a:buSzPts val="1100"/>
              <a:buChar char="○"/>
            </a:pPr>
            <a:r>
              <a:rPr lang="en" b="1" dirty="0" err="1"/>
              <a:t>cpus</a:t>
            </a:r>
            <a:r>
              <a:rPr lang="en" dirty="0"/>
              <a:t> : number of logical cores to be used</a:t>
            </a:r>
            <a:endParaRPr dirty="0"/>
          </a:p>
          <a:p>
            <a:pPr lvl="1">
              <a:lnSpc>
                <a:spcPct val="150000"/>
              </a:lnSpc>
            </a:pPr>
            <a:r>
              <a:rPr lang="en" b="1" dirty="0"/>
              <a:t>time</a:t>
            </a:r>
            <a:r>
              <a:rPr lang="en" dirty="0"/>
              <a:t> : </a:t>
            </a:r>
            <a:r>
              <a:rPr lang="en-US" dirty="0"/>
              <a:t>defines the maximum allowed runtime for a process </a:t>
            </a:r>
            <a:r>
              <a:rPr lang="en" dirty="0"/>
              <a:t>(helpful when program is taking too long than it should)</a:t>
            </a:r>
            <a:endParaRPr dirty="0"/>
          </a:p>
          <a:p>
            <a:pPr marL="914400" lvl="1" indent="-298450" algn="l" rtl="0">
              <a:lnSpc>
                <a:spcPct val="150000"/>
              </a:lnSpc>
              <a:spcBef>
                <a:spcPts val="0"/>
              </a:spcBef>
              <a:spcAft>
                <a:spcPts val="0"/>
              </a:spcAft>
              <a:buSzPts val="1100"/>
              <a:buChar char="○"/>
            </a:pPr>
            <a:r>
              <a:rPr lang="en" b="1" dirty="0"/>
              <a:t>memory</a:t>
            </a:r>
            <a:r>
              <a:rPr lang="en" dirty="0"/>
              <a:t> : the amount of RAM to be used in the process</a:t>
            </a:r>
            <a:endParaRPr dirty="0"/>
          </a:p>
          <a:p>
            <a:pPr marL="914400" lvl="1" indent="-298450" algn="l" rtl="0">
              <a:lnSpc>
                <a:spcPct val="150000"/>
              </a:lnSpc>
              <a:spcBef>
                <a:spcPts val="0"/>
              </a:spcBef>
              <a:spcAft>
                <a:spcPts val="0"/>
              </a:spcAft>
              <a:buSzPts val="1100"/>
              <a:buChar char="○"/>
            </a:pPr>
            <a:r>
              <a:rPr lang="en" b="1" dirty="0"/>
              <a:t>tag</a:t>
            </a:r>
            <a:r>
              <a:rPr lang="en" dirty="0"/>
              <a:t> : gives a custom label to the process (easier to identify when the process is running)</a:t>
            </a:r>
            <a:endParaRPr dirty="0"/>
          </a:p>
          <a:p>
            <a:pPr marL="914400" lvl="1" indent="-298450" algn="l" rtl="0">
              <a:lnSpc>
                <a:spcPct val="150000"/>
              </a:lnSpc>
              <a:spcBef>
                <a:spcPts val="0"/>
              </a:spcBef>
              <a:spcAft>
                <a:spcPts val="0"/>
              </a:spcAft>
              <a:buSzPts val="1100"/>
              <a:buChar char="○"/>
            </a:pPr>
            <a:r>
              <a:rPr lang="en" b="1" dirty="0"/>
              <a:t>disk</a:t>
            </a:r>
            <a:r>
              <a:rPr lang="en" dirty="0"/>
              <a:t> : the space the process can use</a:t>
            </a:r>
            <a:endParaRPr dirty="0"/>
          </a:p>
          <a:p>
            <a:pPr marL="1371600" lvl="0" indent="0" algn="l" rtl="0">
              <a:lnSpc>
                <a:spcPct val="150000"/>
              </a:lnSpc>
              <a:spcBef>
                <a:spcPts val="1200"/>
              </a:spcBef>
              <a:spcAft>
                <a:spcPts val="1200"/>
              </a:spcAft>
              <a:buNone/>
            </a:pPr>
            <a:endParaRPr dirty="0"/>
          </a:p>
        </p:txBody>
      </p:sp>
      <p:sp>
        <p:nvSpPr>
          <p:cNvPr id="442" name="Google Shape;442;p30"/>
          <p:cNvSpPr txBox="1"/>
          <p:nvPr/>
        </p:nvSpPr>
        <p:spPr>
          <a:xfrm>
            <a:off x="5540600" y="574800"/>
            <a:ext cx="3000000" cy="43407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t>#!/</a:t>
            </a:r>
            <a:r>
              <a:rPr lang="en" sz="1000" dirty="0" err="1"/>
              <a:t>usr</a:t>
            </a:r>
            <a:r>
              <a:rPr lang="en" sz="1000" dirty="0"/>
              <a:t>/bin/env </a:t>
            </a:r>
            <a:r>
              <a:rPr lang="en" sz="1000" dirty="0" err="1"/>
              <a:t>nextflow</a:t>
            </a:r>
            <a:r>
              <a:rPr lang="en" sz="1000" dirty="0"/>
              <a:t>  </a:t>
            </a:r>
            <a:endParaRPr sz="1000" dirty="0">
              <a:solidFill>
                <a:srgbClr val="0000FF"/>
              </a:solidFill>
            </a:endParaRPr>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err="1"/>
              <a:t>params.greeting</a:t>
            </a:r>
            <a:r>
              <a:rPr lang="en" sz="1000" dirty="0"/>
              <a:t> = 'Hello world!' </a:t>
            </a:r>
            <a:endParaRPr sz="1000" dirty="0">
              <a:solidFill>
                <a:srgbClr val="0000FF"/>
              </a:solidFill>
            </a:endParaRPr>
          </a:p>
          <a:p>
            <a:pPr marL="0" lvl="0" indent="0" algn="l" rtl="0">
              <a:spcBef>
                <a:spcPts val="0"/>
              </a:spcBef>
              <a:spcAft>
                <a:spcPts val="0"/>
              </a:spcAft>
              <a:buNone/>
            </a:pPr>
            <a:r>
              <a:rPr lang="en" sz="1000" dirty="0" err="1"/>
              <a:t>greeting_ch</a:t>
            </a:r>
            <a:r>
              <a:rPr lang="en" sz="1000" dirty="0"/>
              <a:t> = </a:t>
            </a:r>
            <a:r>
              <a:rPr lang="en" sz="1000" dirty="0" err="1"/>
              <a:t>Channel.of</a:t>
            </a:r>
            <a:r>
              <a:rPr lang="en" sz="1000" dirty="0"/>
              <a:t>(</a:t>
            </a:r>
            <a:r>
              <a:rPr lang="en" sz="1000" dirty="0" err="1"/>
              <a:t>params.greeting</a:t>
            </a:r>
            <a:r>
              <a:rPr lang="en" sz="1000" dirty="0"/>
              <a:t>) </a:t>
            </a:r>
            <a:endParaRPr sz="1000" dirty="0">
              <a:solidFill>
                <a:srgbClr val="0000FF"/>
              </a:solidFill>
            </a:endParaRPr>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process SPLITLETTERS { </a:t>
            </a:r>
            <a:endParaRPr sz="1000" dirty="0">
              <a:solidFill>
                <a:srgbClr val="0000FF"/>
              </a:solidFill>
            </a:endParaRPr>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solidFill>
                  <a:srgbClr val="0000FF"/>
                </a:solidFill>
              </a:rPr>
              <a:t>    </a:t>
            </a:r>
            <a:r>
              <a:rPr lang="en" sz="1000" dirty="0" err="1">
                <a:solidFill>
                  <a:srgbClr val="0000FF"/>
                </a:solidFill>
              </a:rPr>
              <a:t>cpus</a:t>
            </a:r>
            <a:r>
              <a:rPr lang="en" sz="1000" dirty="0">
                <a:solidFill>
                  <a:srgbClr val="0000FF"/>
                </a:solidFill>
              </a:rPr>
              <a:t> 4</a:t>
            </a:r>
            <a:endParaRPr sz="1000" dirty="0">
              <a:solidFill>
                <a:srgbClr val="0000FF"/>
              </a:solidFill>
            </a:endParaRPr>
          </a:p>
          <a:p>
            <a:pPr marL="0" lvl="0" indent="0" algn="l" rtl="0">
              <a:spcBef>
                <a:spcPts val="0"/>
              </a:spcBef>
              <a:spcAft>
                <a:spcPts val="0"/>
              </a:spcAft>
              <a:buNone/>
            </a:pPr>
            <a:r>
              <a:rPr lang="en" sz="1000" dirty="0">
                <a:solidFill>
                  <a:srgbClr val="0000FF"/>
                </a:solidFill>
              </a:rPr>
              <a:t>    tag “</a:t>
            </a:r>
            <a:r>
              <a:rPr lang="en" sz="1000" dirty="0" err="1">
                <a:solidFill>
                  <a:srgbClr val="0000FF"/>
                </a:solidFill>
              </a:rPr>
              <a:t>splitting_letters</a:t>
            </a:r>
            <a:r>
              <a:rPr lang="en" sz="1000" dirty="0">
                <a:solidFill>
                  <a:srgbClr val="0000FF"/>
                </a:solidFill>
              </a:rPr>
              <a:t>” </a:t>
            </a:r>
            <a:endParaRPr sz="1000" dirty="0">
              <a:solidFill>
                <a:srgbClr val="0000FF"/>
              </a:solidFill>
            </a:endParaRPr>
          </a:p>
          <a:p>
            <a:pPr marL="0" lvl="0" indent="0" algn="l" rtl="0">
              <a:spcBef>
                <a:spcPts val="0"/>
              </a:spcBef>
              <a:spcAft>
                <a:spcPts val="0"/>
              </a:spcAft>
              <a:buNone/>
            </a:pPr>
            <a:r>
              <a:rPr lang="en" sz="1000" dirty="0">
                <a:solidFill>
                  <a:srgbClr val="0000FF"/>
                </a:solidFill>
              </a:rPr>
              <a:t>    time ‘1d’</a:t>
            </a:r>
            <a:endParaRPr sz="1000" dirty="0">
              <a:solidFill>
                <a:srgbClr val="0000FF"/>
              </a:solidFill>
            </a:endParaRPr>
          </a:p>
          <a:p>
            <a:pPr marL="0" lvl="0" indent="0" algn="l" rtl="0">
              <a:spcBef>
                <a:spcPts val="0"/>
              </a:spcBef>
              <a:spcAft>
                <a:spcPts val="0"/>
              </a:spcAft>
              <a:buNone/>
            </a:pPr>
            <a:r>
              <a:rPr lang="en" sz="1000" dirty="0">
                <a:solidFill>
                  <a:srgbClr val="0000FF"/>
                </a:solidFill>
              </a:rPr>
              <a:t>    memory ‘8 GB’</a:t>
            </a:r>
            <a:endParaRPr sz="1000" dirty="0">
              <a:solidFill>
                <a:srgbClr val="0000FF"/>
              </a:solidFill>
            </a:endParaRPr>
          </a:p>
          <a:p>
            <a:pPr marL="0" lvl="0" indent="0" algn="l" rtl="0">
              <a:spcBef>
                <a:spcPts val="0"/>
              </a:spcBef>
              <a:spcAft>
                <a:spcPts val="0"/>
              </a:spcAft>
              <a:buNone/>
            </a:pPr>
            <a:r>
              <a:rPr lang="en" sz="1000" dirty="0">
                <a:solidFill>
                  <a:srgbClr val="0000FF"/>
                </a:solidFill>
              </a:rPr>
              <a:t>    disk ‘15 GB’</a:t>
            </a:r>
            <a:endParaRPr sz="1000" dirty="0">
              <a:solidFill>
                <a:srgbClr val="0000FF"/>
              </a:solidFill>
            </a:endParaRPr>
          </a:p>
          <a:p>
            <a:pPr marL="0" lvl="0" indent="0" algn="l" rtl="0">
              <a:spcBef>
                <a:spcPts val="0"/>
              </a:spcBef>
              <a:spcAft>
                <a:spcPts val="0"/>
              </a:spcAft>
              <a:buNone/>
            </a:pPr>
            <a:r>
              <a:rPr lang="en" sz="1000" dirty="0"/>
              <a:t>    </a:t>
            </a:r>
            <a:endParaRPr sz="1000" dirty="0"/>
          </a:p>
          <a:p>
            <a:pPr marL="0" lvl="0" indent="0" algn="l" rtl="0">
              <a:spcBef>
                <a:spcPts val="0"/>
              </a:spcBef>
              <a:spcAft>
                <a:spcPts val="0"/>
              </a:spcAft>
              <a:buNone/>
            </a:pPr>
            <a:r>
              <a:rPr lang="en" sz="1000" dirty="0"/>
              <a:t>    input: 	</a:t>
            </a:r>
            <a:endParaRPr sz="1000" dirty="0">
              <a:solidFill>
                <a:srgbClr val="0000FF"/>
              </a:solidFill>
            </a:endParaRPr>
          </a:p>
          <a:p>
            <a:pPr marL="0" lvl="0" indent="0" algn="l" rtl="0">
              <a:spcBef>
                <a:spcPts val="0"/>
              </a:spcBef>
              <a:spcAft>
                <a:spcPts val="0"/>
              </a:spcAft>
              <a:buNone/>
            </a:pPr>
            <a:r>
              <a:rPr lang="en" sz="1000" dirty="0"/>
              <a:t>    </a:t>
            </a:r>
            <a:r>
              <a:rPr lang="en" sz="1000" dirty="0" err="1"/>
              <a:t>val</a:t>
            </a:r>
            <a:r>
              <a:rPr lang="en" sz="1000" dirty="0"/>
              <a:t> x </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    output:	</a:t>
            </a:r>
            <a:endParaRPr sz="1000" dirty="0">
              <a:solidFill>
                <a:srgbClr val="0000FF"/>
              </a:solidFill>
            </a:endParaRPr>
          </a:p>
          <a:p>
            <a:pPr marL="0" lvl="0" indent="0" algn="l" rtl="0">
              <a:spcBef>
                <a:spcPts val="0"/>
              </a:spcBef>
              <a:spcAft>
                <a:spcPts val="0"/>
              </a:spcAft>
              <a:buNone/>
            </a:pPr>
            <a:r>
              <a:rPr lang="en" sz="1000" dirty="0"/>
              <a:t>    path 'chunk_*' </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    """</a:t>
            </a:r>
            <a:endParaRPr sz="1000" dirty="0"/>
          </a:p>
          <a:p>
            <a:pPr marL="0" lvl="0" indent="0" algn="l" rtl="0">
              <a:spcBef>
                <a:spcPts val="0"/>
              </a:spcBef>
              <a:spcAft>
                <a:spcPts val="0"/>
              </a:spcAft>
              <a:buNone/>
            </a:pPr>
            <a:r>
              <a:rPr lang="en" sz="1000" dirty="0"/>
              <a:t>    echo '$x' | split -b 6 - chunk_</a:t>
            </a:r>
            <a:endParaRPr sz="1000" dirty="0"/>
          </a:p>
          <a:p>
            <a:pPr marL="0" lvl="0" indent="0" algn="l" rtl="0">
              <a:spcBef>
                <a:spcPts val="0"/>
              </a:spcBef>
              <a:spcAft>
                <a:spcPts val="0"/>
              </a:spcAft>
              <a:buNone/>
            </a:pPr>
            <a:r>
              <a:rPr lang="en" sz="1000" dirty="0"/>
              <a:t>    """</a:t>
            </a:r>
            <a:endParaRPr sz="1000" dirty="0"/>
          </a:p>
          <a:p>
            <a:pPr marL="0" lvl="0" indent="0" algn="l" rtl="0">
              <a:spcBef>
                <a:spcPts val="0"/>
              </a:spcBef>
              <a:spcAft>
                <a:spcPts val="0"/>
              </a:spcAft>
              <a:buNone/>
            </a:pPr>
            <a:r>
              <a:rPr lang="en" sz="1000" dirty="0"/>
              <a:t>}</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workflow { </a:t>
            </a:r>
            <a:endParaRPr sz="1000" dirty="0"/>
          </a:p>
          <a:p>
            <a:pPr marL="0" lvl="0" indent="0" algn="l" rtl="0">
              <a:spcBef>
                <a:spcPts val="0"/>
              </a:spcBef>
              <a:spcAft>
                <a:spcPts val="0"/>
              </a:spcAft>
              <a:buNone/>
            </a:pPr>
            <a:r>
              <a:rPr lang="en" sz="1000" dirty="0" err="1"/>
              <a:t>out_ch</a:t>
            </a:r>
            <a:r>
              <a:rPr lang="en" sz="1000" dirty="0"/>
              <a:t> = SPLITLETTERS(</a:t>
            </a:r>
            <a:r>
              <a:rPr lang="en" sz="1000" dirty="0" err="1"/>
              <a:t>greeting_ch</a:t>
            </a:r>
            <a:r>
              <a:rPr lang="en" sz="1000" dirty="0"/>
              <a:t>)</a:t>
            </a:r>
            <a:endParaRPr sz="1000" dirty="0"/>
          </a:p>
          <a:p>
            <a:pPr marL="0" lvl="0" indent="0" algn="l" rtl="0">
              <a:spcBef>
                <a:spcPts val="0"/>
              </a:spcBef>
              <a:spcAft>
                <a:spcPts val="0"/>
              </a:spcAft>
              <a:buNone/>
            </a:pPr>
            <a:r>
              <a:rPr lang="en" sz="1000" dirty="0"/>
              <a:t>}</a:t>
            </a:r>
            <a:endParaRPr sz="1000" dirty="0"/>
          </a:p>
        </p:txBody>
      </p:sp>
      <p:sp>
        <p:nvSpPr>
          <p:cNvPr id="443" name="Google Shape;443;p30"/>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Directives</a:t>
            </a:r>
            <a:endParaRPr/>
          </a:p>
        </p:txBody>
      </p:sp>
      <p:pic>
        <p:nvPicPr>
          <p:cNvPr id="444" name="Google Shape;444;p30"/>
          <p:cNvPicPr preferRelativeResize="0"/>
          <p:nvPr/>
        </p:nvPicPr>
        <p:blipFill>
          <a:blip r:embed="rId3">
            <a:alphaModFix/>
          </a:blip>
          <a:stretch>
            <a:fillRect/>
          </a:stretch>
        </p:blipFill>
        <p:spPr>
          <a:xfrm>
            <a:off x="813689" y="598575"/>
            <a:ext cx="932451" cy="7806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31"/>
          <p:cNvSpPr txBox="1"/>
          <p:nvPr/>
        </p:nvSpPr>
        <p:spPr>
          <a:xfrm>
            <a:off x="5609825" y="981650"/>
            <a:ext cx="3000000" cy="41868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t>#!/</a:t>
            </a:r>
            <a:r>
              <a:rPr lang="en" sz="1000" dirty="0" err="1"/>
              <a:t>usr</a:t>
            </a:r>
            <a:r>
              <a:rPr lang="en" sz="1000" dirty="0"/>
              <a:t>/bin/env </a:t>
            </a:r>
            <a:r>
              <a:rPr lang="en" sz="1000" dirty="0" err="1"/>
              <a:t>nextflow</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err="1"/>
              <a:t>params.greeting</a:t>
            </a:r>
            <a:r>
              <a:rPr lang="en" sz="1000" dirty="0"/>
              <a:t> = ['Hello </a:t>
            </a:r>
            <a:r>
              <a:rPr lang="en" sz="1000" dirty="0" err="1"/>
              <a:t>world!','world','hello</a:t>
            </a:r>
            <a:r>
              <a:rPr lang="en" sz="1000" dirty="0"/>
              <a:t>']</a:t>
            </a:r>
            <a:endParaRPr sz="1000" dirty="0"/>
          </a:p>
          <a:p>
            <a:pPr marL="0" lvl="0" indent="0" algn="l" rtl="0">
              <a:spcBef>
                <a:spcPts val="0"/>
              </a:spcBef>
              <a:spcAft>
                <a:spcPts val="0"/>
              </a:spcAft>
              <a:buNone/>
            </a:pPr>
            <a:r>
              <a:rPr lang="en" sz="1000" dirty="0" err="1"/>
              <a:t>greeting_ch</a:t>
            </a:r>
            <a:r>
              <a:rPr lang="en" sz="1000" dirty="0"/>
              <a:t> = </a:t>
            </a:r>
            <a:r>
              <a:rPr lang="en" sz="1000" dirty="0" err="1"/>
              <a:t>Channel.fromList</a:t>
            </a:r>
            <a:r>
              <a:rPr lang="en" sz="1000" dirty="0"/>
              <a:t>(</a:t>
            </a:r>
            <a:r>
              <a:rPr lang="en" sz="1000" dirty="0" err="1"/>
              <a:t>params.greeting</a:t>
            </a:r>
            <a:r>
              <a:rPr lang="en" sz="1000" dirty="0"/>
              <a:t>)</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process SPLITLETTERS {</a:t>
            </a:r>
            <a:endParaRPr sz="1000" dirty="0"/>
          </a:p>
          <a:p>
            <a:pPr marL="0" lvl="0" indent="0" algn="l" rtl="0">
              <a:spcBef>
                <a:spcPts val="0"/>
              </a:spcBef>
              <a:spcAft>
                <a:spcPts val="0"/>
              </a:spcAft>
              <a:buNone/>
            </a:pPr>
            <a:r>
              <a:rPr lang="en" sz="1000" dirty="0"/>
              <a:t>    debug true</a:t>
            </a:r>
            <a:endParaRPr sz="1000" dirty="0"/>
          </a:p>
          <a:p>
            <a:pPr marL="0" lvl="0" indent="0" algn="l" rtl="0">
              <a:spcBef>
                <a:spcPts val="0"/>
              </a:spcBef>
              <a:spcAft>
                <a:spcPts val="0"/>
              </a:spcAft>
              <a:buNone/>
            </a:pPr>
            <a:r>
              <a:rPr lang="en" sz="1000" dirty="0"/>
              <a:t>    </a:t>
            </a:r>
            <a:r>
              <a:rPr lang="en" sz="1000" dirty="0" err="1"/>
              <a:t>cpus</a:t>
            </a:r>
            <a:r>
              <a:rPr lang="en" sz="1000" dirty="0"/>
              <a:t> 4</a:t>
            </a:r>
            <a:endParaRPr sz="1000" dirty="0"/>
          </a:p>
          <a:p>
            <a:pPr marL="0" lvl="0" indent="0" algn="l" rtl="0">
              <a:spcBef>
                <a:spcPts val="0"/>
              </a:spcBef>
              <a:spcAft>
                <a:spcPts val="0"/>
              </a:spcAft>
              <a:buNone/>
            </a:pPr>
            <a:r>
              <a:rPr lang="en" sz="1000" dirty="0"/>
              <a:t>    memory '8 GB'</a:t>
            </a:r>
            <a:endParaRPr sz="1000" dirty="0"/>
          </a:p>
          <a:p>
            <a:pPr marL="0" lvl="0" indent="0" algn="l" rtl="0">
              <a:spcBef>
                <a:spcPts val="0"/>
              </a:spcBef>
              <a:spcAft>
                <a:spcPts val="0"/>
              </a:spcAft>
              <a:buNone/>
            </a:pPr>
            <a:r>
              <a:rPr lang="en" sz="1000" dirty="0"/>
              <a:t>    disk '15 GB'</a:t>
            </a:r>
            <a:endParaRPr sz="1000" dirty="0"/>
          </a:p>
          <a:p>
            <a:pPr marL="0" lvl="0" indent="0" algn="l" rtl="0">
              <a:spcBef>
                <a:spcPts val="0"/>
              </a:spcBef>
              <a:spcAft>
                <a:spcPts val="0"/>
              </a:spcAft>
              <a:buNone/>
            </a:pPr>
            <a:r>
              <a:rPr lang="en" sz="1000" dirty="0"/>
              <a:t>    </a:t>
            </a:r>
            <a:r>
              <a:rPr lang="en" sz="1000" dirty="0" err="1">
                <a:solidFill>
                  <a:srgbClr val="0000FF"/>
                </a:solidFill>
              </a:rPr>
              <a:t>publishDir</a:t>
            </a:r>
            <a:r>
              <a:rPr lang="en" sz="1000" dirty="0">
                <a:solidFill>
                  <a:srgbClr val="0000FF"/>
                </a:solidFill>
              </a:rPr>
              <a:t> "results"</a:t>
            </a:r>
            <a:endParaRPr sz="1000" dirty="0">
              <a:solidFill>
                <a:srgbClr val="0000FF"/>
              </a:solidFill>
            </a:endParaRPr>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    input:</a:t>
            </a:r>
            <a:endParaRPr sz="1000" dirty="0"/>
          </a:p>
          <a:p>
            <a:pPr marL="0" lvl="0" indent="0" algn="l" rtl="0">
              <a:spcBef>
                <a:spcPts val="0"/>
              </a:spcBef>
              <a:spcAft>
                <a:spcPts val="0"/>
              </a:spcAft>
              <a:buNone/>
            </a:pPr>
            <a:r>
              <a:rPr lang="en" sz="1000" dirty="0"/>
              <a:t>    </a:t>
            </a:r>
            <a:r>
              <a:rPr lang="en" sz="1000" dirty="0" err="1"/>
              <a:t>val</a:t>
            </a:r>
            <a:r>
              <a:rPr lang="en" sz="1000" dirty="0"/>
              <a:t> x </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    output:</a:t>
            </a:r>
            <a:endParaRPr sz="1000" dirty="0"/>
          </a:p>
          <a:p>
            <a:pPr marL="0" lvl="0" indent="0" algn="l" rtl="0">
              <a:spcBef>
                <a:spcPts val="0"/>
              </a:spcBef>
              <a:spcAft>
                <a:spcPts val="0"/>
              </a:spcAft>
              <a:buNone/>
            </a:pPr>
            <a:r>
              <a:rPr lang="en" sz="1000" dirty="0"/>
              <a:t>    path 'chunk_*' </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    """</a:t>
            </a:r>
            <a:endParaRPr sz="1000" dirty="0"/>
          </a:p>
          <a:p>
            <a:pPr marL="0" lvl="0" indent="0" algn="l" rtl="0">
              <a:spcBef>
                <a:spcPts val="0"/>
              </a:spcBef>
              <a:spcAft>
                <a:spcPts val="0"/>
              </a:spcAft>
              <a:buNone/>
            </a:pPr>
            <a:r>
              <a:rPr lang="en" sz="1000" dirty="0"/>
              <a:t>    echo '$x' | split -b 6 - chunk_</a:t>
            </a:r>
            <a:endParaRPr sz="1000" dirty="0"/>
          </a:p>
          <a:p>
            <a:pPr marL="0" lvl="0" indent="0" algn="l" rtl="0">
              <a:spcBef>
                <a:spcPts val="0"/>
              </a:spcBef>
              <a:spcAft>
                <a:spcPts val="0"/>
              </a:spcAft>
              <a:buNone/>
            </a:pPr>
            <a:r>
              <a:rPr lang="en" sz="1000" dirty="0"/>
              <a:t>    """</a:t>
            </a:r>
            <a:endParaRPr sz="1000" dirty="0"/>
          </a:p>
          <a:p>
            <a:pPr marL="0" lvl="0" indent="0" algn="l" rtl="0">
              <a:spcBef>
                <a:spcPts val="0"/>
              </a:spcBef>
              <a:spcAft>
                <a:spcPts val="0"/>
              </a:spcAft>
              <a:buNone/>
            </a:pPr>
            <a:r>
              <a:rPr lang="en" sz="1000" dirty="0"/>
              <a:t>}</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workflow { </a:t>
            </a:r>
            <a:endParaRPr sz="1000" dirty="0"/>
          </a:p>
          <a:p>
            <a:pPr marL="0" lvl="0" indent="0" algn="l" rtl="0">
              <a:spcBef>
                <a:spcPts val="0"/>
              </a:spcBef>
              <a:spcAft>
                <a:spcPts val="0"/>
              </a:spcAft>
              <a:buNone/>
            </a:pPr>
            <a:r>
              <a:rPr lang="en" sz="1000" dirty="0" err="1"/>
              <a:t>out_ch</a:t>
            </a:r>
            <a:r>
              <a:rPr lang="en" sz="1000" dirty="0"/>
              <a:t> = SPLITLETTERS(</a:t>
            </a:r>
            <a:r>
              <a:rPr lang="en" sz="1000" dirty="0" err="1"/>
              <a:t>greeting_ch</a:t>
            </a:r>
            <a:r>
              <a:rPr lang="en" sz="1000" dirty="0"/>
              <a:t>)</a:t>
            </a:r>
            <a:endParaRPr sz="1000" dirty="0"/>
          </a:p>
          <a:p>
            <a:pPr marL="0" lvl="0" indent="0" algn="l" rtl="0">
              <a:spcBef>
                <a:spcPts val="0"/>
              </a:spcBef>
              <a:spcAft>
                <a:spcPts val="0"/>
              </a:spcAft>
              <a:buNone/>
            </a:pPr>
            <a:r>
              <a:rPr lang="en" sz="1000" dirty="0"/>
              <a:t>}</a:t>
            </a:r>
            <a:endParaRPr sz="1000" dirty="0"/>
          </a:p>
        </p:txBody>
      </p:sp>
      <p:sp>
        <p:nvSpPr>
          <p:cNvPr id="450" name="Google Shape;450;p31"/>
          <p:cNvSpPr txBox="1">
            <a:spLocks noGrp="1"/>
          </p:cNvSpPr>
          <p:nvPr>
            <p:ph type="body" idx="4294967295"/>
          </p:nvPr>
        </p:nvSpPr>
        <p:spPr>
          <a:xfrm>
            <a:off x="202625" y="1536550"/>
            <a:ext cx="4369500" cy="3474600"/>
          </a:xfrm>
          <a:prstGeom prst="rect">
            <a:avLst/>
          </a:prstGeom>
        </p:spPr>
        <p:txBody>
          <a:bodyPr spcFirstLastPara="1" wrap="square" lIns="91425" tIns="91425" rIns="91425" bIns="91425" anchor="t" anchorCtr="0">
            <a:normAutofit lnSpcReduction="10000"/>
          </a:bodyPr>
          <a:lstStyle/>
          <a:p>
            <a:pPr marL="457200" lvl="0" indent="-304800" algn="l" rtl="0">
              <a:lnSpc>
                <a:spcPct val="150000"/>
              </a:lnSpc>
              <a:spcBef>
                <a:spcPts val="0"/>
              </a:spcBef>
              <a:spcAft>
                <a:spcPts val="0"/>
              </a:spcAft>
              <a:buSzPts val="1200"/>
              <a:buFont typeface="Arial"/>
              <a:buChar char="●"/>
            </a:pPr>
            <a:r>
              <a:rPr lang="en" sz="1200" dirty="0">
                <a:latin typeface="Arial"/>
                <a:ea typeface="Arial"/>
                <a:cs typeface="Arial"/>
                <a:sym typeface="Arial"/>
              </a:rPr>
              <a:t>The </a:t>
            </a:r>
            <a:r>
              <a:rPr lang="en" sz="1200" dirty="0" err="1">
                <a:latin typeface="Arial"/>
                <a:ea typeface="Arial"/>
                <a:cs typeface="Arial"/>
                <a:sym typeface="Arial"/>
              </a:rPr>
              <a:t>publishDir</a:t>
            </a:r>
            <a:r>
              <a:rPr lang="en" sz="1200" dirty="0">
                <a:latin typeface="Arial"/>
                <a:ea typeface="Arial"/>
                <a:cs typeface="Arial"/>
                <a:sym typeface="Arial"/>
              </a:rPr>
              <a:t> outputs the results of the process to a separate folder given. The workflow outputs are usually stored in work directory.</a:t>
            </a:r>
            <a:endParaRPr sz="1200" dirty="0">
              <a:latin typeface="Arial"/>
              <a:ea typeface="Arial"/>
              <a:cs typeface="Arial"/>
              <a:sym typeface="Arial"/>
            </a:endParaRPr>
          </a:p>
          <a:p>
            <a:pPr marL="457200" lvl="0" indent="-304800" algn="l" rtl="0">
              <a:lnSpc>
                <a:spcPct val="150000"/>
              </a:lnSpc>
              <a:spcBef>
                <a:spcPts val="0"/>
              </a:spcBef>
              <a:spcAft>
                <a:spcPts val="0"/>
              </a:spcAft>
              <a:buSzPts val="1200"/>
              <a:buFont typeface="Arial"/>
              <a:buChar char="●"/>
            </a:pPr>
            <a:r>
              <a:rPr lang="en" sz="1200" dirty="0">
                <a:latin typeface="Arial"/>
                <a:ea typeface="Arial"/>
                <a:cs typeface="Arial"/>
                <a:sym typeface="Arial"/>
              </a:rPr>
              <a:t>The </a:t>
            </a:r>
            <a:r>
              <a:rPr lang="en" sz="1200" dirty="0" err="1">
                <a:latin typeface="Arial"/>
                <a:ea typeface="Arial"/>
                <a:cs typeface="Arial"/>
                <a:sym typeface="Arial"/>
              </a:rPr>
              <a:t>publishDir</a:t>
            </a:r>
            <a:r>
              <a:rPr lang="en" sz="1200" dirty="0">
                <a:latin typeface="Arial"/>
                <a:ea typeface="Arial"/>
                <a:cs typeface="Arial"/>
                <a:sym typeface="Arial"/>
              </a:rPr>
              <a:t> directive can be specified more than one time in to publish the output files to different target directories</a:t>
            </a:r>
            <a:endParaRPr sz="1200" dirty="0">
              <a:latin typeface="Arial"/>
              <a:ea typeface="Arial"/>
              <a:cs typeface="Arial"/>
              <a:sym typeface="Arial"/>
            </a:endParaRPr>
          </a:p>
          <a:p>
            <a:pPr marL="457200" lvl="0" indent="-304800" algn="l" rtl="0">
              <a:lnSpc>
                <a:spcPct val="150000"/>
              </a:lnSpc>
              <a:spcBef>
                <a:spcPts val="0"/>
              </a:spcBef>
              <a:spcAft>
                <a:spcPts val="0"/>
              </a:spcAft>
              <a:buSzPts val="1200"/>
              <a:buFont typeface="Arial"/>
              <a:buChar char="●"/>
            </a:pPr>
            <a:r>
              <a:rPr lang="en" sz="1200" dirty="0">
                <a:latin typeface="Arial"/>
                <a:ea typeface="Arial"/>
                <a:cs typeface="Arial"/>
                <a:sym typeface="Arial"/>
              </a:rPr>
              <a:t>In this example, these files </a:t>
            </a:r>
            <a:r>
              <a:rPr lang="en" sz="1200" dirty="0" err="1">
                <a:latin typeface="Arial"/>
                <a:ea typeface="Arial"/>
                <a:cs typeface="Arial"/>
                <a:sym typeface="Arial"/>
              </a:rPr>
              <a:t>chunk_aa</a:t>
            </a:r>
            <a:r>
              <a:rPr lang="en" sz="1200" dirty="0">
                <a:latin typeface="Arial"/>
                <a:ea typeface="Arial"/>
                <a:cs typeface="Arial"/>
                <a:sym typeface="Arial"/>
              </a:rPr>
              <a:t>, </a:t>
            </a:r>
            <a:r>
              <a:rPr lang="en" sz="1200" dirty="0" err="1">
                <a:latin typeface="Arial"/>
                <a:ea typeface="Arial"/>
                <a:cs typeface="Arial"/>
                <a:sym typeface="Arial"/>
              </a:rPr>
              <a:t>chunk_ab</a:t>
            </a:r>
            <a:r>
              <a:rPr lang="en" sz="1200" dirty="0">
                <a:latin typeface="Arial"/>
                <a:ea typeface="Arial"/>
                <a:cs typeface="Arial"/>
                <a:sym typeface="Arial"/>
              </a:rPr>
              <a:t>, </a:t>
            </a:r>
            <a:r>
              <a:rPr lang="en" sz="1200" dirty="0" err="1">
                <a:latin typeface="Arial"/>
                <a:ea typeface="Arial"/>
                <a:cs typeface="Arial"/>
                <a:sym typeface="Arial"/>
              </a:rPr>
              <a:t>chunk_ac</a:t>
            </a:r>
            <a:r>
              <a:rPr lang="en" sz="1200" dirty="0">
                <a:latin typeface="Arial"/>
                <a:ea typeface="Arial"/>
                <a:cs typeface="Arial"/>
                <a:sym typeface="Arial"/>
              </a:rPr>
              <a:t> are created inside results folder. The result folder is created in the same directory as the process is ran.</a:t>
            </a:r>
            <a:endParaRPr sz="1200" dirty="0">
              <a:latin typeface="Arial"/>
              <a:ea typeface="Arial"/>
              <a:cs typeface="Arial"/>
              <a:sym typeface="Arial"/>
            </a:endParaRPr>
          </a:p>
          <a:p>
            <a:pPr marL="457200" lvl="0" indent="-304800" algn="l" rtl="0">
              <a:lnSpc>
                <a:spcPct val="150000"/>
              </a:lnSpc>
              <a:spcBef>
                <a:spcPts val="0"/>
              </a:spcBef>
              <a:spcAft>
                <a:spcPts val="0"/>
              </a:spcAft>
              <a:buSzPts val="1200"/>
              <a:buFont typeface="Arial"/>
              <a:buChar char="●"/>
            </a:pPr>
            <a:r>
              <a:rPr lang="en" sz="1200" dirty="0">
                <a:latin typeface="Arial"/>
                <a:ea typeface="Arial"/>
                <a:cs typeface="Arial"/>
                <a:sym typeface="Arial"/>
              </a:rPr>
              <a:t>The results will get overwritten if the process produces files with the same name.</a:t>
            </a:r>
            <a:endParaRPr sz="1200" dirty="0">
              <a:latin typeface="Arial"/>
              <a:ea typeface="Arial"/>
              <a:cs typeface="Arial"/>
              <a:sym typeface="Arial"/>
            </a:endParaRPr>
          </a:p>
        </p:txBody>
      </p:sp>
      <p:sp>
        <p:nvSpPr>
          <p:cNvPr id="451" name="Google Shape;451;p31"/>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Directives - publishDir</a:t>
            </a:r>
            <a:endParaRPr/>
          </a:p>
        </p:txBody>
      </p:sp>
      <p:pic>
        <p:nvPicPr>
          <p:cNvPr id="452" name="Google Shape;452;p31"/>
          <p:cNvPicPr preferRelativeResize="0"/>
          <p:nvPr/>
        </p:nvPicPr>
        <p:blipFill>
          <a:blip r:embed="rId3">
            <a:alphaModFix/>
          </a:blip>
          <a:stretch>
            <a:fillRect/>
          </a:stretch>
        </p:blipFill>
        <p:spPr>
          <a:xfrm>
            <a:off x="813689" y="598575"/>
            <a:ext cx="932451" cy="7806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32"/>
          <p:cNvSpPr txBox="1"/>
          <p:nvPr/>
        </p:nvSpPr>
        <p:spPr>
          <a:xfrm>
            <a:off x="5481200" y="1147950"/>
            <a:ext cx="3000000" cy="40329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t>#!/</a:t>
            </a:r>
            <a:r>
              <a:rPr lang="en" sz="1000" dirty="0" err="1"/>
              <a:t>usr</a:t>
            </a:r>
            <a:r>
              <a:rPr lang="en" sz="1000" dirty="0"/>
              <a:t>/bin/env </a:t>
            </a:r>
            <a:r>
              <a:rPr lang="en" sz="1000" dirty="0" err="1"/>
              <a:t>nextflow</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err="1"/>
              <a:t>params.greeting</a:t>
            </a:r>
            <a:r>
              <a:rPr lang="en" sz="1000" dirty="0"/>
              <a:t> = ['Hello </a:t>
            </a:r>
            <a:r>
              <a:rPr lang="en" sz="1000" dirty="0" err="1"/>
              <a:t>world!','world','hello</a:t>
            </a:r>
            <a:r>
              <a:rPr lang="en" sz="1000" dirty="0"/>
              <a:t>']</a:t>
            </a:r>
            <a:endParaRPr sz="1000" dirty="0"/>
          </a:p>
          <a:p>
            <a:pPr marL="0" lvl="0" indent="0" algn="l" rtl="0">
              <a:spcBef>
                <a:spcPts val="0"/>
              </a:spcBef>
              <a:spcAft>
                <a:spcPts val="0"/>
              </a:spcAft>
              <a:buNone/>
            </a:pPr>
            <a:r>
              <a:rPr lang="en" sz="1000" dirty="0" err="1"/>
              <a:t>greeting_ch</a:t>
            </a:r>
            <a:r>
              <a:rPr lang="en" sz="1000" dirty="0"/>
              <a:t> = </a:t>
            </a:r>
            <a:r>
              <a:rPr lang="en" sz="1000" dirty="0" err="1"/>
              <a:t>Channel.fromList</a:t>
            </a:r>
            <a:r>
              <a:rPr lang="en" sz="1000" dirty="0"/>
              <a:t>(</a:t>
            </a:r>
            <a:r>
              <a:rPr lang="en" sz="1000" dirty="0" err="1"/>
              <a:t>params.greeting</a:t>
            </a:r>
            <a:r>
              <a:rPr lang="en" sz="1000" dirty="0"/>
              <a:t>)</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process SPLITLETTERS {</a:t>
            </a:r>
            <a:endParaRPr sz="1000" dirty="0"/>
          </a:p>
          <a:p>
            <a:pPr marL="0" lvl="0" indent="0" algn="l" rtl="0">
              <a:spcBef>
                <a:spcPts val="0"/>
              </a:spcBef>
              <a:spcAft>
                <a:spcPts val="0"/>
              </a:spcAft>
              <a:buNone/>
            </a:pPr>
            <a:r>
              <a:rPr lang="en" sz="1000" dirty="0"/>
              <a:t>    echo true</a:t>
            </a:r>
            <a:endParaRPr sz="1000" dirty="0"/>
          </a:p>
          <a:p>
            <a:pPr marL="0" lvl="0" indent="0" algn="l" rtl="0">
              <a:spcBef>
                <a:spcPts val="0"/>
              </a:spcBef>
              <a:spcAft>
                <a:spcPts val="0"/>
              </a:spcAft>
              <a:buNone/>
            </a:pPr>
            <a:r>
              <a:rPr lang="en" sz="1000" dirty="0"/>
              <a:t>    </a:t>
            </a:r>
            <a:r>
              <a:rPr lang="en" sz="1000" dirty="0" err="1"/>
              <a:t>cpus</a:t>
            </a:r>
            <a:r>
              <a:rPr lang="en" sz="1000" dirty="0"/>
              <a:t> 4</a:t>
            </a:r>
            <a:endParaRPr sz="1000" dirty="0"/>
          </a:p>
          <a:p>
            <a:pPr marL="0" lvl="0" indent="0" algn="l" rtl="0">
              <a:spcBef>
                <a:spcPts val="0"/>
              </a:spcBef>
              <a:spcAft>
                <a:spcPts val="0"/>
              </a:spcAft>
              <a:buNone/>
            </a:pPr>
            <a:r>
              <a:rPr lang="en" sz="1000" dirty="0"/>
              <a:t>    memory '8 GB'</a:t>
            </a:r>
            <a:endParaRPr sz="1000" dirty="0"/>
          </a:p>
          <a:p>
            <a:pPr marL="0" lvl="0" indent="0" algn="l" rtl="0">
              <a:spcBef>
                <a:spcPts val="0"/>
              </a:spcBef>
              <a:spcAft>
                <a:spcPts val="0"/>
              </a:spcAft>
              <a:buNone/>
            </a:pPr>
            <a:r>
              <a:rPr lang="en" sz="1000" dirty="0"/>
              <a:t>    disk '15 GB'</a:t>
            </a:r>
            <a:endParaRPr sz="1000" dirty="0"/>
          </a:p>
          <a:p>
            <a:pPr marL="0" lvl="0" indent="0" algn="l" rtl="0">
              <a:spcBef>
                <a:spcPts val="0"/>
              </a:spcBef>
              <a:spcAft>
                <a:spcPts val="0"/>
              </a:spcAft>
              <a:buNone/>
            </a:pPr>
            <a:r>
              <a:rPr lang="en" sz="1000" dirty="0"/>
              <a:t>  </a:t>
            </a:r>
            <a:r>
              <a:rPr lang="en" sz="1000" dirty="0">
                <a:solidFill>
                  <a:srgbClr val="0000FF"/>
                </a:solidFill>
              </a:rPr>
              <a:t>  </a:t>
            </a:r>
            <a:r>
              <a:rPr lang="en" sz="1000" dirty="0" err="1">
                <a:solidFill>
                  <a:srgbClr val="0000FF"/>
                </a:solidFill>
              </a:rPr>
              <a:t>publishDir</a:t>
            </a:r>
            <a:r>
              <a:rPr lang="en" sz="1000" dirty="0">
                <a:solidFill>
                  <a:srgbClr val="0000FF"/>
                </a:solidFill>
              </a:rPr>
              <a:t> "results/$x"</a:t>
            </a:r>
            <a:endParaRPr sz="1000" dirty="0">
              <a:solidFill>
                <a:srgbClr val="0000FF"/>
              </a:solidFill>
            </a:endParaRPr>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    input:</a:t>
            </a:r>
            <a:endParaRPr sz="1000" dirty="0"/>
          </a:p>
          <a:p>
            <a:pPr marL="0" lvl="0" indent="0" algn="l" rtl="0">
              <a:spcBef>
                <a:spcPts val="0"/>
              </a:spcBef>
              <a:spcAft>
                <a:spcPts val="0"/>
              </a:spcAft>
              <a:buNone/>
            </a:pPr>
            <a:r>
              <a:rPr lang="en" sz="1000" dirty="0"/>
              <a:t>    </a:t>
            </a:r>
            <a:r>
              <a:rPr lang="en" sz="1000" dirty="0" err="1"/>
              <a:t>val</a:t>
            </a:r>
            <a:r>
              <a:rPr lang="en" sz="1000" dirty="0"/>
              <a:t> x </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    output:</a:t>
            </a:r>
            <a:endParaRPr sz="1000" dirty="0"/>
          </a:p>
          <a:p>
            <a:pPr marL="0" lvl="0" indent="0" algn="l" rtl="0">
              <a:spcBef>
                <a:spcPts val="0"/>
              </a:spcBef>
              <a:spcAft>
                <a:spcPts val="0"/>
              </a:spcAft>
              <a:buNone/>
            </a:pPr>
            <a:r>
              <a:rPr lang="en" sz="1000" dirty="0"/>
              <a:t>    path 'chunk_*' </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    """</a:t>
            </a:r>
            <a:endParaRPr sz="1000" dirty="0"/>
          </a:p>
          <a:p>
            <a:pPr marL="0" lvl="0" indent="0" algn="l" rtl="0">
              <a:spcBef>
                <a:spcPts val="0"/>
              </a:spcBef>
              <a:spcAft>
                <a:spcPts val="0"/>
              </a:spcAft>
              <a:buNone/>
            </a:pPr>
            <a:r>
              <a:rPr lang="en" sz="1000" dirty="0"/>
              <a:t>    echo '$x' | split -b 6 - chunk_</a:t>
            </a:r>
            <a:endParaRPr sz="1000" dirty="0"/>
          </a:p>
          <a:p>
            <a:pPr marL="0" lvl="0" indent="0" algn="l" rtl="0">
              <a:spcBef>
                <a:spcPts val="0"/>
              </a:spcBef>
              <a:spcAft>
                <a:spcPts val="0"/>
              </a:spcAft>
              <a:buNone/>
            </a:pPr>
            <a:r>
              <a:rPr lang="en" sz="1000" dirty="0"/>
              <a:t>    """</a:t>
            </a:r>
            <a:endParaRPr sz="1000" dirty="0"/>
          </a:p>
          <a:p>
            <a:pPr marL="0" lvl="0" indent="0" algn="l" rtl="0">
              <a:spcBef>
                <a:spcPts val="0"/>
              </a:spcBef>
              <a:spcAft>
                <a:spcPts val="0"/>
              </a:spcAft>
              <a:buNone/>
            </a:pPr>
            <a:r>
              <a:rPr lang="en" sz="1000" dirty="0"/>
              <a:t>}</a:t>
            </a:r>
            <a:endParaRPr sz="1000" dirty="0"/>
          </a:p>
          <a:p>
            <a:pPr marL="0" lvl="0" indent="0" algn="l" rtl="0">
              <a:spcBef>
                <a:spcPts val="0"/>
              </a:spcBef>
              <a:spcAft>
                <a:spcPts val="0"/>
              </a:spcAft>
              <a:buNone/>
            </a:pPr>
            <a:r>
              <a:rPr lang="en" sz="1000" dirty="0"/>
              <a:t>workflow { </a:t>
            </a:r>
            <a:endParaRPr sz="1000" dirty="0"/>
          </a:p>
          <a:p>
            <a:pPr marL="0" lvl="0" indent="0" algn="l" rtl="0">
              <a:spcBef>
                <a:spcPts val="0"/>
              </a:spcBef>
              <a:spcAft>
                <a:spcPts val="0"/>
              </a:spcAft>
              <a:buNone/>
            </a:pPr>
            <a:r>
              <a:rPr lang="en" sz="1000" dirty="0" err="1"/>
              <a:t>out_ch</a:t>
            </a:r>
            <a:r>
              <a:rPr lang="en" sz="1000" dirty="0"/>
              <a:t> = SPLITLETTERS(</a:t>
            </a:r>
            <a:r>
              <a:rPr lang="en" sz="1000" dirty="0" err="1"/>
              <a:t>greeting_ch</a:t>
            </a:r>
            <a:r>
              <a:rPr lang="en" sz="1000" dirty="0"/>
              <a:t>)</a:t>
            </a:r>
            <a:endParaRPr sz="1000" dirty="0"/>
          </a:p>
          <a:p>
            <a:pPr marL="0" lvl="0" indent="0" algn="l" rtl="0">
              <a:spcBef>
                <a:spcPts val="0"/>
              </a:spcBef>
              <a:spcAft>
                <a:spcPts val="0"/>
              </a:spcAft>
              <a:buNone/>
            </a:pPr>
            <a:r>
              <a:rPr lang="en" sz="1000" dirty="0"/>
              <a:t>}</a:t>
            </a:r>
            <a:endParaRPr sz="1000" dirty="0"/>
          </a:p>
        </p:txBody>
      </p:sp>
      <p:sp>
        <p:nvSpPr>
          <p:cNvPr id="458" name="Google Shape;458;p32"/>
          <p:cNvSpPr txBox="1">
            <a:spLocks noGrp="1"/>
          </p:cNvSpPr>
          <p:nvPr>
            <p:ph type="body" idx="4294967295"/>
          </p:nvPr>
        </p:nvSpPr>
        <p:spPr>
          <a:xfrm>
            <a:off x="202625" y="2069950"/>
            <a:ext cx="4369500" cy="1980900"/>
          </a:xfrm>
          <a:prstGeom prst="rect">
            <a:avLst/>
          </a:prstGeom>
        </p:spPr>
        <p:txBody>
          <a:bodyPr spcFirstLastPara="1" wrap="square" lIns="91425" tIns="91425" rIns="91425" bIns="91425" anchor="t" anchorCtr="0">
            <a:normAutofit/>
          </a:bodyPr>
          <a:lstStyle/>
          <a:p>
            <a:pPr marL="457200" lvl="0" indent="-311150" algn="l" rtl="0">
              <a:lnSpc>
                <a:spcPct val="200000"/>
              </a:lnSpc>
              <a:spcBef>
                <a:spcPts val="0"/>
              </a:spcBef>
              <a:spcAft>
                <a:spcPts val="0"/>
              </a:spcAft>
              <a:buSzPts val="1300"/>
              <a:buChar char="●"/>
            </a:pPr>
            <a:r>
              <a:rPr lang="en" sz="1100" dirty="0"/>
              <a:t>To avoid overwriting, process specific and output specific files or folders have to be created.</a:t>
            </a:r>
            <a:endParaRPr sz="1100" dirty="0"/>
          </a:p>
          <a:p>
            <a:pPr marL="457200" lvl="0" indent="-298450" algn="l" rtl="0">
              <a:lnSpc>
                <a:spcPct val="200000"/>
              </a:lnSpc>
              <a:spcBef>
                <a:spcPts val="0"/>
              </a:spcBef>
              <a:spcAft>
                <a:spcPts val="0"/>
              </a:spcAft>
              <a:buSzPts val="1100"/>
              <a:buChar char="●"/>
            </a:pPr>
            <a:r>
              <a:rPr lang="en" sz="1100" dirty="0"/>
              <a:t>In this process we create dynamic folders using “</a:t>
            </a:r>
            <a:r>
              <a:rPr lang="en" sz="1100" dirty="0">
                <a:solidFill>
                  <a:srgbClr val="0000FF"/>
                </a:solidFill>
              </a:rPr>
              <a:t>/</a:t>
            </a:r>
            <a:r>
              <a:rPr lang="en" sz="1000" dirty="0">
                <a:solidFill>
                  <a:srgbClr val="0000FF"/>
                </a:solidFill>
                <a:latin typeface="Arial"/>
                <a:ea typeface="Arial"/>
                <a:cs typeface="Arial"/>
                <a:sym typeface="Arial"/>
              </a:rPr>
              <a:t>$x</a:t>
            </a:r>
            <a:r>
              <a:rPr lang="en" sz="1100" dirty="0"/>
              <a:t>”. This creates three folders inside result directory named “hello world!”, “world”, “hello”</a:t>
            </a:r>
            <a:endParaRPr sz="1100" dirty="0"/>
          </a:p>
        </p:txBody>
      </p:sp>
      <p:sp>
        <p:nvSpPr>
          <p:cNvPr id="459" name="Google Shape;459;p32"/>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Directives - </a:t>
            </a:r>
            <a:r>
              <a:rPr lang="en" dirty="0" err="1"/>
              <a:t>publishDir</a:t>
            </a:r>
            <a:endParaRPr dirty="0"/>
          </a:p>
        </p:txBody>
      </p:sp>
      <p:pic>
        <p:nvPicPr>
          <p:cNvPr id="460" name="Google Shape;460;p32"/>
          <p:cNvPicPr preferRelativeResize="0"/>
          <p:nvPr/>
        </p:nvPicPr>
        <p:blipFill>
          <a:blip r:embed="rId3">
            <a:alphaModFix/>
          </a:blip>
          <a:stretch>
            <a:fillRect/>
          </a:stretch>
        </p:blipFill>
        <p:spPr>
          <a:xfrm>
            <a:off x="813689" y="598575"/>
            <a:ext cx="932451" cy="7806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33"/>
          <p:cNvSpPr txBox="1"/>
          <p:nvPr/>
        </p:nvSpPr>
        <p:spPr>
          <a:xfrm>
            <a:off x="5481200" y="1147950"/>
            <a:ext cx="3000000" cy="40329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#!/usr/bin/env nextflow</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params.greeting = ['Hello world!','world','hello']</a:t>
            </a:r>
            <a:endParaRPr sz="1000"/>
          </a:p>
          <a:p>
            <a:pPr marL="0" lvl="0" indent="0" algn="l" rtl="0">
              <a:spcBef>
                <a:spcPts val="0"/>
              </a:spcBef>
              <a:spcAft>
                <a:spcPts val="0"/>
              </a:spcAft>
              <a:buNone/>
            </a:pPr>
            <a:r>
              <a:rPr lang="en" sz="1000"/>
              <a:t>greeting_ch = Channel.fromList(params.greeting)</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process SPLITLETTERS {</a:t>
            </a:r>
            <a:endParaRPr sz="1000"/>
          </a:p>
          <a:p>
            <a:pPr marL="0" lvl="0" indent="0" algn="l" rtl="0">
              <a:spcBef>
                <a:spcPts val="0"/>
              </a:spcBef>
              <a:spcAft>
                <a:spcPts val="0"/>
              </a:spcAft>
              <a:buNone/>
            </a:pPr>
            <a:r>
              <a:rPr lang="en" sz="1000"/>
              <a:t>    echo true</a:t>
            </a:r>
            <a:endParaRPr sz="1000"/>
          </a:p>
          <a:p>
            <a:pPr marL="0" lvl="0" indent="0" algn="l" rtl="0">
              <a:spcBef>
                <a:spcPts val="0"/>
              </a:spcBef>
              <a:spcAft>
                <a:spcPts val="0"/>
              </a:spcAft>
              <a:buNone/>
            </a:pPr>
            <a:r>
              <a:rPr lang="en" sz="1000"/>
              <a:t>    cpus 4</a:t>
            </a:r>
            <a:endParaRPr sz="1000"/>
          </a:p>
          <a:p>
            <a:pPr marL="0" lvl="0" indent="0" algn="l" rtl="0">
              <a:spcBef>
                <a:spcPts val="0"/>
              </a:spcBef>
              <a:spcAft>
                <a:spcPts val="0"/>
              </a:spcAft>
              <a:buNone/>
            </a:pPr>
            <a:r>
              <a:rPr lang="en" sz="1000"/>
              <a:t>    memory '8 GB'</a:t>
            </a:r>
            <a:endParaRPr sz="1000"/>
          </a:p>
          <a:p>
            <a:pPr marL="0" lvl="0" indent="0" algn="l" rtl="0">
              <a:spcBef>
                <a:spcPts val="0"/>
              </a:spcBef>
              <a:spcAft>
                <a:spcPts val="0"/>
              </a:spcAft>
              <a:buNone/>
            </a:pPr>
            <a:r>
              <a:rPr lang="en" sz="1000"/>
              <a:t>    disk '15 GB'</a:t>
            </a:r>
            <a:endParaRPr sz="1000"/>
          </a:p>
          <a:p>
            <a:pPr marL="0" lvl="0" indent="0" algn="l" rtl="0">
              <a:spcBef>
                <a:spcPts val="0"/>
              </a:spcBef>
              <a:spcAft>
                <a:spcPts val="0"/>
              </a:spcAft>
              <a:buNone/>
            </a:pPr>
            <a:r>
              <a:rPr lang="en" sz="1000"/>
              <a:t>  </a:t>
            </a:r>
            <a:r>
              <a:rPr lang="en" sz="1000">
                <a:solidFill>
                  <a:srgbClr val="0000FF"/>
                </a:solidFill>
              </a:rPr>
              <a:t>  publishDir "results/$x" , mode: 'copy'</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t>    input:</a:t>
            </a:r>
            <a:endParaRPr sz="1000"/>
          </a:p>
          <a:p>
            <a:pPr marL="0" lvl="0" indent="0" algn="l" rtl="0">
              <a:spcBef>
                <a:spcPts val="0"/>
              </a:spcBef>
              <a:spcAft>
                <a:spcPts val="0"/>
              </a:spcAft>
              <a:buNone/>
            </a:pPr>
            <a:r>
              <a:rPr lang="en" sz="1000"/>
              <a:t>    val x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output:</a:t>
            </a:r>
            <a:endParaRPr sz="1000"/>
          </a:p>
          <a:p>
            <a:pPr marL="0" lvl="0" indent="0" algn="l" rtl="0">
              <a:spcBef>
                <a:spcPts val="0"/>
              </a:spcBef>
              <a:spcAft>
                <a:spcPts val="0"/>
              </a:spcAft>
              <a:buNone/>
            </a:pPr>
            <a:r>
              <a:rPr lang="en" sz="1000"/>
              <a:t>    path 'chunk_*'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    echo '$x' | split -b 6 - chunk_</a:t>
            </a:r>
            <a:endParaRPr sz="1000"/>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a:t>
            </a:r>
            <a:endParaRPr sz="1000"/>
          </a:p>
          <a:p>
            <a:pPr marL="0" lvl="0" indent="0" algn="l" rtl="0">
              <a:spcBef>
                <a:spcPts val="0"/>
              </a:spcBef>
              <a:spcAft>
                <a:spcPts val="0"/>
              </a:spcAft>
              <a:buNone/>
            </a:pPr>
            <a:r>
              <a:rPr lang="en" sz="1000"/>
              <a:t>workflow { </a:t>
            </a:r>
            <a:endParaRPr sz="1000"/>
          </a:p>
          <a:p>
            <a:pPr marL="0" lvl="0" indent="0" algn="l" rtl="0">
              <a:spcBef>
                <a:spcPts val="0"/>
              </a:spcBef>
              <a:spcAft>
                <a:spcPts val="0"/>
              </a:spcAft>
              <a:buNone/>
            </a:pPr>
            <a:r>
              <a:rPr lang="en" sz="1000"/>
              <a:t>out_ch = SPLITLETTERS(greeting_ch)</a:t>
            </a:r>
            <a:endParaRPr sz="1000"/>
          </a:p>
          <a:p>
            <a:pPr marL="0" lvl="0" indent="0" algn="l" rtl="0">
              <a:spcBef>
                <a:spcPts val="0"/>
              </a:spcBef>
              <a:spcAft>
                <a:spcPts val="0"/>
              </a:spcAft>
              <a:buNone/>
            </a:pPr>
            <a:r>
              <a:rPr lang="en" sz="1000"/>
              <a:t>}</a:t>
            </a:r>
            <a:endParaRPr sz="1000"/>
          </a:p>
        </p:txBody>
      </p:sp>
      <p:sp>
        <p:nvSpPr>
          <p:cNvPr id="466" name="Google Shape;466;p33"/>
          <p:cNvSpPr txBox="1">
            <a:spLocks noGrp="1"/>
          </p:cNvSpPr>
          <p:nvPr>
            <p:ph type="body" idx="4294967295"/>
          </p:nvPr>
        </p:nvSpPr>
        <p:spPr>
          <a:xfrm>
            <a:off x="248100" y="1935600"/>
            <a:ext cx="4369500" cy="2783100"/>
          </a:xfrm>
          <a:prstGeom prst="rect">
            <a:avLst/>
          </a:prstGeom>
        </p:spPr>
        <p:txBody>
          <a:bodyPr spcFirstLastPara="1" wrap="square" lIns="91425" tIns="91425" rIns="91425" bIns="91425" anchor="t" anchorCtr="0">
            <a:noAutofit/>
          </a:bodyPr>
          <a:lstStyle/>
          <a:p>
            <a:pPr lvl="0" indent="-304800">
              <a:lnSpc>
                <a:spcPct val="200000"/>
              </a:lnSpc>
              <a:buClr>
                <a:srgbClr val="000000"/>
              </a:buClr>
              <a:buSzPts val="1200"/>
            </a:pPr>
            <a:r>
              <a:rPr lang="en-US" sz="1100" dirty="0">
                <a:solidFill>
                  <a:srgbClr val="000000"/>
                </a:solidFill>
                <a:latin typeface="Arial"/>
                <a:cs typeface="Arial"/>
              </a:rPr>
              <a:t>By default, </a:t>
            </a:r>
            <a:r>
              <a:rPr lang="en-US" sz="1100" dirty="0" err="1">
                <a:solidFill>
                  <a:srgbClr val="000000"/>
                </a:solidFill>
                <a:latin typeface="Arial"/>
                <a:cs typeface="Arial"/>
              </a:rPr>
              <a:t>publishDir</a:t>
            </a:r>
            <a:r>
              <a:rPr lang="en-US" sz="1100" dirty="0">
                <a:solidFill>
                  <a:srgbClr val="000000"/>
                </a:solidFill>
                <a:latin typeface="Arial"/>
                <a:cs typeface="Arial"/>
              </a:rPr>
              <a:t> creates symbolic links rather than copying files.</a:t>
            </a:r>
          </a:p>
          <a:p>
            <a:pPr lvl="0" indent="-304800">
              <a:lnSpc>
                <a:spcPct val="200000"/>
              </a:lnSpc>
              <a:buClr>
                <a:srgbClr val="000000"/>
              </a:buClr>
              <a:buSzPts val="1200"/>
            </a:pPr>
            <a:r>
              <a:rPr lang="en" sz="1100" dirty="0">
                <a:solidFill>
                  <a:srgbClr val="000000"/>
                </a:solidFill>
                <a:latin typeface="Arial"/>
                <a:ea typeface="Arial"/>
                <a:cs typeface="Arial"/>
                <a:sym typeface="Arial"/>
              </a:rPr>
              <a:t>The files that are linked to are present in the work directory.</a:t>
            </a:r>
            <a:endParaRPr sz="1100" dirty="0">
              <a:solidFill>
                <a:srgbClr val="000000"/>
              </a:solidFill>
              <a:latin typeface="Arial"/>
              <a:ea typeface="Arial"/>
              <a:cs typeface="Arial"/>
              <a:sym typeface="Arial"/>
            </a:endParaRPr>
          </a:p>
          <a:p>
            <a:pPr lvl="0" indent="-298450">
              <a:lnSpc>
                <a:spcPct val="200000"/>
              </a:lnSpc>
              <a:buClr>
                <a:srgbClr val="000000"/>
              </a:buClr>
              <a:buSzPts val="1100"/>
              <a:buFont typeface="Arial"/>
              <a:buChar char="●"/>
            </a:pPr>
            <a:r>
              <a:rPr lang="en-US" sz="1100" dirty="0">
                <a:solidFill>
                  <a:srgbClr val="000000"/>
                </a:solidFill>
                <a:latin typeface="Arial"/>
                <a:cs typeface="Arial"/>
              </a:rPr>
              <a:t>If the work directory is deleted, symbolic links in the </a:t>
            </a:r>
            <a:r>
              <a:rPr lang="en-US" sz="1100" dirty="0" err="1">
                <a:solidFill>
                  <a:srgbClr val="000000"/>
                </a:solidFill>
                <a:latin typeface="Arial"/>
                <a:cs typeface="Arial"/>
              </a:rPr>
              <a:t>publishDir</a:t>
            </a:r>
            <a:r>
              <a:rPr lang="en-US" sz="1100" dirty="0">
                <a:solidFill>
                  <a:srgbClr val="000000"/>
                </a:solidFill>
                <a:latin typeface="Arial"/>
                <a:cs typeface="Arial"/>
              </a:rPr>
              <a:t> location will break.</a:t>
            </a:r>
          </a:p>
          <a:p>
            <a:pPr lvl="0" indent="-298450">
              <a:lnSpc>
                <a:spcPct val="200000"/>
              </a:lnSpc>
              <a:buClr>
                <a:srgbClr val="000000"/>
              </a:buClr>
              <a:buSzPts val="1100"/>
              <a:buFont typeface="Arial"/>
              <a:buChar char="●"/>
            </a:pPr>
            <a:r>
              <a:rPr lang="en" sz="1100" dirty="0">
                <a:solidFill>
                  <a:srgbClr val="000000"/>
                </a:solidFill>
                <a:latin typeface="Arial"/>
                <a:ea typeface="Arial"/>
                <a:cs typeface="Arial"/>
                <a:sym typeface="Arial"/>
              </a:rPr>
              <a:t>Hence to make a copy of the file,</a:t>
            </a:r>
            <a:endParaRPr sz="1100" dirty="0">
              <a:solidFill>
                <a:srgbClr val="000000"/>
              </a:solidFill>
              <a:latin typeface="Arial"/>
              <a:ea typeface="Arial"/>
              <a:cs typeface="Arial"/>
              <a:sym typeface="Arial"/>
            </a:endParaRPr>
          </a:p>
          <a:p>
            <a:pPr marL="914400" lvl="1" indent="-298450" algn="l" rtl="0">
              <a:lnSpc>
                <a:spcPct val="200000"/>
              </a:lnSpc>
              <a:spcBef>
                <a:spcPts val="0"/>
              </a:spcBef>
              <a:spcAft>
                <a:spcPts val="0"/>
              </a:spcAft>
              <a:buClr>
                <a:srgbClr val="000000"/>
              </a:buClr>
              <a:buSzPts val="1100"/>
              <a:buFont typeface="Arial"/>
              <a:buChar char="○"/>
            </a:pPr>
            <a:r>
              <a:rPr lang="en" dirty="0">
                <a:solidFill>
                  <a:srgbClr val="000000"/>
                </a:solidFill>
                <a:latin typeface="Arial"/>
                <a:ea typeface="Arial"/>
                <a:cs typeface="Arial"/>
                <a:sym typeface="Arial"/>
              </a:rPr>
              <a:t>mode: 'copy'</a:t>
            </a:r>
            <a:endParaRPr dirty="0">
              <a:solidFill>
                <a:srgbClr val="000000"/>
              </a:solidFill>
              <a:latin typeface="Arial"/>
              <a:ea typeface="Arial"/>
              <a:cs typeface="Arial"/>
              <a:sym typeface="Arial"/>
            </a:endParaRPr>
          </a:p>
        </p:txBody>
      </p:sp>
      <p:sp>
        <p:nvSpPr>
          <p:cNvPr id="467" name="Google Shape;467;p33"/>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Directives - publishDir</a:t>
            </a:r>
            <a:endParaRPr/>
          </a:p>
        </p:txBody>
      </p:sp>
      <p:pic>
        <p:nvPicPr>
          <p:cNvPr id="468" name="Google Shape;468;p33"/>
          <p:cNvPicPr preferRelativeResize="0"/>
          <p:nvPr/>
        </p:nvPicPr>
        <p:blipFill>
          <a:blip r:embed="rId3">
            <a:alphaModFix/>
          </a:blip>
          <a:stretch>
            <a:fillRect/>
          </a:stretch>
        </p:blipFill>
        <p:spPr>
          <a:xfrm>
            <a:off x="813689" y="598575"/>
            <a:ext cx="932451" cy="7806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34"/>
          <p:cNvSpPr txBox="1">
            <a:spLocks noGrp="1"/>
          </p:cNvSpPr>
          <p:nvPr>
            <p:ph type="body" idx="4294967295"/>
          </p:nvPr>
        </p:nvSpPr>
        <p:spPr>
          <a:xfrm>
            <a:off x="202625" y="1460350"/>
            <a:ext cx="4592700" cy="3474600"/>
          </a:xfrm>
          <a:prstGeom prst="rect">
            <a:avLst/>
          </a:prstGeom>
        </p:spPr>
        <p:txBody>
          <a:bodyPr spcFirstLastPara="1" wrap="square" lIns="91425" tIns="91425" rIns="91425" bIns="91425" anchor="t" anchorCtr="0">
            <a:noAutofit/>
          </a:bodyPr>
          <a:lstStyle/>
          <a:p>
            <a:pPr marL="457200" lvl="0" indent="-299085" algn="l" rtl="0">
              <a:lnSpc>
                <a:spcPct val="150000"/>
              </a:lnSpc>
              <a:spcBef>
                <a:spcPts val="0"/>
              </a:spcBef>
              <a:spcAft>
                <a:spcPts val="0"/>
              </a:spcAft>
              <a:buSzPts val="1110"/>
              <a:buChar char="●"/>
            </a:pPr>
            <a:r>
              <a:rPr lang="en" sz="1110" dirty="0"/>
              <a:t>The </a:t>
            </a:r>
            <a:r>
              <a:rPr lang="en" sz="1110" b="1" dirty="0" err="1"/>
              <a:t>conda</a:t>
            </a:r>
            <a:r>
              <a:rPr lang="en" sz="1110" dirty="0"/>
              <a:t> directive tells the process to use dependencies using </a:t>
            </a:r>
            <a:r>
              <a:rPr lang="en" sz="1110" dirty="0" err="1"/>
              <a:t>conda</a:t>
            </a:r>
            <a:r>
              <a:rPr lang="en" sz="1110" dirty="0"/>
              <a:t> package manager</a:t>
            </a:r>
            <a:endParaRPr sz="1110" dirty="0"/>
          </a:p>
          <a:p>
            <a:pPr marL="457200" lvl="0" indent="-299085" algn="l" rtl="0">
              <a:lnSpc>
                <a:spcPct val="150000"/>
              </a:lnSpc>
              <a:spcBef>
                <a:spcPts val="0"/>
              </a:spcBef>
              <a:spcAft>
                <a:spcPts val="0"/>
              </a:spcAft>
              <a:buSzPts val="1110"/>
              <a:buChar char="●"/>
            </a:pPr>
            <a:r>
              <a:rPr lang="en" sz="1110" dirty="0" err="1"/>
              <a:t>Nextflow</a:t>
            </a:r>
            <a:r>
              <a:rPr lang="en" sz="1110" dirty="0"/>
              <a:t> will automatically set the </a:t>
            </a:r>
            <a:r>
              <a:rPr lang="en" sz="1110" dirty="0" err="1"/>
              <a:t>conda</a:t>
            </a:r>
            <a:r>
              <a:rPr lang="en" sz="1110" dirty="0"/>
              <a:t> environment for the process to run</a:t>
            </a:r>
            <a:endParaRPr sz="1110" dirty="0"/>
          </a:p>
          <a:p>
            <a:pPr marL="457200" lvl="0" indent="-299085" algn="l" rtl="0">
              <a:lnSpc>
                <a:spcPct val="150000"/>
              </a:lnSpc>
              <a:spcBef>
                <a:spcPts val="0"/>
              </a:spcBef>
              <a:spcAft>
                <a:spcPts val="0"/>
              </a:spcAft>
              <a:buSzPts val="1110"/>
              <a:buChar char="●"/>
            </a:pPr>
            <a:r>
              <a:rPr lang="en" sz="1110" dirty="0"/>
              <a:t>Specific package can be downloaded and used by specifying channel of the package </a:t>
            </a:r>
            <a:r>
              <a:rPr lang="en" sz="1110" dirty="0" err="1"/>
              <a:t>eg</a:t>
            </a:r>
            <a:r>
              <a:rPr lang="en" sz="1110" dirty="0"/>
              <a:t>: “</a:t>
            </a:r>
            <a:r>
              <a:rPr lang="en" sz="1110" dirty="0" err="1">
                <a:solidFill>
                  <a:srgbClr val="0000FF"/>
                </a:solidFill>
              </a:rPr>
              <a:t>bioconda</a:t>
            </a:r>
            <a:r>
              <a:rPr lang="en" sz="1110" dirty="0">
                <a:solidFill>
                  <a:srgbClr val="0000FF"/>
                </a:solidFill>
              </a:rPr>
              <a:t>::bwa=0.7.15</a:t>
            </a:r>
            <a:r>
              <a:rPr lang="en" sz="1110" dirty="0"/>
              <a:t>” </a:t>
            </a:r>
            <a:endParaRPr sz="1110" dirty="0"/>
          </a:p>
          <a:p>
            <a:pPr marL="457200" lvl="0" indent="-299085" algn="l" rtl="0">
              <a:lnSpc>
                <a:spcPct val="150000"/>
              </a:lnSpc>
              <a:spcBef>
                <a:spcPts val="0"/>
              </a:spcBef>
              <a:spcAft>
                <a:spcPts val="0"/>
              </a:spcAft>
              <a:buSzPts val="1110"/>
              <a:buChar char="●"/>
            </a:pPr>
            <a:r>
              <a:rPr lang="en" sz="1110" dirty="0"/>
              <a:t>Already existing environment can be also provided by specifying the path of the environment directory</a:t>
            </a:r>
            <a:endParaRPr sz="1110" dirty="0"/>
          </a:p>
          <a:p>
            <a:pPr lvl="0" indent="-299085">
              <a:lnSpc>
                <a:spcPct val="150000"/>
              </a:lnSpc>
              <a:buSzPts val="1110"/>
            </a:pPr>
            <a:r>
              <a:rPr lang="en" sz="1110" dirty="0"/>
              <a:t>Multiple packages can be specified separating them with </a:t>
            </a:r>
            <a:r>
              <a:rPr lang="en-US" sz="1110" dirty="0"/>
              <a:t>spaces</a:t>
            </a:r>
            <a:r>
              <a:rPr lang="en-US" sz="1200" dirty="0"/>
              <a:t> </a:t>
            </a:r>
            <a:r>
              <a:rPr lang="en" sz="1110" dirty="0" err="1"/>
              <a:t>eg.</a:t>
            </a:r>
            <a:r>
              <a:rPr lang="en" sz="1110" dirty="0"/>
              <a:t> "</a:t>
            </a:r>
            <a:r>
              <a:rPr lang="en" sz="1110" dirty="0" err="1">
                <a:solidFill>
                  <a:srgbClr val="0000FF"/>
                </a:solidFill>
              </a:rPr>
              <a:t>Openms</a:t>
            </a:r>
            <a:r>
              <a:rPr lang="en" sz="1110" dirty="0">
                <a:solidFill>
                  <a:srgbClr val="0000FF"/>
                </a:solidFill>
              </a:rPr>
              <a:t> </a:t>
            </a:r>
            <a:r>
              <a:rPr lang="en" sz="1110" dirty="0" err="1">
                <a:solidFill>
                  <a:srgbClr val="0000FF"/>
                </a:solidFill>
              </a:rPr>
              <a:t>xcms</a:t>
            </a:r>
            <a:r>
              <a:rPr lang="en" sz="1110" dirty="0"/>
              <a:t>". The name of the channel from where a specific package needs to be downloaded can be specified using the usual Conda notation i.e. prefixing the package with the channel name as shown here </a:t>
            </a:r>
            <a:r>
              <a:rPr lang="en" sz="1110" dirty="0" err="1">
                <a:solidFill>
                  <a:srgbClr val="0000FF"/>
                </a:solidFill>
              </a:rPr>
              <a:t>bioconda</a:t>
            </a:r>
            <a:r>
              <a:rPr lang="en" sz="1110" dirty="0">
                <a:solidFill>
                  <a:srgbClr val="0000FF"/>
                </a:solidFill>
              </a:rPr>
              <a:t>::</a:t>
            </a:r>
            <a:r>
              <a:rPr lang="en" sz="1110" dirty="0" err="1">
                <a:solidFill>
                  <a:srgbClr val="0000FF"/>
                </a:solidFill>
              </a:rPr>
              <a:t>Openms</a:t>
            </a:r>
            <a:r>
              <a:rPr lang="en" sz="1110" dirty="0">
                <a:solidFill>
                  <a:srgbClr val="0000FF"/>
                </a:solidFill>
              </a:rPr>
              <a:t>=2.4.0</a:t>
            </a:r>
            <a:endParaRPr sz="1110" dirty="0">
              <a:solidFill>
                <a:srgbClr val="0000FF"/>
              </a:solidFill>
            </a:endParaRPr>
          </a:p>
        </p:txBody>
      </p:sp>
      <p:sp>
        <p:nvSpPr>
          <p:cNvPr id="474" name="Google Shape;474;p34"/>
          <p:cNvSpPr txBox="1"/>
          <p:nvPr/>
        </p:nvSpPr>
        <p:spPr>
          <a:xfrm>
            <a:off x="5481200" y="1147950"/>
            <a:ext cx="3000000" cy="35709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#!/usr/bin/env nextflow  </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t>params.greeting = 'Hello world!' </a:t>
            </a:r>
            <a:endParaRPr sz="1000">
              <a:solidFill>
                <a:srgbClr val="0000FF"/>
              </a:solidFill>
            </a:endParaRPr>
          </a:p>
          <a:p>
            <a:pPr marL="0" lvl="0" indent="0" algn="l" rtl="0">
              <a:spcBef>
                <a:spcPts val="0"/>
              </a:spcBef>
              <a:spcAft>
                <a:spcPts val="0"/>
              </a:spcAft>
              <a:buNone/>
            </a:pPr>
            <a:r>
              <a:rPr lang="en" sz="1000"/>
              <a:t>greeting_ch = Channel.of(params.greeting) </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t>process SPLITLETTERS { </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solidFill>
                  <a:srgbClr val="0000FF"/>
                </a:solidFill>
              </a:rPr>
              <a:t>    conda ‘bwa=0.7.15’</a:t>
            </a:r>
            <a:endParaRPr sz="1000">
              <a:solidFill>
                <a:srgbClr val="0000FF"/>
              </a:solidFill>
            </a:endParaRPr>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    input: 	</a:t>
            </a:r>
            <a:endParaRPr sz="1000">
              <a:solidFill>
                <a:srgbClr val="0000FF"/>
              </a:solidFill>
            </a:endParaRPr>
          </a:p>
          <a:p>
            <a:pPr marL="0" lvl="0" indent="0" algn="l" rtl="0">
              <a:spcBef>
                <a:spcPts val="0"/>
              </a:spcBef>
              <a:spcAft>
                <a:spcPts val="0"/>
              </a:spcAft>
              <a:buNone/>
            </a:pPr>
            <a:r>
              <a:rPr lang="en" sz="1000"/>
              <a:t>    val x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output:	</a:t>
            </a:r>
            <a:endParaRPr sz="1000">
              <a:solidFill>
                <a:srgbClr val="0000FF"/>
              </a:solidFill>
            </a:endParaRPr>
          </a:p>
          <a:p>
            <a:pPr marL="0" lvl="0" indent="0" algn="l" rtl="0">
              <a:spcBef>
                <a:spcPts val="0"/>
              </a:spcBef>
              <a:spcAft>
                <a:spcPts val="0"/>
              </a:spcAft>
              <a:buNone/>
            </a:pPr>
            <a:r>
              <a:rPr lang="en" sz="1000"/>
              <a:t>    path 'chunk_*'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    echo '$x' | split -b 6 - chunk_</a:t>
            </a:r>
            <a:endParaRPr sz="1000"/>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a:t>
            </a:r>
            <a:endParaRPr sz="1000"/>
          </a:p>
          <a:p>
            <a:pPr marL="0" lvl="0" indent="0" algn="l" rtl="0">
              <a:spcBef>
                <a:spcPts val="0"/>
              </a:spcBef>
              <a:spcAft>
                <a:spcPts val="0"/>
              </a:spcAft>
              <a:buNone/>
            </a:pPr>
            <a:r>
              <a:rPr lang="en" sz="1000"/>
              <a:t>workflow { </a:t>
            </a:r>
            <a:endParaRPr sz="1000"/>
          </a:p>
          <a:p>
            <a:pPr marL="0" lvl="0" indent="0" algn="l" rtl="0">
              <a:spcBef>
                <a:spcPts val="0"/>
              </a:spcBef>
              <a:spcAft>
                <a:spcPts val="0"/>
              </a:spcAft>
              <a:buNone/>
            </a:pPr>
            <a:r>
              <a:rPr lang="en" sz="1000"/>
              <a:t>out_ch = SPLITLETTERS(greeting_ch)</a:t>
            </a:r>
            <a:endParaRPr sz="1000"/>
          </a:p>
          <a:p>
            <a:pPr marL="0" lvl="0" indent="0" algn="l" rtl="0">
              <a:spcBef>
                <a:spcPts val="0"/>
              </a:spcBef>
              <a:spcAft>
                <a:spcPts val="0"/>
              </a:spcAft>
              <a:buNone/>
            </a:pPr>
            <a:r>
              <a:rPr lang="en" sz="1000"/>
              <a:t>}</a:t>
            </a:r>
            <a:endParaRPr sz="1000"/>
          </a:p>
        </p:txBody>
      </p:sp>
      <p:sp>
        <p:nvSpPr>
          <p:cNvPr id="475" name="Google Shape;475;p34"/>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Directives - conda</a:t>
            </a:r>
            <a:endParaRPr/>
          </a:p>
        </p:txBody>
      </p:sp>
      <p:pic>
        <p:nvPicPr>
          <p:cNvPr id="476" name="Google Shape;476;p34"/>
          <p:cNvPicPr preferRelativeResize="0"/>
          <p:nvPr/>
        </p:nvPicPr>
        <p:blipFill>
          <a:blip r:embed="rId3">
            <a:alphaModFix/>
          </a:blip>
          <a:stretch>
            <a:fillRect/>
          </a:stretch>
        </p:blipFill>
        <p:spPr>
          <a:xfrm>
            <a:off x="813689" y="598575"/>
            <a:ext cx="932451" cy="7806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35"/>
          <p:cNvSpPr txBox="1">
            <a:spLocks noGrp="1"/>
          </p:cNvSpPr>
          <p:nvPr>
            <p:ph type="body" idx="4294967295"/>
          </p:nvPr>
        </p:nvSpPr>
        <p:spPr>
          <a:xfrm>
            <a:off x="202625" y="1460350"/>
            <a:ext cx="4592700" cy="3474600"/>
          </a:xfrm>
          <a:prstGeom prst="rect">
            <a:avLst/>
          </a:prstGeom>
        </p:spPr>
        <p:txBody>
          <a:bodyPr spcFirstLastPara="1" wrap="square" lIns="91425" tIns="91425" rIns="91425" bIns="91425" anchor="t" anchorCtr="0">
            <a:noAutofit/>
          </a:bodyPr>
          <a:lstStyle/>
          <a:p>
            <a:pPr marL="457200" lvl="0" indent="-299085" algn="l" rtl="0">
              <a:lnSpc>
                <a:spcPct val="150000"/>
              </a:lnSpc>
              <a:spcBef>
                <a:spcPts val="0"/>
              </a:spcBef>
              <a:spcAft>
                <a:spcPts val="0"/>
              </a:spcAft>
              <a:buSzPts val="1110"/>
              <a:buChar char="●"/>
            </a:pPr>
            <a:r>
              <a:rPr lang="en" sz="1110"/>
              <a:t>Environment Modules is a package manager that allows you to dynamically configure your execution environment and easily switch between multiple versions of the same software tool</a:t>
            </a:r>
            <a:endParaRPr sz="1110"/>
          </a:p>
          <a:p>
            <a:pPr marL="457200" lvl="0" indent="-299085" algn="l" rtl="0">
              <a:lnSpc>
                <a:spcPct val="150000"/>
              </a:lnSpc>
              <a:spcBef>
                <a:spcPts val="0"/>
              </a:spcBef>
              <a:spcAft>
                <a:spcPts val="0"/>
              </a:spcAft>
              <a:buSzPts val="1110"/>
              <a:buChar char="●"/>
            </a:pPr>
            <a:r>
              <a:rPr lang="en" sz="1110"/>
              <a:t>If it is available in your system you can use it with Nextflow in order to configure the processes execution environment in your pipeline</a:t>
            </a:r>
            <a:endParaRPr sz="1110"/>
          </a:p>
          <a:p>
            <a:pPr marL="457200" lvl="0" indent="-299085" algn="l" rtl="0">
              <a:lnSpc>
                <a:spcPct val="150000"/>
              </a:lnSpc>
              <a:spcBef>
                <a:spcPts val="0"/>
              </a:spcBef>
              <a:spcAft>
                <a:spcPts val="0"/>
              </a:spcAft>
              <a:buSzPts val="1110"/>
              <a:buChar char="●"/>
            </a:pPr>
            <a:r>
              <a:rPr lang="en" sz="1110"/>
              <a:t>In a process definition you can use the module directive to load a specific module version to be used in the process execution environment</a:t>
            </a:r>
            <a:endParaRPr sz="1110"/>
          </a:p>
          <a:p>
            <a:pPr marL="457200" lvl="0" indent="-299085" algn="l" rtl="0">
              <a:lnSpc>
                <a:spcPct val="150000"/>
              </a:lnSpc>
              <a:spcBef>
                <a:spcPts val="0"/>
              </a:spcBef>
              <a:spcAft>
                <a:spcPts val="0"/>
              </a:spcAft>
              <a:buSzPts val="1110"/>
              <a:buChar char="●"/>
            </a:pPr>
            <a:r>
              <a:rPr lang="en" sz="1110"/>
              <a:t>Multiple modules can be specified in a single module directive by separating all the module names by using a</a:t>
            </a:r>
            <a:r>
              <a:rPr lang="en" sz="1110">
                <a:solidFill>
                  <a:srgbClr val="0000FF"/>
                </a:solidFill>
              </a:rPr>
              <a:t> : (colon) </a:t>
            </a:r>
            <a:r>
              <a:rPr lang="en" sz="1110"/>
              <a:t>character</a:t>
            </a:r>
            <a:endParaRPr sz="1110"/>
          </a:p>
          <a:p>
            <a:pPr marL="457200" lvl="0" indent="0" algn="l" rtl="0">
              <a:lnSpc>
                <a:spcPct val="150000"/>
              </a:lnSpc>
              <a:spcBef>
                <a:spcPts val="1200"/>
              </a:spcBef>
              <a:spcAft>
                <a:spcPts val="1200"/>
              </a:spcAft>
              <a:buNone/>
            </a:pPr>
            <a:endParaRPr sz="1110"/>
          </a:p>
        </p:txBody>
      </p:sp>
      <p:sp>
        <p:nvSpPr>
          <p:cNvPr id="482" name="Google Shape;482;p35"/>
          <p:cNvSpPr txBox="1"/>
          <p:nvPr/>
        </p:nvSpPr>
        <p:spPr>
          <a:xfrm>
            <a:off x="5481200" y="1147950"/>
            <a:ext cx="3000000" cy="35709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#!/usr/bin/env nextflow  </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t>params.greeting = 'Hello world!' </a:t>
            </a:r>
            <a:endParaRPr sz="1000">
              <a:solidFill>
                <a:srgbClr val="0000FF"/>
              </a:solidFill>
            </a:endParaRPr>
          </a:p>
          <a:p>
            <a:pPr marL="0" lvl="0" indent="0" algn="l" rtl="0">
              <a:spcBef>
                <a:spcPts val="0"/>
              </a:spcBef>
              <a:spcAft>
                <a:spcPts val="0"/>
              </a:spcAft>
              <a:buNone/>
            </a:pPr>
            <a:r>
              <a:rPr lang="en" sz="1000"/>
              <a:t>greeting_ch = Channel.of(params.greeting) </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t>process SPLITLETTERS { </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solidFill>
                  <a:srgbClr val="0000FF"/>
                </a:solidFill>
              </a:rPr>
              <a:t>    module 'openms/2.4.0’</a:t>
            </a:r>
            <a:endParaRPr sz="1000">
              <a:solidFill>
                <a:srgbClr val="0000FF"/>
              </a:solidFill>
            </a:endParaRPr>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    input: 	</a:t>
            </a:r>
            <a:endParaRPr sz="1000">
              <a:solidFill>
                <a:srgbClr val="0000FF"/>
              </a:solidFill>
            </a:endParaRPr>
          </a:p>
          <a:p>
            <a:pPr marL="0" lvl="0" indent="0" algn="l" rtl="0">
              <a:spcBef>
                <a:spcPts val="0"/>
              </a:spcBef>
              <a:spcAft>
                <a:spcPts val="0"/>
              </a:spcAft>
              <a:buNone/>
            </a:pPr>
            <a:r>
              <a:rPr lang="en" sz="1000"/>
              <a:t>    val x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output:	</a:t>
            </a:r>
            <a:endParaRPr sz="1000">
              <a:solidFill>
                <a:srgbClr val="0000FF"/>
              </a:solidFill>
            </a:endParaRPr>
          </a:p>
          <a:p>
            <a:pPr marL="0" lvl="0" indent="0" algn="l" rtl="0">
              <a:spcBef>
                <a:spcPts val="0"/>
              </a:spcBef>
              <a:spcAft>
                <a:spcPts val="0"/>
              </a:spcAft>
              <a:buNone/>
            </a:pPr>
            <a:r>
              <a:rPr lang="en" sz="1000"/>
              <a:t>    path 'chunk_*'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    echo '$x' | split -b 6 - chunk_</a:t>
            </a:r>
            <a:endParaRPr sz="1000"/>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a:t>
            </a:r>
            <a:endParaRPr sz="1000"/>
          </a:p>
          <a:p>
            <a:pPr marL="0" lvl="0" indent="0" algn="l" rtl="0">
              <a:spcBef>
                <a:spcPts val="0"/>
              </a:spcBef>
              <a:spcAft>
                <a:spcPts val="0"/>
              </a:spcAft>
              <a:buNone/>
            </a:pPr>
            <a:r>
              <a:rPr lang="en" sz="1000"/>
              <a:t>workflow { </a:t>
            </a:r>
            <a:endParaRPr sz="1000"/>
          </a:p>
          <a:p>
            <a:pPr marL="0" lvl="0" indent="0" algn="l" rtl="0">
              <a:spcBef>
                <a:spcPts val="0"/>
              </a:spcBef>
              <a:spcAft>
                <a:spcPts val="0"/>
              </a:spcAft>
              <a:buNone/>
            </a:pPr>
            <a:r>
              <a:rPr lang="en" sz="1000"/>
              <a:t>out_ch = SPLITLETTERS(greeting_ch)</a:t>
            </a:r>
            <a:endParaRPr sz="1000"/>
          </a:p>
          <a:p>
            <a:pPr marL="0" lvl="0" indent="0" algn="l" rtl="0">
              <a:spcBef>
                <a:spcPts val="0"/>
              </a:spcBef>
              <a:spcAft>
                <a:spcPts val="0"/>
              </a:spcAft>
              <a:buNone/>
            </a:pPr>
            <a:r>
              <a:rPr lang="en" sz="1000"/>
              <a:t>}</a:t>
            </a:r>
            <a:endParaRPr sz="1000"/>
          </a:p>
        </p:txBody>
      </p:sp>
      <p:sp>
        <p:nvSpPr>
          <p:cNvPr id="483" name="Google Shape;483;p35"/>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Directives - module</a:t>
            </a:r>
            <a:endParaRPr/>
          </a:p>
        </p:txBody>
      </p:sp>
      <p:pic>
        <p:nvPicPr>
          <p:cNvPr id="484" name="Google Shape;484;p35"/>
          <p:cNvPicPr preferRelativeResize="0"/>
          <p:nvPr/>
        </p:nvPicPr>
        <p:blipFill>
          <a:blip r:embed="rId3">
            <a:alphaModFix/>
          </a:blip>
          <a:stretch>
            <a:fillRect/>
          </a:stretch>
        </p:blipFill>
        <p:spPr>
          <a:xfrm>
            <a:off x="813689" y="598575"/>
            <a:ext cx="932451" cy="7806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36"/>
          <p:cNvSpPr txBox="1">
            <a:spLocks noGrp="1"/>
          </p:cNvSpPr>
          <p:nvPr>
            <p:ph type="body" idx="4294967295"/>
          </p:nvPr>
        </p:nvSpPr>
        <p:spPr>
          <a:xfrm>
            <a:off x="202625" y="1536550"/>
            <a:ext cx="3734400" cy="3474600"/>
          </a:xfrm>
          <a:prstGeom prst="rect">
            <a:avLst/>
          </a:prstGeom>
        </p:spPr>
        <p:txBody>
          <a:bodyPr spcFirstLastPara="1" wrap="square" lIns="91425" tIns="91425" rIns="91425" bIns="91425" anchor="t" anchorCtr="0">
            <a:normAutofit/>
          </a:bodyPr>
          <a:lstStyle/>
          <a:p>
            <a:pPr marL="457200" lvl="0" indent="-311150" algn="l" rtl="0">
              <a:lnSpc>
                <a:spcPct val="200000"/>
              </a:lnSpc>
              <a:spcBef>
                <a:spcPts val="0"/>
              </a:spcBef>
              <a:spcAft>
                <a:spcPts val="0"/>
              </a:spcAft>
              <a:buSzPts val="1300"/>
              <a:buChar char="●"/>
            </a:pPr>
            <a:r>
              <a:rPr lang="en" dirty="0"/>
              <a:t>The </a:t>
            </a:r>
            <a:r>
              <a:rPr lang="en" b="1" dirty="0"/>
              <a:t>container</a:t>
            </a:r>
            <a:r>
              <a:rPr lang="en" dirty="0"/>
              <a:t> allows to execute the process script in a docker container</a:t>
            </a:r>
            <a:endParaRPr dirty="0"/>
          </a:p>
          <a:p>
            <a:pPr marL="457200" lvl="0" indent="-311150" algn="l" rtl="0">
              <a:lnSpc>
                <a:spcPct val="200000"/>
              </a:lnSpc>
              <a:spcBef>
                <a:spcPts val="0"/>
              </a:spcBef>
              <a:spcAft>
                <a:spcPts val="0"/>
              </a:spcAft>
              <a:buSzPts val="1300"/>
              <a:buChar char="●"/>
            </a:pPr>
            <a:r>
              <a:rPr lang="en" sz="1200" dirty="0">
                <a:solidFill>
                  <a:srgbClr val="404040"/>
                </a:solidFill>
                <a:highlight>
                  <a:srgbClr val="FCFCFC"/>
                </a:highlight>
                <a:latin typeface="Lato"/>
                <a:ea typeface="Lato"/>
                <a:cs typeface="Lato"/>
                <a:sym typeface="Lato"/>
              </a:rPr>
              <a:t>It requires the Docker daemon to be running in machine where the pipeline is executed, i.e. the local machine when using the </a:t>
            </a:r>
            <a:r>
              <a:rPr lang="en" sz="1200" i="1" dirty="0">
                <a:solidFill>
                  <a:srgbClr val="404040"/>
                </a:solidFill>
                <a:highlight>
                  <a:srgbClr val="FCFCFC"/>
                </a:highlight>
                <a:latin typeface="Lato"/>
                <a:ea typeface="Lato"/>
                <a:cs typeface="Lato"/>
                <a:sym typeface="Lato"/>
              </a:rPr>
              <a:t>local</a:t>
            </a:r>
            <a:r>
              <a:rPr lang="en" sz="1200" dirty="0">
                <a:solidFill>
                  <a:srgbClr val="404040"/>
                </a:solidFill>
                <a:highlight>
                  <a:srgbClr val="FCFCFC"/>
                </a:highlight>
                <a:latin typeface="Lato"/>
                <a:ea typeface="Lato"/>
                <a:cs typeface="Lato"/>
                <a:sym typeface="Lato"/>
              </a:rPr>
              <a:t> executor or the cluster nodes when the pipeline is deployed through a </a:t>
            </a:r>
            <a:r>
              <a:rPr lang="en" sz="1200" i="1" dirty="0">
                <a:solidFill>
                  <a:srgbClr val="404040"/>
                </a:solidFill>
                <a:highlight>
                  <a:srgbClr val="FCFCFC"/>
                </a:highlight>
                <a:latin typeface="Lato"/>
                <a:ea typeface="Lato"/>
                <a:cs typeface="Lato"/>
                <a:sym typeface="Lato"/>
              </a:rPr>
              <a:t>grid</a:t>
            </a:r>
            <a:r>
              <a:rPr lang="en" sz="1200" dirty="0">
                <a:solidFill>
                  <a:srgbClr val="404040"/>
                </a:solidFill>
                <a:highlight>
                  <a:srgbClr val="FCFCFC"/>
                </a:highlight>
                <a:latin typeface="Lato"/>
                <a:ea typeface="Lato"/>
                <a:cs typeface="Lato"/>
                <a:sym typeface="Lato"/>
              </a:rPr>
              <a:t> executor.</a:t>
            </a:r>
            <a:endParaRPr dirty="0"/>
          </a:p>
          <a:p>
            <a:pPr marL="1371600" lvl="0" indent="0" algn="l" rtl="0">
              <a:lnSpc>
                <a:spcPct val="200000"/>
              </a:lnSpc>
              <a:spcBef>
                <a:spcPts val="1200"/>
              </a:spcBef>
              <a:spcAft>
                <a:spcPts val="1200"/>
              </a:spcAft>
              <a:buNone/>
            </a:pPr>
            <a:endParaRPr dirty="0"/>
          </a:p>
        </p:txBody>
      </p:sp>
      <p:sp>
        <p:nvSpPr>
          <p:cNvPr id="490" name="Google Shape;490;p36"/>
          <p:cNvSpPr txBox="1"/>
          <p:nvPr/>
        </p:nvSpPr>
        <p:spPr>
          <a:xfrm>
            <a:off x="5481200" y="1147950"/>
            <a:ext cx="3000000" cy="37248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#!/usr/bin/env nextflow  </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t>params.greeting = 'Hello world!' </a:t>
            </a:r>
            <a:endParaRPr sz="1000">
              <a:solidFill>
                <a:srgbClr val="0000FF"/>
              </a:solidFill>
            </a:endParaRPr>
          </a:p>
          <a:p>
            <a:pPr marL="0" lvl="0" indent="0" algn="l" rtl="0">
              <a:spcBef>
                <a:spcPts val="0"/>
              </a:spcBef>
              <a:spcAft>
                <a:spcPts val="0"/>
              </a:spcAft>
              <a:buNone/>
            </a:pPr>
            <a:r>
              <a:rPr lang="en" sz="1000"/>
              <a:t>greeting_ch = Channel.of(params.greeting) </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t>process SPLITLETTERS { </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solidFill>
                  <a:srgbClr val="0000FF"/>
                </a:solidFill>
              </a:rPr>
              <a:t>    </a:t>
            </a:r>
            <a:r>
              <a:rPr lang="en" sz="1000"/>
              <a:t>cpus 4</a:t>
            </a:r>
            <a:endParaRPr sz="1000"/>
          </a:p>
          <a:p>
            <a:pPr marL="0" lvl="0" indent="0" algn="l" rtl="0">
              <a:spcBef>
                <a:spcPts val="0"/>
              </a:spcBef>
              <a:spcAft>
                <a:spcPts val="0"/>
              </a:spcAft>
              <a:buNone/>
            </a:pPr>
            <a:r>
              <a:rPr lang="en" sz="1000">
                <a:solidFill>
                  <a:srgbClr val="0000FF"/>
                </a:solidFill>
              </a:rPr>
              <a:t>    container ‘dockerbox:tag’</a:t>
            </a:r>
            <a:endParaRPr sz="1000">
              <a:solidFill>
                <a:srgbClr val="0000FF"/>
              </a:solidFill>
            </a:endParaRPr>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    input: 	</a:t>
            </a:r>
            <a:endParaRPr sz="1000">
              <a:solidFill>
                <a:srgbClr val="0000FF"/>
              </a:solidFill>
            </a:endParaRPr>
          </a:p>
          <a:p>
            <a:pPr marL="0" lvl="0" indent="0" algn="l" rtl="0">
              <a:spcBef>
                <a:spcPts val="0"/>
              </a:spcBef>
              <a:spcAft>
                <a:spcPts val="0"/>
              </a:spcAft>
              <a:buNone/>
            </a:pPr>
            <a:r>
              <a:rPr lang="en" sz="1000"/>
              <a:t>    val x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output:	</a:t>
            </a:r>
            <a:endParaRPr sz="1000">
              <a:solidFill>
                <a:srgbClr val="0000FF"/>
              </a:solidFill>
            </a:endParaRPr>
          </a:p>
          <a:p>
            <a:pPr marL="0" lvl="0" indent="0" algn="l" rtl="0">
              <a:spcBef>
                <a:spcPts val="0"/>
              </a:spcBef>
              <a:spcAft>
                <a:spcPts val="0"/>
              </a:spcAft>
              <a:buNone/>
            </a:pPr>
            <a:r>
              <a:rPr lang="en" sz="1000"/>
              <a:t>    path 'chunk_*'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    echo '$x' | split -b 6 - chunk_</a:t>
            </a:r>
            <a:endParaRPr sz="1000"/>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a:t>
            </a:r>
            <a:endParaRPr sz="1000"/>
          </a:p>
          <a:p>
            <a:pPr marL="0" lvl="0" indent="0" algn="l" rtl="0">
              <a:spcBef>
                <a:spcPts val="0"/>
              </a:spcBef>
              <a:spcAft>
                <a:spcPts val="0"/>
              </a:spcAft>
              <a:buNone/>
            </a:pPr>
            <a:r>
              <a:rPr lang="en" sz="1000"/>
              <a:t>workflow { </a:t>
            </a:r>
            <a:endParaRPr sz="1000"/>
          </a:p>
          <a:p>
            <a:pPr marL="0" lvl="0" indent="0" algn="l" rtl="0">
              <a:spcBef>
                <a:spcPts val="0"/>
              </a:spcBef>
              <a:spcAft>
                <a:spcPts val="0"/>
              </a:spcAft>
              <a:buNone/>
            </a:pPr>
            <a:r>
              <a:rPr lang="en" sz="1000"/>
              <a:t>out_ch = SPLITLETTERS(greeting_ch)</a:t>
            </a:r>
            <a:endParaRPr sz="1000"/>
          </a:p>
          <a:p>
            <a:pPr marL="0" lvl="0" indent="0" algn="l" rtl="0">
              <a:spcBef>
                <a:spcPts val="0"/>
              </a:spcBef>
              <a:spcAft>
                <a:spcPts val="0"/>
              </a:spcAft>
              <a:buNone/>
            </a:pPr>
            <a:r>
              <a:rPr lang="en" sz="1000"/>
              <a:t>}</a:t>
            </a:r>
            <a:endParaRPr sz="1000"/>
          </a:p>
        </p:txBody>
      </p:sp>
      <p:sp>
        <p:nvSpPr>
          <p:cNvPr id="491" name="Google Shape;491;p36"/>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Directives - container</a:t>
            </a:r>
            <a:endParaRPr/>
          </a:p>
        </p:txBody>
      </p:sp>
      <p:pic>
        <p:nvPicPr>
          <p:cNvPr id="492" name="Google Shape;492;p36"/>
          <p:cNvPicPr preferRelativeResize="0"/>
          <p:nvPr/>
        </p:nvPicPr>
        <p:blipFill>
          <a:blip r:embed="rId3">
            <a:alphaModFix/>
          </a:blip>
          <a:stretch>
            <a:fillRect/>
          </a:stretch>
        </p:blipFill>
        <p:spPr>
          <a:xfrm>
            <a:off x="813689" y="598575"/>
            <a:ext cx="932451" cy="7806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37"/>
          <p:cNvSpPr txBox="1"/>
          <p:nvPr/>
        </p:nvSpPr>
        <p:spPr>
          <a:xfrm>
            <a:off x="5481200" y="1147950"/>
            <a:ext cx="3000000" cy="37248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#!/usr/bin/env nextflow  </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t>params.greeting = 'Hello world!' </a:t>
            </a:r>
            <a:endParaRPr sz="1000">
              <a:solidFill>
                <a:srgbClr val="0000FF"/>
              </a:solidFill>
            </a:endParaRPr>
          </a:p>
          <a:p>
            <a:pPr marL="0" lvl="0" indent="0" algn="l" rtl="0">
              <a:spcBef>
                <a:spcPts val="0"/>
              </a:spcBef>
              <a:spcAft>
                <a:spcPts val="0"/>
              </a:spcAft>
              <a:buNone/>
            </a:pPr>
            <a:r>
              <a:rPr lang="en" sz="1000"/>
              <a:t>greeting_ch = Channel.of(params.greeting) </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t>process SPLITLETTERS { </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solidFill>
                  <a:srgbClr val="0000FF"/>
                </a:solidFill>
              </a:rPr>
              <a:t>    </a:t>
            </a:r>
            <a:r>
              <a:rPr lang="en" sz="1000"/>
              <a:t>cpus 4</a:t>
            </a:r>
            <a:endParaRPr sz="1000"/>
          </a:p>
          <a:p>
            <a:pPr marL="0" lvl="0" indent="0" algn="l" rtl="0">
              <a:spcBef>
                <a:spcPts val="0"/>
              </a:spcBef>
              <a:spcAft>
                <a:spcPts val="0"/>
              </a:spcAft>
              <a:buNone/>
            </a:pPr>
            <a:r>
              <a:rPr lang="en" sz="1000">
                <a:solidFill>
                  <a:srgbClr val="0000FF"/>
                </a:solidFill>
              </a:rPr>
              <a:t>    stageInMode copy</a:t>
            </a:r>
            <a:endParaRPr sz="1000">
              <a:solidFill>
                <a:srgbClr val="0000FF"/>
              </a:solidFill>
            </a:endParaRPr>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    input: 	</a:t>
            </a:r>
            <a:endParaRPr sz="1000">
              <a:solidFill>
                <a:srgbClr val="0000FF"/>
              </a:solidFill>
            </a:endParaRPr>
          </a:p>
          <a:p>
            <a:pPr marL="0" lvl="0" indent="0" algn="l" rtl="0">
              <a:spcBef>
                <a:spcPts val="0"/>
              </a:spcBef>
              <a:spcAft>
                <a:spcPts val="0"/>
              </a:spcAft>
              <a:buNone/>
            </a:pPr>
            <a:r>
              <a:rPr lang="en" sz="1000"/>
              <a:t>    val x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output:	</a:t>
            </a:r>
            <a:endParaRPr sz="1000">
              <a:solidFill>
                <a:srgbClr val="0000FF"/>
              </a:solidFill>
            </a:endParaRPr>
          </a:p>
          <a:p>
            <a:pPr marL="0" lvl="0" indent="0" algn="l" rtl="0">
              <a:spcBef>
                <a:spcPts val="0"/>
              </a:spcBef>
              <a:spcAft>
                <a:spcPts val="0"/>
              </a:spcAft>
              <a:buNone/>
            </a:pPr>
            <a:r>
              <a:rPr lang="en" sz="1000"/>
              <a:t>    path 'chunk_*'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    echo '$x' | split -b 6 - chunk_</a:t>
            </a:r>
            <a:endParaRPr sz="1000"/>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a:t>
            </a:r>
            <a:endParaRPr sz="1000"/>
          </a:p>
          <a:p>
            <a:pPr marL="0" lvl="0" indent="0" algn="l" rtl="0">
              <a:spcBef>
                <a:spcPts val="0"/>
              </a:spcBef>
              <a:spcAft>
                <a:spcPts val="0"/>
              </a:spcAft>
              <a:buNone/>
            </a:pPr>
            <a:r>
              <a:rPr lang="en" sz="1000"/>
              <a:t>workflow { </a:t>
            </a:r>
            <a:endParaRPr sz="1000"/>
          </a:p>
          <a:p>
            <a:pPr marL="0" lvl="0" indent="0" algn="l" rtl="0">
              <a:spcBef>
                <a:spcPts val="0"/>
              </a:spcBef>
              <a:spcAft>
                <a:spcPts val="0"/>
              </a:spcAft>
              <a:buNone/>
            </a:pPr>
            <a:r>
              <a:rPr lang="en" sz="1000"/>
              <a:t>out_ch = SPLITLETTERS(greeting_ch)</a:t>
            </a:r>
            <a:endParaRPr sz="1000"/>
          </a:p>
          <a:p>
            <a:pPr marL="0" lvl="0" indent="0" algn="l" rtl="0">
              <a:spcBef>
                <a:spcPts val="0"/>
              </a:spcBef>
              <a:spcAft>
                <a:spcPts val="0"/>
              </a:spcAft>
              <a:buNone/>
            </a:pPr>
            <a:r>
              <a:rPr lang="en" sz="1000"/>
              <a:t>}</a:t>
            </a:r>
            <a:endParaRPr sz="1000"/>
          </a:p>
        </p:txBody>
      </p:sp>
      <p:sp>
        <p:nvSpPr>
          <p:cNvPr id="498" name="Google Shape;498;p37"/>
          <p:cNvSpPr txBox="1">
            <a:spLocks noGrp="1"/>
          </p:cNvSpPr>
          <p:nvPr>
            <p:ph type="body" idx="4294967295"/>
          </p:nvPr>
        </p:nvSpPr>
        <p:spPr>
          <a:xfrm>
            <a:off x="202625" y="1536550"/>
            <a:ext cx="3734400" cy="3474600"/>
          </a:xfrm>
          <a:prstGeom prst="rect">
            <a:avLst/>
          </a:prstGeom>
        </p:spPr>
        <p:txBody>
          <a:bodyPr spcFirstLastPara="1" wrap="square" lIns="91425" tIns="91425" rIns="91425" bIns="91425" anchor="t" anchorCtr="0">
            <a:normAutofit/>
          </a:bodyPr>
          <a:lstStyle/>
          <a:p>
            <a:pPr marL="457200" lvl="0" indent="-311150" algn="l" rtl="0">
              <a:lnSpc>
                <a:spcPct val="200000"/>
              </a:lnSpc>
              <a:spcBef>
                <a:spcPts val="0"/>
              </a:spcBef>
              <a:spcAft>
                <a:spcPts val="0"/>
              </a:spcAft>
              <a:buSzPts val="1300"/>
              <a:buChar char="●"/>
            </a:pPr>
            <a:r>
              <a:rPr lang="en"/>
              <a:t>The stageInMode defines how the data is stored in the work directory</a:t>
            </a:r>
            <a:endParaRPr/>
          </a:p>
          <a:p>
            <a:pPr marL="457200" lvl="0" indent="-311150" algn="l" rtl="0">
              <a:lnSpc>
                <a:spcPct val="200000"/>
              </a:lnSpc>
              <a:spcBef>
                <a:spcPts val="0"/>
              </a:spcBef>
              <a:spcAft>
                <a:spcPts val="0"/>
              </a:spcAft>
              <a:buSzPts val="1300"/>
              <a:buChar char="●"/>
            </a:pPr>
            <a:r>
              <a:rPr lang="en"/>
              <a:t>Nextflow by default uses symbolic link to stage files</a:t>
            </a:r>
            <a:endParaRPr/>
          </a:p>
          <a:p>
            <a:pPr marL="457200" lvl="0" indent="-311150" algn="l" rtl="0">
              <a:lnSpc>
                <a:spcPct val="200000"/>
              </a:lnSpc>
              <a:spcBef>
                <a:spcPts val="0"/>
              </a:spcBef>
              <a:spcAft>
                <a:spcPts val="0"/>
              </a:spcAft>
              <a:buSzPts val="1300"/>
              <a:buChar char="●"/>
            </a:pPr>
            <a:r>
              <a:rPr lang="en"/>
              <a:t>Set this to “</a:t>
            </a:r>
            <a:r>
              <a:rPr lang="en">
                <a:solidFill>
                  <a:srgbClr val="0000FF"/>
                </a:solidFill>
              </a:rPr>
              <a:t>copy</a:t>
            </a:r>
            <a:r>
              <a:rPr lang="en"/>
              <a:t>” if you have the same file names in input and output</a:t>
            </a:r>
            <a:endParaRPr/>
          </a:p>
          <a:p>
            <a:pPr marL="457200" lvl="0" indent="-311150" algn="l" rtl="0">
              <a:lnSpc>
                <a:spcPct val="200000"/>
              </a:lnSpc>
              <a:spcBef>
                <a:spcPts val="0"/>
              </a:spcBef>
              <a:spcAft>
                <a:spcPts val="0"/>
              </a:spcAft>
              <a:buSzPts val="1300"/>
              <a:buChar char="●"/>
            </a:pPr>
            <a:r>
              <a:rPr lang="en"/>
              <a:t>Will increase overhead of the pipeline significantly</a:t>
            </a:r>
            <a:endParaRPr/>
          </a:p>
          <a:p>
            <a:pPr marL="1371600" lvl="0" indent="0" algn="l" rtl="0">
              <a:lnSpc>
                <a:spcPct val="200000"/>
              </a:lnSpc>
              <a:spcBef>
                <a:spcPts val="1200"/>
              </a:spcBef>
              <a:spcAft>
                <a:spcPts val="1200"/>
              </a:spcAft>
              <a:buNone/>
            </a:pPr>
            <a:endParaRPr/>
          </a:p>
        </p:txBody>
      </p:sp>
      <p:sp>
        <p:nvSpPr>
          <p:cNvPr id="499" name="Google Shape;499;p37"/>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Directives - stageInMode</a:t>
            </a:r>
            <a:endParaRPr/>
          </a:p>
        </p:txBody>
      </p:sp>
      <p:pic>
        <p:nvPicPr>
          <p:cNvPr id="500" name="Google Shape;500;p37"/>
          <p:cNvPicPr preferRelativeResize="0"/>
          <p:nvPr/>
        </p:nvPicPr>
        <p:blipFill>
          <a:blip r:embed="rId3">
            <a:alphaModFix/>
          </a:blip>
          <a:stretch>
            <a:fillRect/>
          </a:stretch>
        </p:blipFill>
        <p:spPr>
          <a:xfrm>
            <a:off x="813689" y="598575"/>
            <a:ext cx="932451" cy="7806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38"/>
          <p:cNvSpPr txBox="1"/>
          <p:nvPr/>
        </p:nvSpPr>
        <p:spPr>
          <a:xfrm>
            <a:off x="5481200" y="1147950"/>
            <a:ext cx="3000000" cy="35709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#!/usr/bin/env nextflow  </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t>params.greeting = 'Hello world!' </a:t>
            </a:r>
            <a:endParaRPr sz="1000">
              <a:solidFill>
                <a:srgbClr val="0000FF"/>
              </a:solidFill>
            </a:endParaRPr>
          </a:p>
          <a:p>
            <a:pPr marL="0" lvl="0" indent="0" algn="l" rtl="0">
              <a:spcBef>
                <a:spcPts val="0"/>
              </a:spcBef>
              <a:spcAft>
                <a:spcPts val="0"/>
              </a:spcAft>
              <a:buNone/>
            </a:pPr>
            <a:r>
              <a:rPr lang="en" sz="1000"/>
              <a:t>greeting_ch = Channel.of(params.greeting) </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t>process SPLITLETTERS { </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solidFill>
                  <a:srgbClr val="0000FF"/>
                </a:solidFill>
              </a:rPr>
              <a:t>    tag “$x”</a:t>
            </a:r>
            <a:endParaRPr sz="1000">
              <a:solidFill>
                <a:srgbClr val="0000FF"/>
              </a:solidFill>
            </a:endParaRPr>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    input: 	</a:t>
            </a:r>
            <a:endParaRPr sz="1000">
              <a:solidFill>
                <a:srgbClr val="0000FF"/>
              </a:solidFill>
            </a:endParaRPr>
          </a:p>
          <a:p>
            <a:pPr marL="0" lvl="0" indent="0" algn="l" rtl="0">
              <a:spcBef>
                <a:spcPts val="0"/>
              </a:spcBef>
              <a:spcAft>
                <a:spcPts val="0"/>
              </a:spcAft>
              <a:buNone/>
            </a:pPr>
            <a:r>
              <a:rPr lang="en" sz="1000"/>
              <a:t>    val x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output:	</a:t>
            </a:r>
            <a:endParaRPr sz="1000">
              <a:solidFill>
                <a:srgbClr val="0000FF"/>
              </a:solidFill>
            </a:endParaRPr>
          </a:p>
          <a:p>
            <a:pPr marL="0" lvl="0" indent="0" algn="l" rtl="0">
              <a:spcBef>
                <a:spcPts val="0"/>
              </a:spcBef>
              <a:spcAft>
                <a:spcPts val="0"/>
              </a:spcAft>
              <a:buNone/>
            </a:pPr>
            <a:r>
              <a:rPr lang="en" sz="1000"/>
              <a:t>    path 'chunk_*'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    echo '$x' | split -b 6 - chunk_</a:t>
            </a:r>
            <a:endParaRPr sz="1000"/>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a:t>
            </a:r>
            <a:endParaRPr sz="1000"/>
          </a:p>
          <a:p>
            <a:pPr marL="0" lvl="0" indent="0" algn="l" rtl="0">
              <a:spcBef>
                <a:spcPts val="0"/>
              </a:spcBef>
              <a:spcAft>
                <a:spcPts val="0"/>
              </a:spcAft>
              <a:buNone/>
            </a:pPr>
            <a:r>
              <a:rPr lang="en" sz="1000"/>
              <a:t>workflow { </a:t>
            </a:r>
            <a:endParaRPr sz="1000"/>
          </a:p>
          <a:p>
            <a:pPr marL="0" lvl="0" indent="0" algn="l" rtl="0">
              <a:spcBef>
                <a:spcPts val="0"/>
              </a:spcBef>
              <a:spcAft>
                <a:spcPts val="0"/>
              </a:spcAft>
              <a:buNone/>
            </a:pPr>
            <a:r>
              <a:rPr lang="en" sz="1000"/>
              <a:t>out_ch = SPLITLETTERS(greeting_ch)</a:t>
            </a:r>
            <a:endParaRPr sz="1000"/>
          </a:p>
          <a:p>
            <a:pPr marL="0" lvl="0" indent="0" algn="l" rtl="0">
              <a:spcBef>
                <a:spcPts val="0"/>
              </a:spcBef>
              <a:spcAft>
                <a:spcPts val="0"/>
              </a:spcAft>
              <a:buNone/>
            </a:pPr>
            <a:r>
              <a:rPr lang="en" sz="1000"/>
              <a:t>}</a:t>
            </a:r>
            <a:endParaRPr sz="1000"/>
          </a:p>
        </p:txBody>
      </p:sp>
      <p:sp>
        <p:nvSpPr>
          <p:cNvPr id="506" name="Google Shape;506;p38"/>
          <p:cNvSpPr txBox="1">
            <a:spLocks noGrp="1"/>
          </p:cNvSpPr>
          <p:nvPr>
            <p:ph type="body" idx="4294967295"/>
          </p:nvPr>
        </p:nvSpPr>
        <p:spPr>
          <a:xfrm>
            <a:off x="202625" y="1536550"/>
            <a:ext cx="3734400" cy="3474600"/>
          </a:xfrm>
          <a:prstGeom prst="rect">
            <a:avLst/>
          </a:prstGeom>
        </p:spPr>
        <p:txBody>
          <a:bodyPr spcFirstLastPara="1" wrap="square" lIns="91425" tIns="91425" rIns="91425" bIns="91425" anchor="t" anchorCtr="0">
            <a:normAutofit/>
          </a:bodyPr>
          <a:lstStyle/>
          <a:p>
            <a:pPr marL="457200" lvl="0" indent="-311150" algn="l" rtl="0">
              <a:lnSpc>
                <a:spcPct val="200000"/>
              </a:lnSpc>
              <a:spcBef>
                <a:spcPts val="0"/>
              </a:spcBef>
              <a:spcAft>
                <a:spcPts val="0"/>
              </a:spcAft>
              <a:buSzPts val="1300"/>
              <a:buChar char="●"/>
            </a:pPr>
            <a:r>
              <a:rPr lang="en"/>
              <a:t>The tag directive allows to give custom name for the process.</a:t>
            </a:r>
            <a:endParaRPr/>
          </a:p>
          <a:p>
            <a:pPr marL="457200" lvl="0" indent="-311150" algn="l" rtl="0">
              <a:lnSpc>
                <a:spcPct val="200000"/>
              </a:lnSpc>
              <a:spcBef>
                <a:spcPts val="0"/>
              </a:spcBef>
              <a:spcAft>
                <a:spcPts val="0"/>
              </a:spcAft>
              <a:buSzPts val="1300"/>
              <a:buChar char="●"/>
            </a:pPr>
            <a:r>
              <a:rPr lang="en"/>
              <a:t> Makes it easier to identify them in the log file or in the trace execution report</a:t>
            </a:r>
            <a:endParaRPr/>
          </a:p>
          <a:p>
            <a:pPr marL="1371600" lvl="0" indent="0" algn="l" rtl="0">
              <a:lnSpc>
                <a:spcPct val="200000"/>
              </a:lnSpc>
              <a:spcBef>
                <a:spcPts val="1200"/>
              </a:spcBef>
              <a:spcAft>
                <a:spcPts val="1200"/>
              </a:spcAft>
              <a:buNone/>
            </a:pPr>
            <a:endParaRPr/>
          </a:p>
        </p:txBody>
      </p:sp>
      <p:sp>
        <p:nvSpPr>
          <p:cNvPr id="507" name="Google Shape;507;p38"/>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Directives - tag</a:t>
            </a:r>
            <a:endParaRPr/>
          </a:p>
        </p:txBody>
      </p:sp>
      <p:pic>
        <p:nvPicPr>
          <p:cNvPr id="508" name="Google Shape;508;p38"/>
          <p:cNvPicPr preferRelativeResize="0"/>
          <p:nvPr/>
        </p:nvPicPr>
        <p:blipFill>
          <a:blip r:embed="rId3">
            <a:alphaModFix/>
          </a:blip>
          <a:stretch>
            <a:fillRect/>
          </a:stretch>
        </p:blipFill>
        <p:spPr>
          <a:xfrm>
            <a:off x="813689" y="598575"/>
            <a:ext cx="932451" cy="780674"/>
          </a:xfrm>
          <a:prstGeom prst="rect">
            <a:avLst/>
          </a:prstGeom>
          <a:noFill/>
          <a:ln>
            <a:noFill/>
          </a:ln>
        </p:spPr>
      </p:pic>
      <p:pic>
        <p:nvPicPr>
          <p:cNvPr id="509" name="Google Shape;509;p38"/>
          <p:cNvPicPr preferRelativeResize="0"/>
          <p:nvPr/>
        </p:nvPicPr>
        <p:blipFill>
          <a:blip r:embed="rId4">
            <a:alphaModFix/>
          </a:blip>
          <a:stretch>
            <a:fillRect/>
          </a:stretch>
        </p:blipFill>
        <p:spPr>
          <a:xfrm>
            <a:off x="535900" y="4444370"/>
            <a:ext cx="3304450" cy="419875"/>
          </a:xfrm>
          <a:prstGeom prst="rect">
            <a:avLst/>
          </a:prstGeom>
          <a:noFill/>
          <a:ln>
            <a:noFill/>
          </a:ln>
        </p:spPr>
      </p:pic>
      <p:sp>
        <p:nvSpPr>
          <p:cNvPr id="510" name="Google Shape;510;p38"/>
          <p:cNvSpPr/>
          <p:nvPr/>
        </p:nvSpPr>
        <p:spPr>
          <a:xfrm>
            <a:off x="2254975" y="4708125"/>
            <a:ext cx="756600" cy="198300"/>
          </a:xfrm>
          <a:prstGeom prst="rect">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39"/>
          <p:cNvSpPr txBox="1"/>
          <p:nvPr/>
        </p:nvSpPr>
        <p:spPr>
          <a:xfrm>
            <a:off x="5481200" y="1147950"/>
            <a:ext cx="3000000" cy="37248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#!/usr/bin/env nextflow  </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t>params.greeting = 'Hello world!' </a:t>
            </a:r>
            <a:endParaRPr sz="1000">
              <a:solidFill>
                <a:srgbClr val="0000FF"/>
              </a:solidFill>
            </a:endParaRPr>
          </a:p>
          <a:p>
            <a:pPr marL="0" lvl="0" indent="0" algn="l" rtl="0">
              <a:spcBef>
                <a:spcPts val="0"/>
              </a:spcBef>
              <a:spcAft>
                <a:spcPts val="0"/>
              </a:spcAft>
              <a:buNone/>
            </a:pPr>
            <a:r>
              <a:rPr lang="en" sz="1000"/>
              <a:t>greeting_ch = Channel.of(params.greeting) </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t>process SPLITLETTERS { </a:t>
            </a:r>
            <a:endParaRPr sz="1000">
              <a:solidFill>
                <a:srgbClr val="0000FF"/>
              </a:solidFill>
            </a:endParaRPr>
          </a:p>
          <a:p>
            <a:pPr marL="0" lvl="0" indent="0" algn="l" rtl="0">
              <a:spcBef>
                <a:spcPts val="0"/>
              </a:spcBef>
              <a:spcAft>
                <a:spcPts val="0"/>
              </a:spcAft>
              <a:buNone/>
            </a:pPr>
            <a:endParaRPr sz="1000"/>
          </a:p>
          <a:p>
            <a:pPr marL="0" lvl="0" indent="0" algn="l" rtl="0">
              <a:spcBef>
                <a:spcPts val="0"/>
              </a:spcBef>
              <a:spcAft>
                <a:spcPts val="0"/>
              </a:spcAft>
              <a:buNone/>
            </a:pPr>
            <a:r>
              <a:rPr lang="en" sz="1000">
                <a:solidFill>
                  <a:srgbClr val="0000FF"/>
                </a:solidFill>
              </a:rPr>
              <a:t>    </a:t>
            </a:r>
            <a:r>
              <a:rPr lang="en" sz="1000"/>
              <a:t>cpus 4</a:t>
            </a:r>
            <a:endParaRPr sz="1000"/>
          </a:p>
          <a:p>
            <a:pPr marL="0" lvl="0" indent="0" algn="l" rtl="0">
              <a:spcBef>
                <a:spcPts val="0"/>
              </a:spcBef>
              <a:spcAft>
                <a:spcPts val="0"/>
              </a:spcAft>
              <a:buNone/>
            </a:pPr>
            <a:r>
              <a:rPr lang="en" sz="1000">
                <a:solidFill>
                  <a:srgbClr val="0000FF"/>
                </a:solidFill>
              </a:rPr>
              <a:t>    label “basic_process”</a:t>
            </a:r>
            <a:endParaRPr sz="1000">
              <a:solidFill>
                <a:srgbClr val="0000FF"/>
              </a:solidFill>
            </a:endParaRPr>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    input: 	</a:t>
            </a:r>
            <a:endParaRPr sz="1000">
              <a:solidFill>
                <a:srgbClr val="0000FF"/>
              </a:solidFill>
            </a:endParaRPr>
          </a:p>
          <a:p>
            <a:pPr marL="0" lvl="0" indent="0" algn="l" rtl="0">
              <a:spcBef>
                <a:spcPts val="0"/>
              </a:spcBef>
              <a:spcAft>
                <a:spcPts val="0"/>
              </a:spcAft>
              <a:buNone/>
            </a:pPr>
            <a:r>
              <a:rPr lang="en" sz="1000"/>
              <a:t>    val x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output:	</a:t>
            </a:r>
            <a:endParaRPr sz="1000">
              <a:solidFill>
                <a:srgbClr val="0000FF"/>
              </a:solidFill>
            </a:endParaRPr>
          </a:p>
          <a:p>
            <a:pPr marL="0" lvl="0" indent="0" algn="l" rtl="0">
              <a:spcBef>
                <a:spcPts val="0"/>
              </a:spcBef>
              <a:spcAft>
                <a:spcPts val="0"/>
              </a:spcAft>
              <a:buNone/>
            </a:pPr>
            <a:r>
              <a:rPr lang="en" sz="1000"/>
              <a:t>    path 'chunk_*'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    echo '$x' | split -b 6 - chunk_</a:t>
            </a:r>
            <a:endParaRPr sz="1000"/>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a:t>
            </a:r>
            <a:endParaRPr sz="1000"/>
          </a:p>
          <a:p>
            <a:pPr marL="0" lvl="0" indent="0" algn="l" rtl="0">
              <a:spcBef>
                <a:spcPts val="0"/>
              </a:spcBef>
              <a:spcAft>
                <a:spcPts val="0"/>
              </a:spcAft>
              <a:buNone/>
            </a:pPr>
            <a:r>
              <a:rPr lang="en" sz="1000"/>
              <a:t>workflow { </a:t>
            </a:r>
            <a:endParaRPr sz="1000"/>
          </a:p>
          <a:p>
            <a:pPr marL="0" lvl="0" indent="0" algn="l" rtl="0">
              <a:spcBef>
                <a:spcPts val="0"/>
              </a:spcBef>
              <a:spcAft>
                <a:spcPts val="0"/>
              </a:spcAft>
              <a:buNone/>
            </a:pPr>
            <a:r>
              <a:rPr lang="en" sz="1000"/>
              <a:t>out_ch = SPLITLETTERS(greeting_ch)</a:t>
            </a:r>
            <a:endParaRPr sz="1000"/>
          </a:p>
          <a:p>
            <a:pPr marL="0" lvl="0" indent="0" algn="l" rtl="0">
              <a:spcBef>
                <a:spcPts val="0"/>
              </a:spcBef>
              <a:spcAft>
                <a:spcPts val="0"/>
              </a:spcAft>
              <a:buNone/>
            </a:pPr>
            <a:r>
              <a:rPr lang="en" sz="1000"/>
              <a:t>}</a:t>
            </a:r>
            <a:endParaRPr sz="1000"/>
          </a:p>
        </p:txBody>
      </p:sp>
      <p:sp>
        <p:nvSpPr>
          <p:cNvPr id="516" name="Google Shape;516;p39"/>
          <p:cNvSpPr txBox="1">
            <a:spLocks noGrp="1"/>
          </p:cNvSpPr>
          <p:nvPr>
            <p:ph type="body" idx="4294967295"/>
          </p:nvPr>
        </p:nvSpPr>
        <p:spPr>
          <a:xfrm>
            <a:off x="202625" y="1536550"/>
            <a:ext cx="3734400" cy="3474600"/>
          </a:xfrm>
          <a:prstGeom prst="rect">
            <a:avLst/>
          </a:prstGeom>
        </p:spPr>
        <p:txBody>
          <a:bodyPr spcFirstLastPara="1" wrap="square" lIns="91425" tIns="91425" rIns="91425" bIns="91425" anchor="t" anchorCtr="0">
            <a:normAutofit fontScale="77500" lnSpcReduction="20000"/>
          </a:bodyPr>
          <a:lstStyle/>
          <a:p>
            <a:pPr marL="457200" lvl="0" indent="-298767" algn="l" rtl="0">
              <a:lnSpc>
                <a:spcPct val="200000"/>
              </a:lnSpc>
              <a:spcBef>
                <a:spcPts val="0"/>
              </a:spcBef>
              <a:spcAft>
                <a:spcPts val="0"/>
              </a:spcAft>
              <a:buSzPct val="100000"/>
              <a:buChar char="●"/>
            </a:pPr>
            <a:r>
              <a:rPr lang="en"/>
              <a:t>The label directive allows the annotation of processes with an identifier of your choice</a:t>
            </a:r>
            <a:endParaRPr/>
          </a:p>
          <a:p>
            <a:pPr marL="457200" lvl="0" indent="-298767" algn="l" rtl="0">
              <a:lnSpc>
                <a:spcPct val="200000"/>
              </a:lnSpc>
              <a:spcBef>
                <a:spcPts val="0"/>
              </a:spcBef>
              <a:spcAft>
                <a:spcPts val="0"/>
              </a:spcAft>
              <a:buSzPct val="100000"/>
              <a:buChar char="●"/>
            </a:pPr>
            <a:r>
              <a:rPr lang="en"/>
              <a:t>The same label can be applied to more than a process and multiple labels can be applied to the same process using the label directive more than one time</a:t>
            </a:r>
            <a:endParaRPr/>
          </a:p>
          <a:p>
            <a:pPr marL="457200" lvl="0" indent="-298767" algn="l" rtl="0">
              <a:lnSpc>
                <a:spcPct val="200000"/>
              </a:lnSpc>
              <a:spcBef>
                <a:spcPts val="0"/>
              </a:spcBef>
              <a:spcAft>
                <a:spcPts val="0"/>
              </a:spcAft>
              <a:buSzPct val="100000"/>
              <a:buChar char="●"/>
            </a:pPr>
            <a:r>
              <a:rPr lang="en"/>
              <a:t>Labels are useful to organise pipeline processes in separate groups which can be referenced in the configuration file to select and configure subset of processes having similar computing requirements</a:t>
            </a:r>
            <a:endParaRPr/>
          </a:p>
        </p:txBody>
      </p:sp>
      <p:sp>
        <p:nvSpPr>
          <p:cNvPr id="517" name="Google Shape;517;p39"/>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Directives - label</a:t>
            </a:r>
            <a:endParaRPr/>
          </a:p>
        </p:txBody>
      </p:sp>
      <p:pic>
        <p:nvPicPr>
          <p:cNvPr id="518" name="Google Shape;518;p39"/>
          <p:cNvPicPr preferRelativeResize="0"/>
          <p:nvPr/>
        </p:nvPicPr>
        <p:blipFill>
          <a:blip r:embed="rId3">
            <a:alphaModFix/>
          </a:blip>
          <a:stretch>
            <a:fillRect/>
          </a:stretch>
        </p:blipFill>
        <p:spPr>
          <a:xfrm>
            <a:off x="813689" y="598575"/>
            <a:ext cx="932451" cy="7806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40"/>
          <p:cNvSpPr txBox="1">
            <a:spLocks noGrp="1"/>
          </p:cNvSpPr>
          <p:nvPr>
            <p:ph type="body" idx="4294967295"/>
          </p:nvPr>
        </p:nvSpPr>
        <p:spPr>
          <a:xfrm>
            <a:off x="631275" y="2322999"/>
            <a:ext cx="8066700" cy="2308268"/>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err="1"/>
              <a:t>maxForks</a:t>
            </a:r>
            <a:r>
              <a:rPr lang="en" dirty="0"/>
              <a:t> → Defines maximum number of process instance that can be executed in parallel</a:t>
            </a:r>
            <a:endParaRPr dirty="0"/>
          </a:p>
          <a:p>
            <a:pPr marL="0" lvl="0" indent="0" algn="l" rtl="0">
              <a:spcBef>
                <a:spcPts val="1200"/>
              </a:spcBef>
              <a:spcAft>
                <a:spcPts val="0"/>
              </a:spcAft>
              <a:buNone/>
            </a:pPr>
            <a:r>
              <a:rPr lang="en" dirty="0"/>
              <a:t>executor → Defines where the processes are executed (</a:t>
            </a:r>
            <a:r>
              <a:rPr lang="en" dirty="0" err="1"/>
              <a:t>eg</a:t>
            </a:r>
            <a:r>
              <a:rPr lang="en" dirty="0"/>
              <a:t>: </a:t>
            </a:r>
            <a:r>
              <a:rPr lang="en" dirty="0" err="1"/>
              <a:t>awsbatch</a:t>
            </a:r>
            <a:r>
              <a:rPr lang="en" dirty="0"/>
              <a:t>, </a:t>
            </a:r>
            <a:r>
              <a:rPr lang="en" dirty="0" err="1"/>
              <a:t>azurebatch</a:t>
            </a:r>
            <a:r>
              <a:rPr lang="en" dirty="0"/>
              <a:t>, </a:t>
            </a:r>
            <a:r>
              <a:rPr lang="en" dirty="0" err="1"/>
              <a:t>slurm</a:t>
            </a:r>
            <a:r>
              <a:rPr lang="en" dirty="0"/>
              <a:t> </a:t>
            </a:r>
            <a:r>
              <a:rPr lang="en" dirty="0" err="1"/>
              <a:t>etc</a:t>
            </a:r>
            <a:r>
              <a:rPr lang="en" dirty="0"/>
              <a:t>)</a:t>
            </a:r>
            <a:endParaRPr dirty="0"/>
          </a:p>
          <a:p>
            <a:pPr marL="0" lvl="0" indent="0" algn="l" rtl="0">
              <a:spcBef>
                <a:spcPts val="1200"/>
              </a:spcBef>
              <a:spcAft>
                <a:spcPts val="1200"/>
              </a:spcAft>
              <a:buNone/>
            </a:pPr>
            <a:endParaRPr lang="en" sz="1600" b="1" dirty="0"/>
          </a:p>
          <a:p>
            <a:pPr marL="0" lvl="0" indent="0" algn="l" rtl="0">
              <a:spcBef>
                <a:spcPts val="1200"/>
              </a:spcBef>
              <a:spcAft>
                <a:spcPts val="1200"/>
              </a:spcAft>
              <a:buNone/>
            </a:pPr>
            <a:r>
              <a:rPr lang="en" sz="1600" b="1" dirty="0"/>
              <a:t>debug</a:t>
            </a:r>
            <a:r>
              <a:rPr lang="en" sz="1600" dirty="0"/>
              <a:t> → setting debug to true will print the </a:t>
            </a:r>
            <a:r>
              <a:rPr lang="en" sz="1600" dirty="0" err="1"/>
              <a:t>stdout</a:t>
            </a:r>
            <a:r>
              <a:rPr lang="en" sz="1600" dirty="0"/>
              <a:t> on the terminal. Useful while creating a pipeline </a:t>
            </a:r>
            <a:r>
              <a:rPr lang="en" sz="1600" b="1" dirty="0"/>
              <a:t>**</a:t>
            </a:r>
            <a:endParaRPr sz="1600" b="1" dirty="0"/>
          </a:p>
        </p:txBody>
      </p:sp>
      <p:sp>
        <p:nvSpPr>
          <p:cNvPr id="524" name="Google Shape;524;p40"/>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Directives - some more</a:t>
            </a:r>
            <a:endParaRPr/>
          </a:p>
        </p:txBody>
      </p:sp>
      <p:pic>
        <p:nvPicPr>
          <p:cNvPr id="525" name="Google Shape;525;p40"/>
          <p:cNvPicPr preferRelativeResize="0"/>
          <p:nvPr/>
        </p:nvPicPr>
        <p:blipFill>
          <a:blip r:embed="rId3">
            <a:alphaModFix/>
          </a:blip>
          <a:stretch>
            <a:fillRect/>
          </a:stretch>
        </p:blipFill>
        <p:spPr>
          <a:xfrm>
            <a:off x="813689" y="598575"/>
            <a:ext cx="932451" cy="7806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41"/>
          <p:cNvSpPr txBox="1"/>
          <p:nvPr/>
        </p:nvSpPr>
        <p:spPr>
          <a:xfrm>
            <a:off x="5292900" y="1080000"/>
            <a:ext cx="3851100" cy="40635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process &lt; name &gt; {</a:t>
            </a:r>
            <a:endParaRPr/>
          </a:p>
          <a:p>
            <a:pPr marL="0" lvl="0" indent="0" algn="l" rtl="0">
              <a:spcBef>
                <a:spcPts val="0"/>
              </a:spcBef>
              <a:spcAft>
                <a:spcPts val="0"/>
              </a:spcAft>
              <a:buNone/>
            </a:pPr>
            <a:endParaRPr/>
          </a:p>
          <a:p>
            <a:pPr marL="0" lvl="0" indent="0" algn="l" rtl="0">
              <a:spcBef>
                <a:spcPts val="0"/>
              </a:spcBef>
              <a:spcAft>
                <a:spcPts val="0"/>
              </a:spcAft>
              <a:buNone/>
            </a:pPr>
            <a:r>
              <a:rPr lang="en">
                <a:solidFill>
                  <a:srgbClr val="0000FF"/>
                </a:solidFill>
              </a:rPr>
              <a:t> </a:t>
            </a:r>
            <a:r>
              <a:rPr lang="en"/>
              <a:t> [ directives ] </a:t>
            </a:r>
            <a:endParaRPr/>
          </a:p>
          <a:p>
            <a:pPr marL="0" lvl="0" indent="0" algn="l" rtl="0">
              <a:spcBef>
                <a:spcPts val="0"/>
              </a:spcBef>
              <a:spcAft>
                <a:spcPts val="0"/>
              </a:spcAft>
              <a:buNone/>
            </a:pPr>
            <a:endParaRPr/>
          </a:p>
          <a:p>
            <a:pPr marL="0" lvl="0" indent="0" algn="l" rtl="0">
              <a:spcBef>
                <a:spcPts val="0"/>
              </a:spcBef>
              <a:spcAft>
                <a:spcPts val="0"/>
              </a:spcAft>
              <a:buNone/>
            </a:pPr>
            <a:r>
              <a:rPr lang="en">
                <a:solidFill>
                  <a:srgbClr val="0000FF"/>
                </a:solidFill>
              </a:rPr>
              <a:t>  input: </a:t>
            </a:r>
            <a:endParaRPr>
              <a:solidFill>
                <a:srgbClr val="0000FF"/>
              </a:solidFill>
            </a:endParaRPr>
          </a:p>
          <a:p>
            <a:pPr marL="0" lvl="0" indent="0" algn="l" rtl="0">
              <a:spcBef>
                <a:spcPts val="0"/>
              </a:spcBef>
              <a:spcAft>
                <a:spcPts val="0"/>
              </a:spcAft>
              <a:buNone/>
            </a:pPr>
            <a:r>
              <a:rPr lang="en">
                <a:solidFill>
                  <a:srgbClr val="0000FF"/>
                </a:solidFill>
              </a:rPr>
              <a:t>  &lt; process inputs &gt;</a:t>
            </a:r>
            <a:endParaRPr>
              <a:solidFill>
                <a:srgbClr val="0000FF"/>
              </a:solidFill>
            </a:endParaRPr>
          </a:p>
          <a:p>
            <a:pPr marL="0" lvl="0" indent="0" algn="l" rtl="0">
              <a:spcBef>
                <a:spcPts val="0"/>
              </a:spcBef>
              <a:spcAft>
                <a:spcPts val="0"/>
              </a:spcAft>
              <a:buNone/>
            </a:pPr>
            <a:endParaRPr/>
          </a:p>
          <a:p>
            <a:pPr marL="0" lvl="0" indent="0" algn="l" rtl="0">
              <a:spcBef>
                <a:spcPts val="0"/>
              </a:spcBef>
              <a:spcAft>
                <a:spcPts val="0"/>
              </a:spcAft>
              <a:buNone/>
            </a:pPr>
            <a:r>
              <a:rPr lang="en"/>
              <a:t>  output: </a:t>
            </a:r>
            <a:endParaRPr/>
          </a:p>
          <a:p>
            <a:pPr marL="0" lvl="0" indent="0" algn="l" rtl="0">
              <a:spcBef>
                <a:spcPts val="0"/>
              </a:spcBef>
              <a:spcAft>
                <a:spcPts val="0"/>
              </a:spcAft>
              <a:buNone/>
            </a:pPr>
            <a:r>
              <a:rPr lang="en"/>
              <a:t>  &lt; process outputs &gt;</a:t>
            </a:r>
            <a:endParaRPr/>
          </a:p>
          <a:p>
            <a:pPr marL="0" lvl="0" indent="0" algn="l" rtl="0">
              <a:spcBef>
                <a:spcPts val="0"/>
              </a:spcBef>
              <a:spcAft>
                <a:spcPts val="0"/>
              </a:spcAft>
              <a:buNone/>
            </a:pPr>
            <a:endParaRPr/>
          </a:p>
          <a:p>
            <a:pPr marL="0" lvl="0" indent="0" algn="l" rtl="0">
              <a:spcBef>
                <a:spcPts val="0"/>
              </a:spcBef>
              <a:spcAft>
                <a:spcPts val="0"/>
              </a:spcAft>
              <a:buNone/>
            </a:pPr>
            <a:r>
              <a:rPr lang="en"/>
              <a:t>  when: </a:t>
            </a:r>
            <a:endParaRPr/>
          </a:p>
          <a:p>
            <a:pPr marL="0" lvl="0" indent="0" algn="l" rtl="0">
              <a:spcBef>
                <a:spcPts val="0"/>
              </a:spcBef>
              <a:spcAft>
                <a:spcPts val="0"/>
              </a:spcAft>
              <a:buNone/>
            </a:pPr>
            <a:r>
              <a:rPr lang="en"/>
              <a:t>  &lt; condition &gt;</a:t>
            </a:r>
            <a:endParaRPr/>
          </a:p>
          <a:p>
            <a:pPr marL="0" lvl="0" indent="0" algn="l" rtl="0">
              <a:spcBef>
                <a:spcPts val="0"/>
              </a:spcBef>
              <a:spcAft>
                <a:spcPts val="0"/>
              </a:spcAft>
              <a:buNone/>
            </a:pPr>
            <a:endParaRPr/>
          </a:p>
          <a:p>
            <a:pPr marL="0" lvl="0" indent="0" algn="l" rtl="0">
              <a:spcBef>
                <a:spcPts val="0"/>
              </a:spcBef>
              <a:spcAft>
                <a:spcPts val="0"/>
              </a:spcAft>
              <a:buNone/>
            </a:pPr>
            <a:r>
              <a:rPr lang="en"/>
              <a:t>  [script|shell|exec]: </a:t>
            </a:r>
            <a:endParaRPr/>
          </a:p>
          <a:p>
            <a:pPr marL="0" lvl="0" indent="0" algn="l" rtl="0">
              <a:spcBef>
                <a:spcPts val="0"/>
              </a:spcBef>
              <a:spcAft>
                <a:spcPts val="0"/>
              </a:spcAft>
              <a:buNone/>
            </a:pPr>
            <a:r>
              <a:rPr lang="en"/>
              <a:t>  """</a:t>
            </a:r>
            <a:endParaRPr/>
          </a:p>
          <a:p>
            <a:pPr marL="0" lvl="0" indent="0" algn="l" rtl="0">
              <a:spcBef>
                <a:spcPts val="0"/>
              </a:spcBef>
              <a:spcAft>
                <a:spcPts val="0"/>
              </a:spcAft>
              <a:buNone/>
            </a:pPr>
            <a:r>
              <a:rPr lang="en"/>
              <a:t>  &lt; user script to be executed &gt;</a:t>
            </a:r>
            <a:endParaRPr/>
          </a:p>
          <a:p>
            <a:pPr marL="0" lvl="0" indent="0" algn="l" rtl="0">
              <a:spcBef>
                <a:spcPts val="0"/>
              </a:spcBef>
              <a:spcAft>
                <a:spcPts val="0"/>
              </a:spcAft>
              <a:buNone/>
            </a:pPr>
            <a:r>
              <a:rPr lang="en"/>
              <a:t>  """</a:t>
            </a:r>
            <a:endParaRPr/>
          </a:p>
          <a:p>
            <a:pPr marL="0" lvl="0" indent="0" algn="l" rtl="0">
              <a:spcBef>
                <a:spcPts val="0"/>
              </a:spcBef>
              <a:spcAft>
                <a:spcPts val="0"/>
              </a:spcAft>
              <a:buNone/>
            </a:pPr>
            <a:r>
              <a:rPr lang="en"/>
              <a:t>}</a:t>
            </a:r>
            <a:endParaRPr/>
          </a:p>
        </p:txBody>
      </p:sp>
      <p:sp>
        <p:nvSpPr>
          <p:cNvPr id="531" name="Google Shape;531;p41"/>
          <p:cNvSpPr txBox="1">
            <a:spLocks noGrp="1"/>
          </p:cNvSpPr>
          <p:nvPr>
            <p:ph type="body" idx="4294967295"/>
          </p:nvPr>
        </p:nvSpPr>
        <p:spPr>
          <a:xfrm>
            <a:off x="202625" y="1536550"/>
            <a:ext cx="3734400" cy="3474600"/>
          </a:xfrm>
          <a:prstGeom prst="rect">
            <a:avLst/>
          </a:prstGeom>
        </p:spPr>
        <p:txBody>
          <a:bodyPr spcFirstLastPara="1" wrap="square" lIns="91425" tIns="91425" rIns="91425" bIns="91425" anchor="t" anchorCtr="0">
            <a:normAutofit fontScale="92500" lnSpcReduction="10000"/>
          </a:bodyPr>
          <a:lstStyle/>
          <a:p>
            <a:pPr marL="457200" lvl="0" indent="-304958" algn="l" rtl="0">
              <a:lnSpc>
                <a:spcPct val="200000"/>
              </a:lnSpc>
              <a:spcBef>
                <a:spcPts val="0"/>
              </a:spcBef>
              <a:spcAft>
                <a:spcPts val="0"/>
              </a:spcAft>
              <a:buSzPct val="100000"/>
              <a:buChar char="●"/>
            </a:pPr>
            <a:r>
              <a:rPr lang="en"/>
              <a:t>Processes in nextflow are isolated and they are connected by sending values through channels</a:t>
            </a:r>
            <a:endParaRPr/>
          </a:p>
          <a:p>
            <a:pPr marL="457200" lvl="0" indent="-304958" algn="l" rtl="0">
              <a:lnSpc>
                <a:spcPct val="200000"/>
              </a:lnSpc>
              <a:spcBef>
                <a:spcPts val="0"/>
              </a:spcBef>
              <a:spcAft>
                <a:spcPts val="0"/>
              </a:spcAft>
              <a:buSzPct val="100000"/>
              <a:buChar char="●"/>
            </a:pPr>
            <a:r>
              <a:rPr lang="en"/>
              <a:t>Input determines the parallel execution of the process</a:t>
            </a:r>
            <a:endParaRPr/>
          </a:p>
          <a:p>
            <a:pPr marL="457200" lvl="0" indent="-304958" algn="l" rtl="0">
              <a:lnSpc>
                <a:spcPct val="200000"/>
              </a:lnSpc>
              <a:spcBef>
                <a:spcPts val="0"/>
              </a:spcBef>
              <a:spcAft>
                <a:spcPts val="0"/>
              </a:spcAft>
              <a:buSzPct val="100000"/>
              <a:buChar char="●"/>
            </a:pPr>
            <a:r>
              <a:rPr lang="en"/>
              <a:t>An input block can contain multiple input declarations</a:t>
            </a:r>
            <a:endParaRPr/>
          </a:p>
          <a:p>
            <a:pPr marL="457200" lvl="0" indent="-304958" algn="l" rtl="0">
              <a:lnSpc>
                <a:spcPct val="200000"/>
              </a:lnSpc>
              <a:spcBef>
                <a:spcPts val="0"/>
              </a:spcBef>
              <a:spcAft>
                <a:spcPts val="0"/>
              </a:spcAft>
              <a:buSzPct val="100000"/>
              <a:buChar char="●"/>
            </a:pPr>
            <a:r>
              <a:rPr lang="en"/>
              <a:t>A process is started when there is new data to be consumed from the input channel</a:t>
            </a:r>
            <a:endParaRPr/>
          </a:p>
        </p:txBody>
      </p:sp>
      <p:cxnSp>
        <p:nvCxnSpPr>
          <p:cNvPr id="532" name="Google Shape;532;p41"/>
          <p:cNvCxnSpPr/>
          <p:nvPr/>
        </p:nvCxnSpPr>
        <p:spPr>
          <a:xfrm rot="10800000" flipH="1">
            <a:off x="505475" y="988963"/>
            <a:ext cx="486600" cy="9900"/>
          </a:xfrm>
          <a:prstGeom prst="straightConnector1">
            <a:avLst/>
          </a:prstGeom>
          <a:noFill/>
          <a:ln w="28575" cap="flat" cmpd="sng">
            <a:solidFill>
              <a:schemeClr val="dk2"/>
            </a:solidFill>
            <a:prstDash val="solid"/>
            <a:round/>
            <a:headEnd type="none" w="med" len="med"/>
            <a:tailEnd type="triangle" w="med" len="med"/>
          </a:ln>
        </p:spPr>
      </p:cxnSp>
      <p:pic>
        <p:nvPicPr>
          <p:cNvPr id="533" name="Google Shape;533;p41"/>
          <p:cNvPicPr preferRelativeResize="0"/>
          <p:nvPr/>
        </p:nvPicPr>
        <p:blipFill>
          <a:blip r:embed="rId3">
            <a:alphaModFix/>
          </a:blip>
          <a:stretch>
            <a:fillRect/>
          </a:stretch>
        </p:blipFill>
        <p:spPr>
          <a:xfrm>
            <a:off x="991975" y="644562"/>
            <a:ext cx="688700" cy="688700"/>
          </a:xfrm>
          <a:prstGeom prst="rect">
            <a:avLst/>
          </a:prstGeom>
          <a:noFill/>
          <a:ln>
            <a:noFill/>
          </a:ln>
        </p:spPr>
      </p:pic>
      <p:sp>
        <p:nvSpPr>
          <p:cNvPr id="534" name="Google Shape;534;p41"/>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Input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42"/>
          <p:cNvSpPr txBox="1">
            <a:spLocks noGrp="1"/>
          </p:cNvSpPr>
          <p:nvPr>
            <p:ph type="body" idx="4294967295"/>
          </p:nvPr>
        </p:nvSpPr>
        <p:spPr>
          <a:xfrm>
            <a:off x="-136525" y="1479225"/>
            <a:ext cx="3442200" cy="1551600"/>
          </a:xfrm>
          <a:prstGeom prst="rect">
            <a:avLst/>
          </a:prstGeom>
        </p:spPr>
        <p:txBody>
          <a:bodyPr spcFirstLastPara="1" wrap="square" lIns="91425" tIns="91425" rIns="91425" bIns="91425" anchor="t" anchorCtr="0">
            <a:normAutofit/>
          </a:bodyPr>
          <a:lstStyle/>
          <a:p>
            <a:pPr marL="457200" lvl="0" indent="-298450" algn="l" rtl="0">
              <a:lnSpc>
                <a:spcPct val="200000"/>
              </a:lnSpc>
              <a:spcBef>
                <a:spcPts val="0"/>
              </a:spcBef>
              <a:spcAft>
                <a:spcPts val="0"/>
              </a:spcAft>
              <a:buSzPts val="1100"/>
              <a:buChar char="●"/>
            </a:pPr>
            <a:r>
              <a:rPr lang="en" sz="1100"/>
              <a:t>The input </a:t>
            </a:r>
            <a:r>
              <a:rPr lang="en" sz="1100" b="1">
                <a:solidFill>
                  <a:srgbClr val="000000"/>
                </a:solidFill>
              </a:rPr>
              <a:t>qualifier</a:t>
            </a:r>
            <a:r>
              <a:rPr lang="en" sz="1100"/>
              <a:t> declares the type of data to be received.</a:t>
            </a:r>
            <a:endParaRPr sz="1100"/>
          </a:p>
          <a:p>
            <a:pPr marL="457200" lvl="0" indent="-298450" algn="l" rtl="0">
              <a:lnSpc>
                <a:spcPct val="200000"/>
              </a:lnSpc>
              <a:spcBef>
                <a:spcPts val="0"/>
              </a:spcBef>
              <a:spcAft>
                <a:spcPts val="0"/>
              </a:spcAft>
              <a:buSzPts val="1100"/>
              <a:buChar char="●"/>
            </a:pPr>
            <a:r>
              <a:rPr lang="en" sz="1100"/>
              <a:t>The value can be accessed in the process script by using the specified input </a:t>
            </a:r>
            <a:r>
              <a:rPr lang="en" sz="1100" b="1"/>
              <a:t>name</a:t>
            </a:r>
            <a:r>
              <a:rPr lang="en" sz="1100"/>
              <a:t>,</a:t>
            </a:r>
            <a:endParaRPr sz="1100"/>
          </a:p>
        </p:txBody>
      </p:sp>
      <p:cxnSp>
        <p:nvCxnSpPr>
          <p:cNvPr id="540" name="Google Shape;540;p42"/>
          <p:cNvCxnSpPr/>
          <p:nvPr/>
        </p:nvCxnSpPr>
        <p:spPr>
          <a:xfrm rot="10800000" flipH="1">
            <a:off x="505475" y="988963"/>
            <a:ext cx="486600" cy="9900"/>
          </a:xfrm>
          <a:prstGeom prst="straightConnector1">
            <a:avLst/>
          </a:prstGeom>
          <a:noFill/>
          <a:ln w="28575" cap="flat" cmpd="sng">
            <a:solidFill>
              <a:schemeClr val="dk2"/>
            </a:solidFill>
            <a:prstDash val="solid"/>
            <a:round/>
            <a:headEnd type="none" w="med" len="med"/>
            <a:tailEnd type="triangle" w="med" len="med"/>
          </a:ln>
        </p:spPr>
      </p:cxnSp>
      <p:pic>
        <p:nvPicPr>
          <p:cNvPr id="541" name="Google Shape;541;p42"/>
          <p:cNvPicPr preferRelativeResize="0"/>
          <p:nvPr/>
        </p:nvPicPr>
        <p:blipFill>
          <a:blip r:embed="rId3">
            <a:alphaModFix/>
          </a:blip>
          <a:stretch>
            <a:fillRect/>
          </a:stretch>
        </p:blipFill>
        <p:spPr>
          <a:xfrm>
            <a:off x="991975" y="644562"/>
            <a:ext cx="688700" cy="688700"/>
          </a:xfrm>
          <a:prstGeom prst="rect">
            <a:avLst/>
          </a:prstGeom>
          <a:noFill/>
          <a:ln>
            <a:noFill/>
          </a:ln>
        </p:spPr>
      </p:pic>
      <p:sp>
        <p:nvSpPr>
          <p:cNvPr id="542" name="Google Shape;542;p42"/>
          <p:cNvSpPr txBox="1">
            <a:spLocks noGrp="1"/>
          </p:cNvSpPr>
          <p:nvPr>
            <p:ph type="title" idx="4294967295"/>
          </p:nvPr>
        </p:nvSpPr>
        <p:spPr>
          <a:xfrm>
            <a:off x="1680675" y="598575"/>
            <a:ext cx="6196500" cy="688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Input</a:t>
            </a:r>
            <a:endParaRPr/>
          </a:p>
        </p:txBody>
      </p:sp>
      <p:sp>
        <p:nvSpPr>
          <p:cNvPr id="543" name="Google Shape;543;p42"/>
          <p:cNvSpPr txBox="1"/>
          <p:nvPr/>
        </p:nvSpPr>
        <p:spPr>
          <a:xfrm>
            <a:off x="4825275" y="1590150"/>
            <a:ext cx="2320500" cy="523200"/>
          </a:xfrm>
          <a:prstGeom prst="rect">
            <a:avLst/>
          </a:prstGeom>
          <a:solidFill>
            <a:srgbClr val="A2C4C9"/>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input:</a:t>
            </a:r>
            <a:endParaRPr sz="1100"/>
          </a:p>
          <a:p>
            <a:pPr marL="0" lvl="0" indent="0" algn="l" rtl="0">
              <a:spcBef>
                <a:spcPts val="0"/>
              </a:spcBef>
              <a:spcAft>
                <a:spcPts val="0"/>
              </a:spcAft>
              <a:buNone/>
            </a:pPr>
            <a:r>
              <a:rPr lang="en" sz="1100"/>
              <a:t>&lt;input qualifier&gt;      &lt;input name&gt;     </a:t>
            </a:r>
            <a:endParaRPr sz="1100"/>
          </a:p>
        </p:txBody>
      </p:sp>
      <p:sp>
        <p:nvSpPr>
          <p:cNvPr id="544" name="Google Shape;544;p42"/>
          <p:cNvSpPr txBox="1"/>
          <p:nvPr/>
        </p:nvSpPr>
        <p:spPr>
          <a:xfrm>
            <a:off x="4220300" y="894700"/>
            <a:ext cx="22695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What type of input the process is getting (file, value etc)?</a:t>
            </a:r>
            <a:endParaRPr sz="1100"/>
          </a:p>
        </p:txBody>
      </p:sp>
      <p:sp>
        <p:nvSpPr>
          <p:cNvPr id="545" name="Google Shape;545;p42"/>
          <p:cNvSpPr txBox="1"/>
          <p:nvPr/>
        </p:nvSpPr>
        <p:spPr>
          <a:xfrm>
            <a:off x="5724950" y="2372550"/>
            <a:ext cx="16428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A name used to access the received value?</a:t>
            </a:r>
            <a:endParaRPr sz="1100"/>
          </a:p>
        </p:txBody>
      </p:sp>
      <p:cxnSp>
        <p:nvCxnSpPr>
          <p:cNvPr id="546" name="Google Shape;546;p42"/>
          <p:cNvCxnSpPr>
            <a:endCxn id="544" idx="2"/>
          </p:cNvCxnSpPr>
          <p:nvPr/>
        </p:nvCxnSpPr>
        <p:spPr>
          <a:xfrm rot="10800000" flipH="1">
            <a:off x="5347850" y="1417900"/>
            <a:ext cx="7200" cy="332400"/>
          </a:xfrm>
          <a:prstGeom prst="straightConnector1">
            <a:avLst/>
          </a:prstGeom>
          <a:noFill/>
          <a:ln w="9525" cap="flat" cmpd="sng">
            <a:solidFill>
              <a:schemeClr val="dk2"/>
            </a:solidFill>
            <a:prstDash val="solid"/>
            <a:round/>
            <a:headEnd type="none" w="med" len="med"/>
            <a:tailEnd type="triangle" w="med" len="med"/>
          </a:ln>
        </p:spPr>
      </p:cxnSp>
      <p:cxnSp>
        <p:nvCxnSpPr>
          <p:cNvPr id="547" name="Google Shape;547;p42"/>
          <p:cNvCxnSpPr>
            <a:endCxn id="545" idx="0"/>
          </p:cNvCxnSpPr>
          <p:nvPr/>
        </p:nvCxnSpPr>
        <p:spPr>
          <a:xfrm>
            <a:off x="6543350" y="2025150"/>
            <a:ext cx="3000" cy="347400"/>
          </a:xfrm>
          <a:prstGeom prst="straightConnector1">
            <a:avLst/>
          </a:prstGeom>
          <a:noFill/>
          <a:ln w="9525" cap="flat" cmpd="sng">
            <a:solidFill>
              <a:schemeClr val="dk2"/>
            </a:solidFill>
            <a:prstDash val="solid"/>
            <a:round/>
            <a:headEnd type="none" w="med" len="med"/>
            <a:tailEnd type="triangle" w="med" len="med"/>
          </a:ln>
        </p:spPr>
      </p:cxnSp>
      <p:graphicFrame>
        <p:nvGraphicFramePr>
          <p:cNvPr id="548" name="Google Shape;548;p42"/>
          <p:cNvGraphicFramePr/>
          <p:nvPr/>
        </p:nvGraphicFramePr>
        <p:xfrm>
          <a:off x="1037138" y="3222675"/>
          <a:ext cx="7069725" cy="2019064"/>
        </p:xfrm>
        <a:graphic>
          <a:graphicData uri="http://schemas.openxmlformats.org/drawingml/2006/table">
            <a:tbl>
              <a:tblPr>
                <a:noFill/>
                <a:tableStyleId>{712A25F6-365B-4CE5-B9C8-0CC15657493F}</a:tableStyleId>
              </a:tblPr>
              <a:tblGrid>
                <a:gridCol w="977925">
                  <a:extLst>
                    <a:ext uri="{9D8B030D-6E8A-4147-A177-3AD203B41FA5}">
                      <a16:colId xmlns:a16="http://schemas.microsoft.com/office/drawing/2014/main" val="20000"/>
                    </a:ext>
                  </a:extLst>
                </a:gridCol>
                <a:gridCol w="6091800">
                  <a:extLst>
                    <a:ext uri="{9D8B030D-6E8A-4147-A177-3AD203B41FA5}">
                      <a16:colId xmlns:a16="http://schemas.microsoft.com/office/drawing/2014/main" val="20001"/>
                    </a:ext>
                  </a:extLst>
                </a:gridCol>
              </a:tblGrid>
              <a:tr h="223950">
                <a:tc>
                  <a:txBody>
                    <a:bodyPr/>
                    <a:lstStyle/>
                    <a:p>
                      <a:pPr marL="0" lvl="0" indent="0" algn="ctr" rtl="0">
                        <a:lnSpc>
                          <a:spcPct val="30000"/>
                        </a:lnSpc>
                        <a:spcBef>
                          <a:spcPts val="0"/>
                        </a:spcBef>
                        <a:spcAft>
                          <a:spcPts val="0"/>
                        </a:spcAft>
                        <a:buNone/>
                      </a:pPr>
                      <a:r>
                        <a:rPr lang="en" sz="1100" b="1"/>
                        <a:t>Qualifier</a:t>
                      </a:r>
                      <a:endParaRPr sz="1100" b="1"/>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tc>
                  <a:txBody>
                    <a:bodyPr/>
                    <a:lstStyle/>
                    <a:p>
                      <a:pPr marL="0" lvl="0" indent="0" algn="ctr" rtl="0">
                        <a:lnSpc>
                          <a:spcPct val="30000"/>
                        </a:lnSpc>
                        <a:spcBef>
                          <a:spcPts val="0"/>
                        </a:spcBef>
                        <a:spcAft>
                          <a:spcPts val="0"/>
                        </a:spcAft>
                        <a:buNone/>
                      </a:pPr>
                      <a:r>
                        <a:rPr lang="en" sz="1100" b="1"/>
                        <a:t>Semantic</a:t>
                      </a:r>
                      <a:endParaRPr sz="1100" b="1"/>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223950">
                <a:tc>
                  <a:txBody>
                    <a:bodyPr/>
                    <a:lstStyle/>
                    <a:p>
                      <a:pPr marL="0" lvl="0" indent="0" algn="l" rtl="0">
                        <a:lnSpc>
                          <a:spcPct val="30000"/>
                        </a:lnSpc>
                        <a:spcBef>
                          <a:spcPts val="0"/>
                        </a:spcBef>
                        <a:spcAft>
                          <a:spcPts val="0"/>
                        </a:spcAft>
                        <a:buNone/>
                      </a:pPr>
                      <a:r>
                        <a:rPr lang="en" sz="1100">
                          <a:solidFill>
                            <a:srgbClr val="38761D"/>
                          </a:solidFill>
                        </a:rPr>
                        <a:t>val</a:t>
                      </a:r>
                      <a:endParaRPr sz="1100">
                        <a:solidFill>
                          <a:srgbClr val="38761D"/>
                        </a:solidFill>
                      </a:endParaRPr>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tcPr>
                </a:tc>
                <a:tc>
                  <a:txBody>
                    <a:bodyPr/>
                    <a:lstStyle/>
                    <a:p>
                      <a:pPr marL="0" lvl="0" indent="0" algn="l" rtl="0">
                        <a:lnSpc>
                          <a:spcPct val="30000"/>
                        </a:lnSpc>
                        <a:spcBef>
                          <a:spcPts val="0"/>
                        </a:spcBef>
                        <a:spcAft>
                          <a:spcPts val="0"/>
                        </a:spcAft>
                        <a:buNone/>
                      </a:pPr>
                      <a:r>
                        <a:rPr lang="en" sz="1100">
                          <a:solidFill>
                            <a:srgbClr val="38761D"/>
                          </a:solidFill>
                        </a:rPr>
                        <a:t>Access the input value by name in the process script.</a:t>
                      </a:r>
                      <a:endParaRPr sz="1100">
                        <a:solidFill>
                          <a:srgbClr val="38761D"/>
                        </a:solidFill>
                      </a:endParaRPr>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223950">
                <a:tc>
                  <a:txBody>
                    <a:bodyPr/>
                    <a:lstStyle/>
                    <a:p>
                      <a:pPr marL="0" lvl="0" indent="0" algn="l" rtl="0">
                        <a:lnSpc>
                          <a:spcPct val="30000"/>
                        </a:lnSpc>
                        <a:spcBef>
                          <a:spcPts val="0"/>
                        </a:spcBef>
                        <a:spcAft>
                          <a:spcPts val="0"/>
                        </a:spcAft>
                        <a:buNone/>
                      </a:pPr>
                      <a:r>
                        <a:rPr lang="en" sz="1100">
                          <a:solidFill>
                            <a:srgbClr val="38761D"/>
                          </a:solidFill>
                        </a:rPr>
                        <a:t>file</a:t>
                      </a:r>
                      <a:endParaRPr sz="1100">
                        <a:solidFill>
                          <a:srgbClr val="38761D"/>
                        </a:solidFill>
                      </a:endParaRPr>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tcPr>
                </a:tc>
                <a:tc>
                  <a:txBody>
                    <a:bodyPr/>
                    <a:lstStyle/>
                    <a:p>
                      <a:pPr marL="0" lvl="0" indent="0" algn="l" rtl="0">
                        <a:lnSpc>
                          <a:spcPct val="30000"/>
                        </a:lnSpc>
                        <a:spcBef>
                          <a:spcPts val="0"/>
                        </a:spcBef>
                        <a:spcAft>
                          <a:spcPts val="0"/>
                        </a:spcAft>
                        <a:buNone/>
                      </a:pPr>
                      <a:r>
                        <a:rPr lang="en" sz="1100">
                          <a:solidFill>
                            <a:srgbClr val="38761D"/>
                          </a:solidFill>
                        </a:rPr>
                        <a:t>(DEPRECATED) Handle the input value as a file, staging it properly in the execution context.</a:t>
                      </a:r>
                      <a:endParaRPr sz="1100">
                        <a:solidFill>
                          <a:srgbClr val="38761D"/>
                        </a:solidFill>
                      </a:endParaRPr>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tcPr>
                </a:tc>
                <a:extLst>
                  <a:ext uri="{0D108BD9-81ED-4DB2-BD59-A6C34878D82A}">
                    <a16:rowId xmlns:a16="http://schemas.microsoft.com/office/drawing/2014/main" val="10002"/>
                  </a:ext>
                </a:extLst>
              </a:tr>
              <a:tr h="223950">
                <a:tc>
                  <a:txBody>
                    <a:bodyPr/>
                    <a:lstStyle/>
                    <a:p>
                      <a:pPr marL="0" lvl="0" indent="0" algn="l" rtl="0">
                        <a:lnSpc>
                          <a:spcPct val="30000"/>
                        </a:lnSpc>
                        <a:spcBef>
                          <a:spcPts val="0"/>
                        </a:spcBef>
                        <a:spcAft>
                          <a:spcPts val="0"/>
                        </a:spcAft>
                        <a:buNone/>
                      </a:pPr>
                      <a:r>
                        <a:rPr lang="en" sz="1100">
                          <a:solidFill>
                            <a:srgbClr val="38761D"/>
                          </a:solidFill>
                        </a:rPr>
                        <a:t>path</a:t>
                      </a:r>
                      <a:endParaRPr sz="1100">
                        <a:solidFill>
                          <a:srgbClr val="38761D"/>
                        </a:solidFill>
                      </a:endParaRPr>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tcPr>
                </a:tc>
                <a:tc>
                  <a:txBody>
                    <a:bodyPr/>
                    <a:lstStyle/>
                    <a:p>
                      <a:pPr marL="0" lvl="0" indent="0" algn="l" rtl="0">
                        <a:lnSpc>
                          <a:spcPct val="30000"/>
                        </a:lnSpc>
                        <a:spcBef>
                          <a:spcPts val="0"/>
                        </a:spcBef>
                        <a:spcAft>
                          <a:spcPts val="0"/>
                        </a:spcAft>
                        <a:buNone/>
                      </a:pPr>
                      <a:r>
                        <a:rPr lang="en" sz="1100">
                          <a:solidFill>
                            <a:srgbClr val="38761D"/>
                          </a:solidFill>
                        </a:rPr>
                        <a:t>Handle the input value as a path, staging the file properly in the execution context.</a:t>
                      </a:r>
                      <a:endParaRPr sz="1100">
                        <a:solidFill>
                          <a:srgbClr val="38761D"/>
                        </a:solidFill>
                      </a:endParaRPr>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tcPr>
                </a:tc>
                <a:extLst>
                  <a:ext uri="{0D108BD9-81ED-4DB2-BD59-A6C34878D82A}">
                    <a16:rowId xmlns:a16="http://schemas.microsoft.com/office/drawing/2014/main" val="10003"/>
                  </a:ext>
                </a:extLst>
              </a:tr>
              <a:tr h="223950">
                <a:tc>
                  <a:txBody>
                    <a:bodyPr/>
                    <a:lstStyle/>
                    <a:p>
                      <a:pPr marL="0" lvl="0" indent="0" algn="l" rtl="0">
                        <a:lnSpc>
                          <a:spcPct val="30000"/>
                        </a:lnSpc>
                        <a:spcBef>
                          <a:spcPts val="0"/>
                        </a:spcBef>
                        <a:spcAft>
                          <a:spcPts val="0"/>
                        </a:spcAft>
                        <a:buNone/>
                      </a:pPr>
                      <a:r>
                        <a:rPr lang="en" sz="1100"/>
                        <a:t>env</a:t>
                      </a:r>
                      <a:endParaRPr sz="1100"/>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tcPr>
                </a:tc>
                <a:tc>
                  <a:txBody>
                    <a:bodyPr/>
                    <a:lstStyle/>
                    <a:p>
                      <a:pPr marL="0" lvl="0" indent="0" algn="l" rtl="0">
                        <a:lnSpc>
                          <a:spcPct val="30000"/>
                        </a:lnSpc>
                        <a:spcBef>
                          <a:spcPts val="0"/>
                        </a:spcBef>
                        <a:spcAft>
                          <a:spcPts val="0"/>
                        </a:spcAft>
                        <a:buNone/>
                      </a:pPr>
                      <a:r>
                        <a:rPr lang="en" sz="1100"/>
                        <a:t>Use the input value to set an environment variable in the process script.</a:t>
                      </a:r>
                      <a:endParaRPr sz="1100"/>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tcPr>
                </a:tc>
                <a:extLst>
                  <a:ext uri="{0D108BD9-81ED-4DB2-BD59-A6C34878D82A}">
                    <a16:rowId xmlns:a16="http://schemas.microsoft.com/office/drawing/2014/main" val="10004"/>
                  </a:ext>
                </a:extLst>
              </a:tr>
              <a:tr h="223950">
                <a:tc>
                  <a:txBody>
                    <a:bodyPr/>
                    <a:lstStyle/>
                    <a:p>
                      <a:pPr marL="0" lvl="0" indent="0" algn="l" rtl="0">
                        <a:lnSpc>
                          <a:spcPct val="30000"/>
                        </a:lnSpc>
                        <a:spcBef>
                          <a:spcPts val="0"/>
                        </a:spcBef>
                        <a:spcAft>
                          <a:spcPts val="0"/>
                        </a:spcAft>
                        <a:buNone/>
                      </a:pPr>
                      <a:r>
                        <a:rPr lang="en" sz="1100"/>
                        <a:t>stdin</a:t>
                      </a:r>
                      <a:endParaRPr sz="1100"/>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tcPr>
                </a:tc>
                <a:tc>
                  <a:txBody>
                    <a:bodyPr/>
                    <a:lstStyle/>
                    <a:p>
                      <a:pPr marL="0" lvl="0" indent="0" algn="l" rtl="0">
                        <a:lnSpc>
                          <a:spcPct val="30000"/>
                        </a:lnSpc>
                        <a:spcBef>
                          <a:spcPts val="0"/>
                        </a:spcBef>
                        <a:spcAft>
                          <a:spcPts val="0"/>
                        </a:spcAft>
                        <a:buNone/>
                      </a:pPr>
                      <a:r>
                        <a:rPr lang="en" sz="1100"/>
                        <a:t>Forward the input value to the process stdin special file.</a:t>
                      </a:r>
                      <a:endParaRPr sz="1100"/>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tcPr>
                </a:tc>
                <a:extLst>
                  <a:ext uri="{0D108BD9-81ED-4DB2-BD59-A6C34878D82A}">
                    <a16:rowId xmlns:a16="http://schemas.microsoft.com/office/drawing/2014/main" val="10005"/>
                  </a:ext>
                </a:extLst>
              </a:tr>
              <a:tr h="223950">
                <a:tc>
                  <a:txBody>
                    <a:bodyPr/>
                    <a:lstStyle/>
                    <a:p>
                      <a:pPr marL="0" lvl="0" indent="0" algn="l" rtl="0">
                        <a:lnSpc>
                          <a:spcPct val="30000"/>
                        </a:lnSpc>
                        <a:spcBef>
                          <a:spcPts val="0"/>
                        </a:spcBef>
                        <a:spcAft>
                          <a:spcPts val="0"/>
                        </a:spcAft>
                        <a:buNone/>
                      </a:pPr>
                      <a:r>
                        <a:rPr lang="en" sz="1100">
                          <a:solidFill>
                            <a:srgbClr val="38761D"/>
                          </a:solidFill>
                        </a:rPr>
                        <a:t>tuple</a:t>
                      </a:r>
                      <a:endParaRPr sz="1100">
                        <a:solidFill>
                          <a:srgbClr val="38761D"/>
                        </a:solidFill>
                      </a:endParaRPr>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tcPr>
                </a:tc>
                <a:tc>
                  <a:txBody>
                    <a:bodyPr/>
                    <a:lstStyle/>
                    <a:p>
                      <a:pPr marL="0" lvl="0" indent="0" algn="l" rtl="0">
                        <a:lnSpc>
                          <a:spcPct val="30000"/>
                        </a:lnSpc>
                        <a:spcBef>
                          <a:spcPts val="0"/>
                        </a:spcBef>
                        <a:spcAft>
                          <a:spcPts val="0"/>
                        </a:spcAft>
                        <a:buNone/>
                      </a:pPr>
                      <a:r>
                        <a:rPr lang="en" sz="1100">
                          <a:solidFill>
                            <a:srgbClr val="38761D"/>
                          </a:solidFill>
                        </a:rPr>
                        <a:t>Handle a group of input values having any of the above qualifiers.</a:t>
                      </a:r>
                      <a:endParaRPr sz="1100">
                        <a:solidFill>
                          <a:srgbClr val="38761D"/>
                        </a:solidFill>
                      </a:endParaRPr>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tcPr>
                </a:tc>
                <a:extLst>
                  <a:ext uri="{0D108BD9-81ED-4DB2-BD59-A6C34878D82A}">
                    <a16:rowId xmlns:a16="http://schemas.microsoft.com/office/drawing/2014/main" val="10006"/>
                  </a:ext>
                </a:extLst>
              </a:tr>
              <a:tr h="223950">
                <a:tc>
                  <a:txBody>
                    <a:bodyPr/>
                    <a:lstStyle/>
                    <a:p>
                      <a:pPr marL="0" lvl="0" indent="0" algn="l" rtl="0">
                        <a:lnSpc>
                          <a:spcPct val="30000"/>
                        </a:lnSpc>
                        <a:spcBef>
                          <a:spcPts val="0"/>
                        </a:spcBef>
                        <a:spcAft>
                          <a:spcPts val="0"/>
                        </a:spcAft>
                        <a:buNone/>
                      </a:pPr>
                      <a:r>
                        <a:rPr lang="en" sz="1100">
                          <a:solidFill>
                            <a:srgbClr val="38761D"/>
                          </a:solidFill>
                        </a:rPr>
                        <a:t>each</a:t>
                      </a:r>
                      <a:endParaRPr sz="1100">
                        <a:solidFill>
                          <a:srgbClr val="38761D"/>
                        </a:solidFill>
                      </a:endParaRPr>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B w="6350" cap="flat" cmpd="sng">
                      <a:solidFill>
                        <a:srgbClr val="000000"/>
                      </a:solidFill>
                      <a:prstDash val="solid"/>
                      <a:round/>
                      <a:headEnd type="none" w="sm" len="sm"/>
                      <a:tailEnd type="none" w="sm" len="sm"/>
                    </a:lnB>
                  </a:tcPr>
                </a:tc>
                <a:tc>
                  <a:txBody>
                    <a:bodyPr/>
                    <a:lstStyle/>
                    <a:p>
                      <a:pPr marL="0" lvl="0" indent="0" algn="l" rtl="0">
                        <a:lnSpc>
                          <a:spcPct val="30000"/>
                        </a:lnSpc>
                        <a:spcBef>
                          <a:spcPts val="0"/>
                        </a:spcBef>
                        <a:spcAft>
                          <a:spcPts val="0"/>
                        </a:spcAft>
                        <a:buNone/>
                      </a:pPr>
                      <a:r>
                        <a:rPr lang="en" sz="1100">
                          <a:solidFill>
                            <a:srgbClr val="38761D"/>
                          </a:solidFill>
                        </a:rPr>
                        <a:t>Execute the process for each element in the input collection.</a:t>
                      </a:r>
                      <a:endParaRPr sz="1100">
                        <a:solidFill>
                          <a:srgbClr val="38761D"/>
                        </a:solidFill>
                      </a:endParaRPr>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B w="635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cxnSp>
        <p:nvCxnSpPr>
          <p:cNvPr id="553" name="Google Shape;553;p43"/>
          <p:cNvCxnSpPr/>
          <p:nvPr/>
        </p:nvCxnSpPr>
        <p:spPr>
          <a:xfrm rot="10800000" flipH="1">
            <a:off x="505475" y="988963"/>
            <a:ext cx="486600" cy="9900"/>
          </a:xfrm>
          <a:prstGeom prst="straightConnector1">
            <a:avLst/>
          </a:prstGeom>
          <a:noFill/>
          <a:ln w="28575" cap="flat" cmpd="sng">
            <a:solidFill>
              <a:schemeClr val="dk2"/>
            </a:solidFill>
            <a:prstDash val="solid"/>
            <a:round/>
            <a:headEnd type="none" w="med" len="med"/>
            <a:tailEnd type="triangle" w="med" len="med"/>
          </a:ln>
        </p:spPr>
      </p:cxnSp>
      <p:pic>
        <p:nvPicPr>
          <p:cNvPr id="554" name="Google Shape;554;p43"/>
          <p:cNvPicPr preferRelativeResize="0"/>
          <p:nvPr/>
        </p:nvPicPr>
        <p:blipFill>
          <a:blip r:embed="rId3">
            <a:alphaModFix/>
          </a:blip>
          <a:stretch>
            <a:fillRect/>
          </a:stretch>
        </p:blipFill>
        <p:spPr>
          <a:xfrm>
            <a:off x="991975" y="644562"/>
            <a:ext cx="688700" cy="688700"/>
          </a:xfrm>
          <a:prstGeom prst="rect">
            <a:avLst/>
          </a:prstGeom>
          <a:noFill/>
          <a:ln>
            <a:noFill/>
          </a:ln>
        </p:spPr>
      </p:pic>
      <p:sp>
        <p:nvSpPr>
          <p:cNvPr id="555" name="Google Shape;555;p43"/>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Input - val</a:t>
            </a:r>
            <a:endParaRPr/>
          </a:p>
        </p:txBody>
      </p:sp>
      <p:sp>
        <p:nvSpPr>
          <p:cNvPr id="556" name="Google Shape;556;p43"/>
          <p:cNvSpPr txBox="1"/>
          <p:nvPr/>
        </p:nvSpPr>
        <p:spPr>
          <a:xfrm>
            <a:off x="686875" y="1682850"/>
            <a:ext cx="3377100" cy="12621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dirty="0"/>
              <a:t>The </a:t>
            </a:r>
            <a:r>
              <a:rPr lang="en" dirty="0" err="1"/>
              <a:t>val</a:t>
            </a:r>
            <a:r>
              <a:rPr lang="en" dirty="0"/>
              <a:t> qualifier allows you to receive data of any type as input. It can be accessed in the process script by using the specified input name</a:t>
            </a:r>
            <a:endParaRPr dirty="0"/>
          </a:p>
        </p:txBody>
      </p:sp>
      <p:sp>
        <p:nvSpPr>
          <p:cNvPr id="557" name="Google Shape;557;p43"/>
          <p:cNvSpPr txBox="1"/>
          <p:nvPr/>
        </p:nvSpPr>
        <p:spPr>
          <a:xfrm>
            <a:off x="5117225" y="463650"/>
            <a:ext cx="3480300" cy="26937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t>num = </a:t>
            </a:r>
            <a:r>
              <a:rPr lang="en" sz="1100" dirty="0" err="1"/>
              <a:t>Channel.of</a:t>
            </a:r>
            <a:r>
              <a:rPr lang="en" sz="1100" dirty="0"/>
              <a:t>( 1, 3, 5, 7 )</a:t>
            </a:r>
            <a:endParaRPr sz="1100" dirty="0"/>
          </a:p>
          <a:p>
            <a:pPr marL="0" lvl="0" indent="0" algn="l" rtl="0">
              <a:spcBef>
                <a:spcPts val="0"/>
              </a:spcBef>
              <a:spcAft>
                <a:spcPts val="0"/>
              </a:spcAft>
              <a:buNone/>
            </a:pPr>
            <a:endParaRPr sz="1100" dirty="0"/>
          </a:p>
          <a:p>
            <a:pPr marL="0" lvl="0" indent="0" algn="l" rtl="0">
              <a:spcBef>
                <a:spcPts val="0"/>
              </a:spcBef>
              <a:spcAft>
                <a:spcPts val="0"/>
              </a:spcAft>
              <a:buNone/>
            </a:pPr>
            <a:r>
              <a:rPr lang="en" sz="1100" dirty="0"/>
              <a:t>process </a:t>
            </a:r>
            <a:r>
              <a:rPr lang="en" sz="1100" dirty="0" err="1"/>
              <a:t>basicExample</a:t>
            </a:r>
            <a:r>
              <a:rPr lang="en" sz="1100" dirty="0"/>
              <a:t> {</a:t>
            </a:r>
            <a:endParaRPr sz="1100" dirty="0"/>
          </a:p>
          <a:p>
            <a:pPr marL="0" lvl="0" indent="0" algn="l" rtl="0">
              <a:spcBef>
                <a:spcPts val="0"/>
              </a:spcBef>
              <a:spcAft>
                <a:spcPts val="0"/>
              </a:spcAft>
              <a:buNone/>
            </a:pPr>
            <a:r>
              <a:rPr lang="en" sz="1100" dirty="0"/>
              <a:t>echo true</a:t>
            </a:r>
            <a:endParaRPr sz="1100" dirty="0"/>
          </a:p>
          <a:p>
            <a:pPr marL="0" lvl="0" indent="0" algn="l" rtl="0">
              <a:spcBef>
                <a:spcPts val="0"/>
              </a:spcBef>
              <a:spcAft>
                <a:spcPts val="0"/>
              </a:spcAft>
              <a:buNone/>
            </a:pPr>
            <a:endParaRPr sz="1100" dirty="0"/>
          </a:p>
          <a:p>
            <a:pPr marL="0" lvl="0" indent="0" algn="l" rtl="0">
              <a:spcBef>
                <a:spcPts val="0"/>
              </a:spcBef>
              <a:spcAft>
                <a:spcPts val="0"/>
              </a:spcAft>
              <a:buNone/>
            </a:pPr>
            <a:r>
              <a:rPr lang="en" sz="1100" dirty="0"/>
              <a:t>input:</a:t>
            </a:r>
            <a:endParaRPr sz="1100" dirty="0"/>
          </a:p>
          <a:p>
            <a:pPr marL="0" lvl="0" indent="0" algn="l" rtl="0">
              <a:spcBef>
                <a:spcPts val="0"/>
              </a:spcBef>
              <a:spcAft>
                <a:spcPts val="0"/>
              </a:spcAft>
              <a:buNone/>
            </a:pPr>
            <a:r>
              <a:rPr lang="en" sz="1100" dirty="0" err="1">
                <a:solidFill>
                  <a:srgbClr val="0000FF"/>
                </a:solidFill>
              </a:rPr>
              <a:t>val</a:t>
            </a:r>
            <a:r>
              <a:rPr lang="en" sz="1100" dirty="0">
                <a:solidFill>
                  <a:srgbClr val="0000FF"/>
                </a:solidFill>
              </a:rPr>
              <a:t> x </a:t>
            </a:r>
            <a:endParaRPr sz="1100" dirty="0">
              <a:solidFill>
                <a:srgbClr val="0000FF"/>
              </a:solidFill>
            </a:endParaRPr>
          </a:p>
          <a:p>
            <a:pPr marL="0" lvl="0" indent="0" algn="l" rtl="0">
              <a:spcBef>
                <a:spcPts val="0"/>
              </a:spcBef>
              <a:spcAft>
                <a:spcPts val="0"/>
              </a:spcAft>
              <a:buNone/>
            </a:pPr>
            <a:endParaRPr sz="1100" dirty="0"/>
          </a:p>
          <a:p>
            <a:pPr marL="0" lvl="0" indent="0" algn="l" rtl="0">
              <a:spcBef>
                <a:spcPts val="0"/>
              </a:spcBef>
              <a:spcAft>
                <a:spcPts val="0"/>
              </a:spcAft>
              <a:buNone/>
            </a:pPr>
            <a:r>
              <a:rPr lang="en" sz="1100" dirty="0"/>
              <a:t>script:</a:t>
            </a:r>
            <a:endParaRPr sz="1100" dirty="0"/>
          </a:p>
          <a:p>
            <a:pPr marL="0" lvl="0" indent="0" algn="l" rtl="0">
              <a:spcBef>
                <a:spcPts val="0"/>
              </a:spcBef>
              <a:spcAft>
                <a:spcPts val="0"/>
              </a:spcAft>
              <a:buNone/>
            </a:pPr>
            <a:r>
              <a:rPr lang="en" sz="1100" dirty="0"/>
              <a:t>"echo process job $x"</a:t>
            </a:r>
            <a:endParaRPr sz="1100" dirty="0"/>
          </a:p>
          <a:p>
            <a:pPr marL="0" lvl="0" indent="0" algn="l" rtl="0">
              <a:spcBef>
                <a:spcPts val="0"/>
              </a:spcBef>
              <a:spcAft>
                <a:spcPts val="0"/>
              </a:spcAft>
              <a:buNone/>
            </a:pPr>
            <a:r>
              <a:rPr lang="en" sz="1100" dirty="0"/>
              <a:t>}</a:t>
            </a:r>
            <a:endParaRPr sz="1100" dirty="0"/>
          </a:p>
          <a:p>
            <a:pPr marL="0" lvl="0" indent="0" algn="l" rtl="0">
              <a:spcBef>
                <a:spcPts val="0"/>
              </a:spcBef>
              <a:spcAft>
                <a:spcPts val="0"/>
              </a:spcAft>
              <a:buNone/>
            </a:pPr>
            <a:endParaRPr sz="1100" dirty="0"/>
          </a:p>
          <a:p>
            <a:pPr marL="0" lvl="0" indent="0" algn="l" rtl="0">
              <a:spcBef>
                <a:spcPts val="0"/>
              </a:spcBef>
              <a:spcAft>
                <a:spcPts val="0"/>
              </a:spcAft>
              <a:buNone/>
            </a:pPr>
            <a:r>
              <a:rPr lang="en" sz="1000" dirty="0"/>
              <a:t>workflow { </a:t>
            </a:r>
            <a:endParaRPr sz="1000" dirty="0"/>
          </a:p>
          <a:p>
            <a:pPr marL="0" lvl="0" indent="0" algn="l" rtl="0">
              <a:spcBef>
                <a:spcPts val="0"/>
              </a:spcBef>
              <a:spcAft>
                <a:spcPts val="0"/>
              </a:spcAft>
              <a:buNone/>
            </a:pPr>
            <a:r>
              <a:rPr lang="en" sz="1100" dirty="0" err="1"/>
              <a:t>basicExample</a:t>
            </a:r>
            <a:r>
              <a:rPr lang="en" sz="1000" dirty="0"/>
              <a:t>(</a:t>
            </a:r>
            <a:r>
              <a:rPr lang="en" sz="1100" dirty="0"/>
              <a:t>num</a:t>
            </a:r>
            <a:r>
              <a:rPr lang="en" sz="1000" dirty="0"/>
              <a:t>)</a:t>
            </a:r>
            <a:endParaRPr sz="1000" dirty="0"/>
          </a:p>
          <a:p>
            <a:pPr marL="0" lvl="0" indent="0" algn="l" rtl="0">
              <a:spcBef>
                <a:spcPts val="0"/>
              </a:spcBef>
              <a:spcAft>
                <a:spcPts val="0"/>
              </a:spcAft>
              <a:buNone/>
            </a:pPr>
            <a:r>
              <a:rPr lang="en" sz="1000" dirty="0"/>
              <a:t>}</a:t>
            </a:r>
            <a:endParaRPr sz="1100" dirty="0"/>
          </a:p>
        </p:txBody>
      </p:sp>
      <p:pic>
        <p:nvPicPr>
          <p:cNvPr id="558" name="Google Shape;558;p43"/>
          <p:cNvPicPr preferRelativeResize="0"/>
          <p:nvPr/>
        </p:nvPicPr>
        <p:blipFill>
          <a:blip r:embed="rId4">
            <a:alphaModFix/>
          </a:blip>
          <a:stretch>
            <a:fillRect/>
          </a:stretch>
        </p:blipFill>
        <p:spPr>
          <a:xfrm>
            <a:off x="5403925" y="3320088"/>
            <a:ext cx="2932800" cy="1170875"/>
          </a:xfrm>
          <a:prstGeom prst="rect">
            <a:avLst/>
          </a:prstGeom>
          <a:noFill/>
          <a:ln>
            <a:noFill/>
          </a:ln>
        </p:spPr>
      </p:pic>
      <p:sp>
        <p:nvSpPr>
          <p:cNvPr id="559" name="Google Shape;559;p43"/>
          <p:cNvSpPr/>
          <p:nvPr/>
        </p:nvSpPr>
        <p:spPr>
          <a:xfrm rot="-5400000">
            <a:off x="3370375" y="2874250"/>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43"/>
          <p:cNvSpPr/>
          <p:nvPr/>
        </p:nvSpPr>
        <p:spPr>
          <a:xfrm rot="-5400000">
            <a:off x="2587425" y="2874250"/>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43"/>
          <p:cNvSpPr/>
          <p:nvPr/>
        </p:nvSpPr>
        <p:spPr>
          <a:xfrm rot="-5400000">
            <a:off x="1804475" y="2874250"/>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43"/>
          <p:cNvSpPr/>
          <p:nvPr/>
        </p:nvSpPr>
        <p:spPr>
          <a:xfrm rot="-5400000">
            <a:off x="1021525" y="2874250"/>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43"/>
          <p:cNvSpPr txBox="1"/>
          <p:nvPr/>
        </p:nvSpPr>
        <p:spPr>
          <a:xfrm>
            <a:off x="1111275" y="3189575"/>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1</a:t>
            </a:r>
            <a:endParaRPr>
              <a:latin typeface="Nunito"/>
              <a:ea typeface="Nunito"/>
              <a:cs typeface="Nunito"/>
              <a:sym typeface="Nunito"/>
            </a:endParaRPr>
          </a:p>
        </p:txBody>
      </p:sp>
      <p:sp>
        <p:nvSpPr>
          <p:cNvPr id="564" name="Google Shape;564;p43"/>
          <p:cNvSpPr txBox="1"/>
          <p:nvPr/>
        </p:nvSpPr>
        <p:spPr>
          <a:xfrm>
            <a:off x="1921250" y="3189575"/>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3</a:t>
            </a:r>
            <a:endParaRPr>
              <a:latin typeface="Nunito"/>
              <a:ea typeface="Nunito"/>
              <a:cs typeface="Nunito"/>
              <a:sym typeface="Nunito"/>
            </a:endParaRPr>
          </a:p>
        </p:txBody>
      </p:sp>
      <p:sp>
        <p:nvSpPr>
          <p:cNvPr id="565" name="Google Shape;565;p43"/>
          <p:cNvSpPr txBox="1"/>
          <p:nvPr/>
        </p:nvSpPr>
        <p:spPr>
          <a:xfrm>
            <a:off x="2686175" y="3189575"/>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5</a:t>
            </a:r>
            <a:endParaRPr>
              <a:latin typeface="Nunito"/>
              <a:ea typeface="Nunito"/>
              <a:cs typeface="Nunito"/>
              <a:sym typeface="Nunito"/>
            </a:endParaRPr>
          </a:p>
        </p:txBody>
      </p:sp>
      <p:sp>
        <p:nvSpPr>
          <p:cNvPr id="566" name="Google Shape;566;p43"/>
          <p:cNvSpPr txBox="1"/>
          <p:nvPr/>
        </p:nvSpPr>
        <p:spPr>
          <a:xfrm>
            <a:off x="3451100" y="3189575"/>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7</a:t>
            </a:r>
            <a:endParaRPr>
              <a:latin typeface="Nunito"/>
              <a:ea typeface="Nunito"/>
              <a:cs typeface="Nunito"/>
              <a:sym typeface="Nunito"/>
            </a:endParaRPr>
          </a:p>
        </p:txBody>
      </p:sp>
      <p:cxnSp>
        <p:nvCxnSpPr>
          <p:cNvPr id="567" name="Google Shape;567;p43"/>
          <p:cNvCxnSpPr>
            <a:stCxn id="563" idx="2"/>
            <a:endCxn id="568" idx="0"/>
          </p:cNvCxnSpPr>
          <p:nvPr/>
        </p:nvCxnSpPr>
        <p:spPr>
          <a:xfrm flipH="1">
            <a:off x="744525" y="3589775"/>
            <a:ext cx="506400" cy="631500"/>
          </a:xfrm>
          <a:prstGeom prst="straightConnector1">
            <a:avLst/>
          </a:prstGeom>
          <a:noFill/>
          <a:ln w="9525" cap="flat" cmpd="sng">
            <a:solidFill>
              <a:schemeClr val="dk2"/>
            </a:solidFill>
            <a:prstDash val="solid"/>
            <a:round/>
            <a:headEnd type="none" w="med" len="med"/>
            <a:tailEnd type="triangle" w="med" len="med"/>
          </a:ln>
        </p:spPr>
      </p:cxnSp>
      <p:cxnSp>
        <p:nvCxnSpPr>
          <p:cNvPr id="569" name="Google Shape;569;p43"/>
          <p:cNvCxnSpPr>
            <a:stCxn id="564" idx="2"/>
            <a:endCxn id="570" idx="0"/>
          </p:cNvCxnSpPr>
          <p:nvPr/>
        </p:nvCxnSpPr>
        <p:spPr>
          <a:xfrm flipH="1">
            <a:off x="1993700" y="3589775"/>
            <a:ext cx="67200" cy="985500"/>
          </a:xfrm>
          <a:prstGeom prst="straightConnector1">
            <a:avLst/>
          </a:prstGeom>
          <a:noFill/>
          <a:ln w="9525" cap="flat" cmpd="sng">
            <a:solidFill>
              <a:schemeClr val="dk2"/>
            </a:solidFill>
            <a:prstDash val="solid"/>
            <a:round/>
            <a:headEnd type="none" w="med" len="med"/>
            <a:tailEnd type="triangle" w="med" len="med"/>
          </a:ln>
        </p:spPr>
      </p:cxnSp>
      <p:cxnSp>
        <p:nvCxnSpPr>
          <p:cNvPr id="571" name="Google Shape;571;p43"/>
          <p:cNvCxnSpPr>
            <a:stCxn id="565" idx="2"/>
            <a:endCxn id="572" idx="0"/>
          </p:cNvCxnSpPr>
          <p:nvPr/>
        </p:nvCxnSpPr>
        <p:spPr>
          <a:xfrm>
            <a:off x="2825825" y="3589775"/>
            <a:ext cx="119400" cy="597300"/>
          </a:xfrm>
          <a:prstGeom prst="straightConnector1">
            <a:avLst/>
          </a:prstGeom>
          <a:noFill/>
          <a:ln w="9525" cap="flat" cmpd="sng">
            <a:solidFill>
              <a:schemeClr val="dk2"/>
            </a:solidFill>
            <a:prstDash val="solid"/>
            <a:round/>
            <a:headEnd type="none" w="med" len="med"/>
            <a:tailEnd type="triangle" w="med" len="med"/>
          </a:ln>
        </p:spPr>
      </p:cxnSp>
      <p:cxnSp>
        <p:nvCxnSpPr>
          <p:cNvPr id="573" name="Google Shape;573;p43"/>
          <p:cNvCxnSpPr>
            <a:stCxn id="566" idx="2"/>
            <a:endCxn id="574" idx="0"/>
          </p:cNvCxnSpPr>
          <p:nvPr/>
        </p:nvCxnSpPr>
        <p:spPr>
          <a:xfrm>
            <a:off x="3590750" y="3589775"/>
            <a:ext cx="691800" cy="1032900"/>
          </a:xfrm>
          <a:prstGeom prst="straightConnector1">
            <a:avLst/>
          </a:prstGeom>
          <a:noFill/>
          <a:ln w="9525" cap="flat" cmpd="sng">
            <a:solidFill>
              <a:schemeClr val="dk2"/>
            </a:solidFill>
            <a:prstDash val="solid"/>
            <a:round/>
            <a:headEnd type="none" w="med" len="med"/>
            <a:tailEnd type="triangle" w="med" len="med"/>
          </a:ln>
        </p:spPr>
      </p:cxnSp>
      <p:sp>
        <p:nvSpPr>
          <p:cNvPr id="568" name="Google Shape;568;p43"/>
          <p:cNvSpPr txBox="1"/>
          <p:nvPr/>
        </p:nvSpPr>
        <p:spPr>
          <a:xfrm>
            <a:off x="0" y="4221275"/>
            <a:ext cx="1489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F9000"/>
                </a:solidFill>
                <a:latin typeface="Nunito"/>
                <a:ea typeface="Nunito"/>
                <a:cs typeface="Nunito"/>
                <a:sym typeface="Nunito"/>
              </a:rPr>
              <a:t>echo process job 1</a:t>
            </a:r>
            <a:endParaRPr sz="1100">
              <a:solidFill>
                <a:srgbClr val="BF9000"/>
              </a:solidFill>
              <a:latin typeface="Nunito"/>
              <a:ea typeface="Nunito"/>
              <a:cs typeface="Nunito"/>
              <a:sym typeface="Nunito"/>
            </a:endParaRPr>
          </a:p>
        </p:txBody>
      </p:sp>
      <p:sp>
        <p:nvSpPr>
          <p:cNvPr id="570" name="Google Shape;570;p43"/>
          <p:cNvSpPr txBox="1"/>
          <p:nvPr/>
        </p:nvSpPr>
        <p:spPr>
          <a:xfrm>
            <a:off x="1249025" y="4575275"/>
            <a:ext cx="1489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F9000"/>
                </a:solidFill>
                <a:latin typeface="Nunito"/>
                <a:ea typeface="Nunito"/>
                <a:cs typeface="Nunito"/>
                <a:sym typeface="Nunito"/>
              </a:rPr>
              <a:t>echo process job 3</a:t>
            </a:r>
            <a:endParaRPr sz="1100">
              <a:solidFill>
                <a:srgbClr val="BF9000"/>
              </a:solidFill>
              <a:latin typeface="Nunito"/>
              <a:ea typeface="Nunito"/>
              <a:cs typeface="Nunito"/>
              <a:sym typeface="Nunito"/>
            </a:endParaRPr>
          </a:p>
        </p:txBody>
      </p:sp>
      <p:sp>
        <p:nvSpPr>
          <p:cNvPr id="572" name="Google Shape;572;p43"/>
          <p:cNvSpPr txBox="1"/>
          <p:nvPr/>
        </p:nvSpPr>
        <p:spPr>
          <a:xfrm>
            <a:off x="2200550" y="4187075"/>
            <a:ext cx="1489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F9000"/>
                </a:solidFill>
                <a:latin typeface="Nunito"/>
                <a:ea typeface="Nunito"/>
                <a:cs typeface="Nunito"/>
                <a:sym typeface="Nunito"/>
              </a:rPr>
              <a:t>echo process job 5</a:t>
            </a:r>
            <a:endParaRPr sz="1100">
              <a:solidFill>
                <a:srgbClr val="BF9000"/>
              </a:solidFill>
              <a:latin typeface="Nunito"/>
              <a:ea typeface="Nunito"/>
              <a:cs typeface="Nunito"/>
              <a:sym typeface="Nunito"/>
            </a:endParaRPr>
          </a:p>
        </p:txBody>
      </p:sp>
      <p:sp>
        <p:nvSpPr>
          <p:cNvPr id="574" name="Google Shape;574;p43"/>
          <p:cNvSpPr txBox="1"/>
          <p:nvPr/>
        </p:nvSpPr>
        <p:spPr>
          <a:xfrm>
            <a:off x="3537800" y="4622800"/>
            <a:ext cx="1489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F9000"/>
                </a:solidFill>
                <a:latin typeface="Nunito"/>
                <a:ea typeface="Nunito"/>
                <a:cs typeface="Nunito"/>
                <a:sym typeface="Nunito"/>
              </a:rPr>
              <a:t>echo process job 7</a:t>
            </a:r>
            <a:endParaRPr sz="1100">
              <a:solidFill>
                <a:srgbClr val="BF9000"/>
              </a:solidFill>
              <a:latin typeface="Nunito"/>
              <a:ea typeface="Nunito"/>
              <a:cs typeface="Nunito"/>
              <a:sym typeface="Nunito"/>
            </a:endParaRPr>
          </a:p>
        </p:txBody>
      </p:sp>
      <p:sp>
        <p:nvSpPr>
          <p:cNvPr id="575" name="Google Shape;575;p43"/>
          <p:cNvSpPr txBox="1"/>
          <p:nvPr/>
        </p:nvSpPr>
        <p:spPr>
          <a:xfrm>
            <a:off x="543675" y="3711425"/>
            <a:ext cx="567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0B5394"/>
                </a:solidFill>
                <a:latin typeface="Nunito"/>
                <a:ea typeface="Nunito"/>
                <a:cs typeface="Nunito"/>
                <a:sym typeface="Nunito"/>
              </a:rPr>
              <a:t>x=1</a:t>
            </a:r>
            <a:endParaRPr sz="1100">
              <a:solidFill>
                <a:srgbClr val="0B5394"/>
              </a:solidFill>
              <a:latin typeface="Nunito"/>
              <a:ea typeface="Nunito"/>
              <a:cs typeface="Nunito"/>
              <a:sym typeface="Nunito"/>
            </a:endParaRPr>
          </a:p>
        </p:txBody>
      </p:sp>
      <p:sp>
        <p:nvSpPr>
          <p:cNvPr id="576" name="Google Shape;576;p43"/>
          <p:cNvSpPr txBox="1"/>
          <p:nvPr/>
        </p:nvSpPr>
        <p:spPr>
          <a:xfrm>
            <a:off x="1684750" y="3798875"/>
            <a:ext cx="567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0B5394"/>
                </a:solidFill>
                <a:latin typeface="Nunito"/>
                <a:ea typeface="Nunito"/>
                <a:cs typeface="Nunito"/>
                <a:sym typeface="Nunito"/>
              </a:rPr>
              <a:t>x=3</a:t>
            </a:r>
            <a:endParaRPr sz="1100">
              <a:solidFill>
                <a:srgbClr val="0B5394"/>
              </a:solidFill>
              <a:latin typeface="Nunito"/>
              <a:ea typeface="Nunito"/>
              <a:cs typeface="Nunito"/>
              <a:sym typeface="Nunito"/>
            </a:endParaRPr>
          </a:p>
        </p:txBody>
      </p:sp>
      <p:sp>
        <p:nvSpPr>
          <p:cNvPr id="577" name="Google Shape;577;p43"/>
          <p:cNvSpPr txBox="1"/>
          <p:nvPr/>
        </p:nvSpPr>
        <p:spPr>
          <a:xfrm>
            <a:off x="2492775" y="3798875"/>
            <a:ext cx="567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0B5394"/>
                </a:solidFill>
                <a:latin typeface="Nunito"/>
                <a:ea typeface="Nunito"/>
                <a:cs typeface="Nunito"/>
                <a:sym typeface="Nunito"/>
              </a:rPr>
              <a:t>x=5</a:t>
            </a:r>
            <a:endParaRPr sz="1100">
              <a:solidFill>
                <a:srgbClr val="0B5394"/>
              </a:solidFill>
              <a:latin typeface="Nunito"/>
              <a:ea typeface="Nunito"/>
              <a:cs typeface="Nunito"/>
              <a:sym typeface="Nunito"/>
            </a:endParaRPr>
          </a:p>
        </p:txBody>
      </p:sp>
      <p:sp>
        <p:nvSpPr>
          <p:cNvPr id="578" name="Google Shape;578;p43"/>
          <p:cNvSpPr txBox="1"/>
          <p:nvPr/>
        </p:nvSpPr>
        <p:spPr>
          <a:xfrm>
            <a:off x="3442138" y="3758200"/>
            <a:ext cx="567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0B5394"/>
                </a:solidFill>
                <a:latin typeface="Nunito"/>
                <a:ea typeface="Nunito"/>
                <a:cs typeface="Nunito"/>
                <a:sym typeface="Nunito"/>
              </a:rPr>
              <a:t>x=7</a:t>
            </a:r>
            <a:endParaRPr sz="1100">
              <a:solidFill>
                <a:srgbClr val="0B5394"/>
              </a:solidFill>
              <a:latin typeface="Nunito"/>
              <a:ea typeface="Nunito"/>
              <a:cs typeface="Nunito"/>
              <a:sym typeface="Nuni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cxnSp>
        <p:nvCxnSpPr>
          <p:cNvPr id="583" name="Google Shape;583;p44"/>
          <p:cNvCxnSpPr/>
          <p:nvPr/>
        </p:nvCxnSpPr>
        <p:spPr>
          <a:xfrm rot="10800000" flipH="1">
            <a:off x="505475" y="988963"/>
            <a:ext cx="486600" cy="9900"/>
          </a:xfrm>
          <a:prstGeom prst="straightConnector1">
            <a:avLst/>
          </a:prstGeom>
          <a:noFill/>
          <a:ln w="28575" cap="flat" cmpd="sng">
            <a:solidFill>
              <a:schemeClr val="dk2"/>
            </a:solidFill>
            <a:prstDash val="solid"/>
            <a:round/>
            <a:headEnd type="none" w="med" len="med"/>
            <a:tailEnd type="triangle" w="med" len="med"/>
          </a:ln>
        </p:spPr>
      </p:cxnSp>
      <p:pic>
        <p:nvPicPr>
          <p:cNvPr id="584" name="Google Shape;584;p44"/>
          <p:cNvPicPr preferRelativeResize="0"/>
          <p:nvPr/>
        </p:nvPicPr>
        <p:blipFill>
          <a:blip r:embed="rId3">
            <a:alphaModFix/>
          </a:blip>
          <a:stretch>
            <a:fillRect/>
          </a:stretch>
        </p:blipFill>
        <p:spPr>
          <a:xfrm>
            <a:off x="991975" y="644562"/>
            <a:ext cx="688700" cy="688700"/>
          </a:xfrm>
          <a:prstGeom prst="rect">
            <a:avLst/>
          </a:prstGeom>
          <a:noFill/>
          <a:ln>
            <a:noFill/>
          </a:ln>
        </p:spPr>
      </p:pic>
      <p:sp>
        <p:nvSpPr>
          <p:cNvPr id="585" name="Google Shape;585;p44"/>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Input - file</a:t>
            </a:r>
            <a:endParaRPr/>
          </a:p>
        </p:txBody>
      </p:sp>
      <p:sp>
        <p:nvSpPr>
          <p:cNvPr id="586" name="Google Shape;586;p44"/>
          <p:cNvSpPr txBox="1"/>
          <p:nvPr/>
        </p:nvSpPr>
        <p:spPr>
          <a:xfrm>
            <a:off x="643950" y="1578513"/>
            <a:ext cx="3711900" cy="1031400"/>
          </a:xfrm>
          <a:prstGeom prst="rect">
            <a:avLst/>
          </a:prstGeom>
          <a:noFill/>
          <a:ln>
            <a:noFill/>
          </a:ln>
        </p:spPr>
        <p:txBody>
          <a:bodyPr spcFirstLastPara="1" wrap="square" lIns="91425" tIns="91425" rIns="91425" bIns="91425" anchor="t" anchorCtr="0">
            <a:spAutoFit/>
          </a:bodyPr>
          <a:lstStyle/>
          <a:p>
            <a:pPr marL="457200" lvl="0" indent="-298450" algn="l" rtl="0">
              <a:spcBef>
                <a:spcPts val="0"/>
              </a:spcBef>
              <a:spcAft>
                <a:spcPts val="0"/>
              </a:spcAft>
              <a:buSzPts val="1100"/>
              <a:buChar char="●"/>
            </a:pPr>
            <a:r>
              <a:rPr lang="en" sz="1100" dirty="0"/>
              <a:t>The file qualifier allows the handling of file values in the process execution context. This means that </a:t>
            </a:r>
            <a:r>
              <a:rPr lang="en" sz="1100" dirty="0" err="1"/>
              <a:t>Nextflow</a:t>
            </a:r>
            <a:r>
              <a:rPr lang="en" sz="1100" dirty="0"/>
              <a:t> will stage it in the process execution directory, and it can be access in the script by using the name specified in the input declaration</a:t>
            </a:r>
            <a:endParaRPr sz="1100" dirty="0"/>
          </a:p>
        </p:txBody>
      </p:sp>
      <p:sp>
        <p:nvSpPr>
          <p:cNvPr id="587" name="Google Shape;587;p44"/>
          <p:cNvSpPr txBox="1"/>
          <p:nvPr/>
        </p:nvSpPr>
        <p:spPr>
          <a:xfrm>
            <a:off x="5117225" y="311250"/>
            <a:ext cx="3832200" cy="25752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err="1"/>
              <a:t>mzMLFiles</a:t>
            </a:r>
            <a:r>
              <a:rPr lang="en" sz="1100" dirty="0"/>
              <a:t> = </a:t>
            </a:r>
            <a:r>
              <a:rPr lang="en" sz="1100" dirty="0" err="1"/>
              <a:t>Channel.fromPath</a:t>
            </a:r>
            <a:r>
              <a:rPr lang="en" sz="1100" dirty="0"/>
              <a:t>( '/some/path/*.</a:t>
            </a:r>
            <a:r>
              <a:rPr lang="en" sz="1100" dirty="0" err="1"/>
              <a:t>mzML</a:t>
            </a:r>
            <a:r>
              <a:rPr lang="en" sz="1100" dirty="0"/>
              <a:t>' )</a:t>
            </a:r>
            <a:endParaRPr sz="1100" dirty="0"/>
          </a:p>
          <a:p>
            <a:pPr marL="0" lvl="0" indent="0" algn="l" rtl="0">
              <a:spcBef>
                <a:spcPts val="0"/>
              </a:spcBef>
              <a:spcAft>
                <a:spcPts val="0"/>
              </a:spcAft>
              <a:buNone/>
            </a:pPr>
            <a:endParaRPr sz="1100" dirty="0"/>
          </a:p>
          <a:p>
            <a:pPr marL="0" lvl="0" indent="0" algn="l" rtl="0">
              <a:spcBef>
                <a:spcPts val="0"/>
              </a:spcBef>
              <a:spcAft>
                <a:spcPts val="0"/>
              </a:spcAft>
              <a:buNone/>
            </a:pPr>
            <a:r>
              <a:rPr lang="en" sz="1100" dirty="0"/>
              <a:t>process </a:t>
            </a:r>
            <a:r>
              <a:rPr lang="en" sz="1100" dirty="0" err="1"/>
              <a:t>featureFinder</a:t>
            </a:r>
            <a:r>
              <a:rPr lang="en" sz="1100" dirty="0"/>
              <a:t> {</a:t>
            </a:r>
            <a:endParaRPr sz="1100" dirty="0"/>
          </a:p>
          <a:p>
            <a:pPr marL="0" lvl="0" indent="0" algn="l" rtl="0">
              <a:spcBef>
                <a:spcPts val="0"/>
              </a:spcBef>
              <a:spcAft>
                <a:spcPts val="0"/>
              </a:spcAft>
              <a:buNone/>
            </a:pPr>
            <a:endParaRPr sz="1100" dirty="0"/>
          </a:p>
          <a:p>
            <a:pPr marL="0" lvl="0" indent="0" algn="l" rtl="0">
              <a:spcBef>
                <a:spcPts val="0"/>
              </a:spcBef>
              <a:spcAft>
                <a:spcPts val="0"/>
              </a:spcAft>
              <a:buNone/>
            </a:pPr>
            <a:r>
              <a:rPr lang="en" sz="1100" dirty="0"/>
              <a:t>Input:</a:t>
            </a:r>
            <a:endParaRPr sz="1100" dirty="0"/>
          </a:p>
          <a:p>
            <a:pPr lvl="0"/>
            <a:r>
              <a:rPr lang="en" sz="1100" dirty="0">
                <a:solidFill>
                  <a:srgbClr val="0000FF"/>
                </a:solidFill>
              </a:rPr>
              <a:t>path </a:t>
            </a:r>
            <a:r>
              <a:rPr lang="en" sz="1100" dirty="0" err="1">
                <a:solidFill>
                  <a:srgbClr val="0000FF"/>
                </a:solidFill>
              </a:rPr>
              <a:t>mzML</a:t>
            </a:r>
            <a:endParaRPr sz="1100" dirty="0">
              <a:solidFill>
                <a:srgbClr val="0000FF"/>
              </a:solidFill>
            </a:endParaRPr>
          </a:p>
          <a:p>
            <a:pPr marL="0" lvl="0" indent="0" algn="l" rtl="0">
              <a:spcBef>
                <a:spcPts val="0"/>
              </a:spcBef>
              <a:spcAft>
                <a:spcPts val="0"/>
              </a:spcAft>
              <a:buNone/>
            </a:pPr>
            <a:endParaRPr sz="1100" dirty="0"/>
          </a:p>
          <a:p>
            <a:pPr marL="0" lvl="0" indent="0" algn="l" rtl="0">
              <a:lnSpc>
                <a:spcPct val="115000"/>
              </a:lnSpc>
              <a:spcBef>
                <a:spcPts val="0"/>
              </a:spcBef>
              <a:spcAft>
                <a:spcPts val="0"/>
              </a:spcAft>
              <a:buNone/>
            </a:pPr>
            <a:r>
              <a:rPr lang="en" sz="1100" dirty="0"/>
              <a:t>"</a:t>
            </a:r>
            <a:r>
              <a:rPr lang="en" sz="1100" dirty="0" err="1"/>
              <a:t>FeatureFinderMetabo</a:t>
            </a:r>
            <a:r>
              <a:rPr lang="en" sz="1100" dirty="0"/>
              <a:t> -in ${</a:t>
            </a:r>
            <a:r>
              <a:rPr lang="en" sz="1100" dirty="0" err="1"/>
              <a:t>mzML</a:t>
            </a:r>
            <a:r>
              <a:rPr lang="en" sz="1100" dirty="0"/>
              <a:t>} -out ${</a:t>
            </a:r>
            <a:r>
              <a:rPr lang="en" sz="1100" b="1" dirty="0" err="1"/>
              <a:t>mzML.baseName</a:t>
            </a:r>
            <a:r>
              <a:rPr lang="en" sz="1100" dirty="0"/>
              <a:t>}.</a:t>
            </a:r>
            <a:r>
              <a:rPr lang="en" sz="1100" dirty="0" err="1"/>
              <a:t>featureXML</a:t>
            </a:r>
            <a:r>
              <a:rPr lang="en" sz="1100" dirty="0"/>
              <a:t>"</a:t>
            </a:r>
            <a:endParaRPr sz="1100" dirty="0"/>
          </a:p>
          <a:p>
            <a:pPr marL="0" lvl="0" indent="0" algn="l" rtl="0">
              <a:spcBef>
                <a:spcPts val="0"/>
              </a:spcBef>
              <a:spcAft>
                <a:spcPts val="0"/>
              </a:spcAft>
              <a:buNone/>
            </a:pPr>
            <a:r>
              <a:rPr lang="en" sz="1100" dirty="0"/>
              <a:t>}</a:t>
            </a:r>
            <a:endParaRPr sz="1100" dirty="0"/>
          </a:p>
          <a:p>
            <a:pPr marL="0" lvl="0" indent="0" algn="l" rtl="0">
              <a:spcBef>
                <a:spcPts val="0"/>
              </a:spcBef>
              <a:spcAft>
                <a:spcPts val="0"/>
              </a:spcAft>
              <a:buNone/>
            </a:pPr>
            <a:endParaRPr sz="1100" dirty="0"/>
          </a:p>
          <a:p>
            <a:pPr marL="0" lvl="0" indent="0" algn="l" rtl="0">
              <a:spcBef>
                <a:spcPts val="0"/>
              </a:spcBef>
              <a:spcAft>
                <a:spcPts val="0"/>
              </a:spcAft>
              <a:buNone/>
            </a:pPr>
            <a:r>
              <a:rPr lang="en" sz="1000" dirty="0"/>
              <a:t>workflow { </a:t>
            </a:r>
            <a:endParaRPr sz="1000" dirty="0"/>
          </a:p>
          <a:p>
            <a:pPr marL="0" lvl="0" indent="0" algn="l" rtl="0">
              <a:spcBef>
                <a:spcPts val="0"/>
              </a:spcBef>
              <a:spcAft>
                <a:spcPts val="0"/>
              </a:spcAft>
              <a:buNone/>
            </a:pPr>
            <a:r>
              <a:rPr lang="en" sz="1100" dirty="0" err="1"/>
              <a:t>featureFinder</a:t>
            </a:r>
            <a:r>
              <a:rPr lang="en" sz="1000" dirty="0"/>
              <a:t>(</a:t>
            </a:r>
            <a:r>
              <a:rPr lang="en" sz="1100" dirty="0" err="1"/>
              <a:t>mzMLFiles</a:t>
            </a:r>
            <a:r>
              <a:rPr lang="en" sz="1000" dirty="0"/>
              <a:t>)</a:t>
            </a:r>
            <a:endParaRPr sz="1000" dirty="0"/>
          </a:p>
          <a:p>
            <a:pPr marL="0" lvl="0" indent="0" algn="l" rtl="0">
              <a:spcBef>
                <a:spcPts val="0"/>
              </a:spcBef>
              <a:spcAft>
                <a:spcPts val="0"/>
              </a:spcAft>
              <a:buNone/>
            </a:pPr>
            <a:r>
              <a:rPr lang="en" sz="1000" dirty="0"/>
              <a:t>}</a:t>
            </a:r>
            <a:endParaRPr sz="1000" dirty="0"/>
          </a:p>
        </p:txBody>
      </p:sp>
      <p:sp>
        <p:nvSpPr>
          <p:cNvPr id="588" name="Google Shape;588;p44"/>
          <p:cNvSpPr/>
          <p:nvPr/>
        </p:nvSpPr>
        <p:spPr>
          <a:xfrm rot="-5400000">
            <a:off x="4742500" y="273687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44"/>
          <p:cNvSpPr/>
          <p:nvPr/>
        </p:nvSpPr>
        <p:spPr>
          <a:xfrm rot="-5400000">
            <a:off x="3959550" y="273687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44"/>
          <p:cNvSpPr/>
          <p:nvPr/>
        </p:nvSpPr>
        <p:spPr>
          <a:xfrm rot="-5400000">
            <a:off x="3176600" y="273687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4"/>
          <p:cNvSpPr txBox="1"/>
          <p:nvPr/>
        </p:nvSpPr>
        <p:spPr>
          <a:xfrm>
            <a:off x="3092975" y="3064325"/>
            <a:ext cx="7317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x.mzML</a:t>
            </a:r>
            <a:endParaRPr sz="1100">
              <a:latin typeface="Nunito"/>
              <a:ea typeface="Nunito"/>
              <a:cs typeface="Nunito"/>
              <a:sym typeface="Nunito"/>
            </a:endParaRPr>
          </a:p>
        </p:txBody>
      </p:sp>
      <p:cxnSp>
        <p:nvCxnSpPr>
          <p:cNvPr id="592" name="Google Shape;592;p44"/>
          <p:cNvCxnSpPr>
            <a:stCxn id="590" idx="2"/>
            <a:endCxn id="593" idx="0"/>
          </p:cNvCxnSpPr>
          <p:nvPr/>
        </p:nvCxnSpPr>
        <p:spPr>
          <a:xfrm flipH="1">
            <a:off x="1599350" y="3430475"/>
            <a:ext cx="1766400" cy="1039800"/>
          </a:xfrm>
          <a:prstGeom prst="straightConnector1">
            <a:avLst/>
          </a:prstGeom>
          <a:noFill/>
          <a:ln w="9525" cap="flat" cmpd="sng">
            <a:solidFill>
              <a:schemeClr val="dk2"/>
            </a:solidFill>
            <a:prstDash val="solid"/>
            <a:round/>
            <a:headEnd type="none" w="med" len="med"/>
            <a:tailEnd type="triangle" w="med" len="med"/>
          </a:ln>
        </p:spPr>
      </p:cxnSp>
      <p:cxnSp>
        <p:nvCxnSpPr>
          <p:cNvPr id="594" name="Google Shape;594;p44"/>
          <p:cNvCxnSpPr>
            <a:stCxn id="589" idx="2"/>
            <a:endCxn id="595" idx="0"/>
          </p:cNvCxnSpPr>
          <p:nvPr/>
        </p:nvCxnSpPr>
        <p:spPr>
          <a:xfrm>
            <a:off x="4148700" y="3430475"/>
            <a:ext cx="87300" cy="1039800"/>
          </a:xfrm>
          <a:prstGeom prst="straightConnector1">
            <a:avLst/>
          </a:prstGeom>
          <a:noFill/>
          <a:ln w="9525" cap="flat" cmpd="sng">
            <a:solidFill>
              <a:schemeClr val="dk2"/>
            </a:solidFill>
            <a:prstDash val="solid"/>
            <a:round/>
            <a:headEnd type="none" w="med" len="med"/>
            <a:tailEnd type="triangle" w="med" len="med"/>
          </a:ln>
        </p:spPr>
      </p:cxnSp>
      <p:cxnSp>
        <p:nvCxnSpPr>
          <p:cNvPr id="596" name="Google Shape;596;p44"/>
          <p:cNvCxnSpPr>
            <a:stCxn id="588" idx="2"/>
            <a:endCxn id="597" idx="0"/>
          </p:cNvCxnSpPr>
          <p:nvPr/>
        </p:nvCxnSpPr>
        <p:spPr>
          <a:xfrm>
            <a:off x="4931650" y="3430475"/>
            <a:ext cx="2033100" cy="973200"/>
          </a:xfrm>
          <a:prstGeom prst="straightConnector1">
            <a:avLst/>
          </a:prstGeom>
          <a:noFill/>
          <a:ln w="9525" cap="flat" cmpd="sng">
            <a:solidFill>
              <a:schemeClr val="dk2"/>
            </a:solidFill>
            <a:prstDash val="solid"/>
            <a:round/>
            <a:headEnd type="none" w="med" len="med"/>
            <a:tailEnd type="triangle" w="med" len="med"/>
          </a:ln>
        </p:spPr>
      </p:cxnSp>
      <p:sp>
        <p:nvSpPr>
          <p:cNvPr id="598" name="Google Shape;598;p44"/>
          <p:cNvSpPr txBox="1"/>
          <p:nvPr/>
        </p:nvSpPr>
        <p:spPr>
          <a:xfrm>
            <a:off x="1222050" y="3767275"/>
            <a:ext cx="12279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0B5394"/>
                </a:solidFill>
                <a:latin typeface="Nunito"/>
                <a:ea typeface="Nunito"/>
                <a:cs typeface="Nunito"/>
                <a:sym typeface="Nunito"/>
              </a:rPr>
              <a:t>mzML=x.mzML</a:t>
            </a:r>
            <a:endParaRPr sz="1100">
              <a:solidFill>
                <a:srgbClr val="0B5394"/>
              </a:solidFill>
              <a:latin typeface="Nunito"/>
              <a:ea typeface="Nunito"/>
              <a:cs typeface="Nunito"/>
              <a:sym typeface="Nunito"/>
            </a:endParaRPr>
          </a:p>
        </p:txBody>
      </p:sp>
      <p:sp>
        <p:nvSpPr>
          <p:cNvPr id="599" name="Google Shape;599;p44"/>
          <p:cNvSpPr txBox="1"/>
          <p:nvPr/>
        </p:nvSpPr>
        <p:spPr>
          <a:xfrm>
            <a:off x="3887150" y="3064325"/>
            <a:ext cx="7317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y.mzML</a:t>
            </a:r>
            <a:endParaRPr sz="1100">
              <a:latin typeface="Nunito"/>
              <a:ea typeface="Nunito"/>
              <a:cs typeface="Nunito"/>
              <a:sym typeface="Nunito"/>
            </a:endParaRPr>
          </a:p>
        </p:txBody>
      </p:sp>
      <p:sp>
        <p:nvSpPr>
          <p:cNvPr id="600" name="Google Shape;600;p44"/>
          <p:cNvSpPr txBox="1"/>
          <p:nvPr/>
        </p:nvSpPr>
        <p:spPr>
          <a:xfrm>
            <a:off x="4635800" y="3064313"/>
            <a:ext cx="7317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z.mzML</a:t>
            </a:r>
            <a:endParaRPr sz="1100">
              <a:latin typeface="Nunito"/>
              <a:ea typeface="Nunito"/>
              <a:cs typeface="Nunito"/>
              <a:sym typeface="Nunito"/>
            </a:endParaRPr>
          </a:p>
        </p:txBody>
      </p:sp>
      <p:sp>
        <p:nvSpPr>
          <p:cNvPr id="593" name="Google Shape;593;p44"/>
          <p:cNvSpPr txBox="1"/>
          <p:nvPr/>
        </p:nvSpPr>
        <p:spPr>
          <a:xfrm>
            <a:off x="337100" y="4470225"/>
            <a:ext cx="25242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F9000"/>
                </a:solidFill>
              </a:rPr>
              <a:t>FeatureFinderMetabo -in x.mzML -out x.featureXML</a:t>
            </a:r>
            <a:endParaRPr sz="1100">
              <a:solidFill>
                <a:srgbClr val="BF9000"/>
              </a:solidFill>
            </a:endParaRPr>
          </a:p>
        </p:txBody>
      </p:sp>
      <p:sp>
        <p:nvSpPr>
          <p:cNvPr id="595" name="Google Shape;595;p44"/>
          <p:cNvSpPr txBox="1"/>
          <p:nvPr/>
        </p:nvSpPr>
        <p:spPr>
          <a:xfrm>
            <a:off x="2973950" y="4470225"/>
            <a:ext cx="25242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F9000"/>
                </a:solidFill>
              </a:rPr>
              <a:t>FeatureFinderMetabo -in y.mzML -out x.featureXML</a:t>
            </a:r>
            <a:endParaRPr sz="1100">
              <a:solidFill>
                <a:srgbClr val="BF9000"/>
              </a:solidFill>
            </a:endParaRPr>
          </a:p>
        </p:txBody>
      </p:sp>
      <p:sp>
        <p:nvSpPr>
          <p:cNvPr id="597" name="Google Shape;597;p44"/>
          <p:cNvSpPr txBox="1"/>
          <p:nvPr/>
        </p:nvSpPr>
        <p:spPr>
          <a:xfrm>
            <a:off x="5702525" y="4403700"/>
            <a:ext cx="25242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F9000"/>
                </a:solidFill>
              </a:rPr>
              <a:t>FeatureFinderMetabo -in z.mzML -out x.featureXML</a:t>
            </a:r>
            <a:endParaRPr sz="1100">
              <a:solidFill>
                <a:srgbClr val="BF9000"/>
              </a:solidFill>
            </a:endParaRPr>
          </a:p>
        </p:txBody>
      </p:sp>
      <p:sp>
        <p:nvSpPr>
          <p:cNvPr id="601" name="Google Shape;601;p44"/>
          <p:cNvSpPr txBox="1"/>
          <p:nvPr/>
        </p:nvSpPr>
        <p:spPr>
          <a:xfrm>
            <a:off x="3128363" y="3767275"/>
            <a:ext cx="12279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0B5394"/>
                </a:solidFill>
                <a:latin typeface="Nunito"/>
                <a:ea typeface="Nunito"/>
                <a:cs typeface="Nunito"/>
                <a:sym typeface="Nunito"/>
              </a:rPr>
              <a:t>mzML=y.mzML</a:t>
            </a:r>
            <a:endParaRPr sz="1100">
              <a:solidFill>
                <a:srgbClr val="0B5394"/>
              </a:solidFill>
              <a:latin typeface="Nunito"/>
              <a:ea typeface="Nunito"/>
              <a:cs typeface="Nunito"/>
              <a:sym typeface="Nunito"/>
            </a:endParaRPr>
          </a:p>
        </p:txBody>
      </p:sp>
      <p:sp>
        <p:nvSpPr>
          <p:cNvPr id="602" name="Google Shape;602;p44"/>
          <p:cNvSpPr txBox="1"/>
          <p:nvPr/>
        </p:nvSpPr>
        <p:spPr>
          <a:xfrm>
            <a:off x="4789500" y="3734013"/>
            <a:ext cx="12279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0B5394"/>
                </a:solidFill>
                <a:latin typeface="Nunito"/>
                <a:ea typeface="Nunito"/>
                <a:cs typeface="Nunito"/>
                <a:sym typeface="Nunito"/>
              </a:rPr>
              <a:t>mzML=z.mzML</a:t>
            </a:r>
            <a:endParaRPr sz="1100">
              <a:solidFill>
                <a:srgbClr val="0B5394"/>
              </a:solidFill>
              <a:latin typeface="Nunito"/>
              <a:ea typeface="Nunito"/>
              <a:cs typeface="Nunito"/>
              <a:sym typeface="Nuni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cxnSp>
        <p:nvCxnSpPr>
          <p:cNvPr id="607" name="Google Shape;607;p45"/>
          <p:cNvCxnSpPr/>
          <p:nvPr/>
        </p:nvCxnSpPr>
        <p:spPr>
          <a:xfrm rot="10800000" flipH="1">
            <a:off x="505475" y="988963"/>
            <a:ext cx="486600" cy="9900"/>
          </a:xfrm>
          <a:prstGeom prst="straightConnector1">
            <a:avLst/>
          </a:prstGeom>
          <a:noFill/>
          <a:ln w="28575" cap="flat" cmpd="sng">
            <a:solidFill>
              <a:schemeClr val="dk2"/>
            </a:solidFill>
            <a:prstDash val="solid"/>
            <a:round/>
            <a:headEnd type="none" w="med" len="med"/>
            <a:tailEnd type="triangle" w="med" len="med"/>
          </a:ln>
        </p:spPr>
      </p:cxnSp>
      <p:pic>
        <p:nvPicPr>
          <p:cNvPr id="608" name="Google Shape;608;p45"/>
          <p:cNvPicPr preferRelativeResize="0"/>
          <p:nvPr/>
        </p:nvPicPr>
        <p:blipFill>
          <a:blip r:embed="rId3">
            <a:alphaModFix/>
          </a:blip>
          <a:stretch>
            <a:fillRect/>
          </a:stretch>
        </p:blipFill>
        <p:spPr>
          <a:xfrm>
            <a:off x="991975" y="644562"/>
            <a:ext cx="688700" cy="688700"/>
          </a:xfrm>
          <a:prstGeom prst="rect">
            <a:avLst/>
          </a:prstGeom>
          <a:noFill/>
          <a:ln>
            <a:noFill/>
          </a:ln>
        </p:spPr>
      </p:pic>
      <p:sp>
        <p:nvSpPr>
          <p:cNvPr id="609" name="Google Shape;609;p45"/>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Input - tuple</a:t>
            </a:r>
            <a:endParaRPr/>
          </a:p>
        </p:txBody>
      </p:sp>
      <p:sp>
        <p:nvSpPr>
          <p:cNvPr id="610" name="Google Shape;610;p45"/>
          <p:cNvSpPr txBox="1"/>
          <p:nvPr/>
        </p:nvSpPr>
        <p:spPr>
          <a:xfrm>
            <a:off x="643950" y="1578513"/>
            <a:ext cx="3711900" cy="861900"/>
          </a:xfrm>
          <a:prstGeom prst="rect">
            <a:avLst/>
          </a:prstGeom>
          <a:noFill/>
          <a:ln>
            <a:noFill/>
          </a:ln>
        </p:spPr>
        <p:txBody>
          <a:bodyPr spcFirstLastPara="1" wrap="square" lIns="91425" tIns="91425" rIns="91425" bIns="91425" anchor="t" anchorCtr="0">
            <a:spAutoFit/>
          </a:bodyPr>
          <a:lstStyle/>
          <a:p>
            <a:pPr marL="457200" lvl="0" indent="-298450" algn="l" rtl="0">
              <a:spcBef>
                <a:spcPts val="0"/>
              </a:spcBef>
              <a:spcAft>
                <a:spcPts val="0"/>
              </a:spcAft>
              <a:buSzPts val="1100"/>
              <a:buChar char="●"/>
            </a:pPr>
            <a:r>
              <a:rPr lang="en" sz="1100"/>
              <a:t>The tuple qualifier allows you to group multiple parameters in a single parameter definition. It can be useful when a process receives tuples of values that need to be handled separately</a:t>
            </a:r>
            <a:endParaRPr sz="1100"/>
          </a:p>
        </p:txBody>
      </p:sp>
      <p:sp>
        <p:nvSpPr>
          <p:cNvPr id="611" name="Google Shape;611;p45"/>
          <p:cNvSpPr txBox="1"/>
          <p:nvPr/>
        </p:nvSpPr>
        <p:spPr>
          <a:xfrm>
            <a:off x="5117225" y="311250"/>
            <a:ext cx="3832200" cy="26475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t>values = </a:t>
            </a:r>
            <a:r>
              <a:rPr lang="en" sz="1000" dirty="0" err="1"/>
              <a:t>Channel.of</a:t>
            </a:r>
            <a:r>
              <a:rPr lang="en" sz="1000" dirty="0"/>
              <a:t>( [1, "</a:t>
            </a:r>
            <a:r>
              <a:rPr lang="en" sz="1000" dirty="0" err="1"/>
              <a:t>x.mzML</a:t>
            </a:r>
            <a:r>
              <a:rPr lang="en" sz="1000" dirty="0"/>
              <a:t>"], [2, '</a:t>
            </a:r>
            <a:r>
              <a:rPr lang="en" sz="1000" dirty="0" err="1"/>
              <a:t>y.mzML</a:t>
            </a:r>
            <a:r>
              <a:rPr lang="en" sz="1000" dirty="0"/>
              <a:t>'], [3,</a:t>
            </a:r>
            <a:endParaRPr sz="1000" dirty="0"/>
          </a:p>
          <a:p>
            <a:pPr marL="0" lvl="0" indent="0" algn="l" rtl="0">
              <a:spcBef>
                <a:spcPts val="0"/>
              </a:spcBef>
              <a:spcAft>
                <a:spcPts val="0"/>
              </a:spcAft>
              <a:buNone/>
            </a:pPr>
            <a:r>
              <a:rPr lang="en" sz="1000" dirty="0"/>
              <a:t> '</a:t>
            </a:r>
            <a:r>
              <a:rPr lang="en" sz="1000" dirty="0" err="1"/>
              <a:t>z.mzML</a:t>
            </a:r>
            <a:r>
              <a:rPr lang="en" sz="1000" dirty="0"/>
              <a:t>'] )</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process </a:t>
            </a:r>
            <a:r>
              <a:rPr lang="en" sz="1000" dirty="0" err="1"/>
              <a:t>tupleExample</a:t>
            </a:r>
            <a:r>
              <a:rPr lang="en" sz="1000" dirty="0"/>
              <a:t> {</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input:</a:t>
            </a:r>
            <a:endParaRPr sz="1000" dirty="0"/>
          </a:p>
          <a:p>
            <a:pPr lvl="0"/>
            <a:r>
              <a:rPr lang="en" sz="1000" dirty="0">
                <a:solidFill>
                  <a:srgbClr val="0000FF"/>
                </a:solidFill>
              </a:rPr>
              <a:t>tuple </a:t>
            </a:r>
            <a:r>
              <a:rPr lang="en" sz="1000" dirty="0" err="1">
                <a:solidFill>
                  <a:srgbClr val="0000FF"/>
                </a:solidFill>
              </a:rPr>
              <a:t>val</a:t>
            </a:r>
            <a:r>
              <a:rPr lang="en" sz="1000" dirty="0">
                <a:solidFill>
                  <a:srgbClr val="0000FF"/>
                </a:solidFill>
              </a:rPr>
              <a:t>(x), path(</a:t>
            </a:r>
            <a:r>
              <a:rPr lang="en" sz="1000" dirty="0" err="1">
                <a:solidFill>
                  <a:srgbClr val="0000FF"/>
                </a:solidFill>
              </a:rPr>
              <a:t>fl</a:t>
            </a:r>
            <a:r>
              <a:rPr lang="en" sz="1000" dirty="0">
                <a:solidFill>
                  <a:srgbClr val="0000FF"/>
                </a:solidFill>
              </a:rPr>
              <a:t>)</a:t>
            </a:r>
            <a:endParaRPr sz="1000" dirty="0">
              <a:solidFill>
                <a:srgbClr val="0000FF"/>
              </a:solidFill>
            </a:endParaRPr>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 """</a:t>
            </a:r>
            <a:endParaRPr sz="1000" dirty="0"/>
          </a:p>
          <a:p>
            <a:pPr marL="0" lvl="0" indent="0" algn="l" rtl="0">
              <a:spcBef>
                <a:spcPts val="0"/>
              </a:spcBef>
              <a:spcAft>
                <a:spcPts val="0"/>
              </a:spcAft>
              <a:buNone/>
            </a:pPr>
            <a:r>
              <a:rPr lang="en" sz="1000" dirty="0"/>
              <a:t>echo Processing $x in file $</a:t>
            </a:r>
            <a:r>
              <a:rPr lang="en" sz="1000" dirty="0" err="1"/>
              <a:t>fl</a:t>
            </a:r>
            <a:endParaRPr sz="1000" dirty="0"/>
          </a:p>
          <a:p>
            <a:pPr marL="0" lvl="0" indent="0" algn="l" rtl="0">
              <a:spcBef>
                <a:spcPts val="0"/>
              </a:spcBef>
              <a:spcAft>
                <a:spcPts val="0"/>
              </a:spcAft>
              <a:buNone/>
            </a:pPr>
            <a:r>
              <a:rPr lang="en" sz="1000" dirty="0"/>
              <a:t>"""</a:t>
            </a:r>
            <a:endParaRPr sz="1000" dirty="0"/>
          </a:p>
          <a:p>
            <a:pPr marL="0" lvl="0" indent="0" algn="l" rtl="0">
              <a:spcBef>
                <a:spcPts val="0"/>
              </a:spcBef>
              <a:spcAft>
                <a:spcPts val="0"/>
              </a:spcAft>
              <a:buNone/>
            </a:pPr>
            <a:r>
              <a:rPr lang="en" sz="1000" dirty="0"/>
              <a:t> }</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workflow { </a:t>
            </a:r>
            <a:endParaRPr sz="1000" dirty="0"/>
          </a:p>
          <a:p>
            <a:pPr marL="0" lvl="0" indent="0" algn="l" rtl="0">
              <a:spcBef>
                <a:spcPts val="0"/>
              </a:spcBef>
              <a:spcAft>
                <a:spcPts val="0"/>
              </a:spcAft>
              <a:buNone/>
            </a:pPr>
            <a:r>
              <a:rPr lang="en" sz="1000" dirty="0" err="1"/>
              <a:t>tupleExample</a:t>
            </a:r>
            <a:r>
              <a:rPr lang="en" sz="1000" dirty="0"/>
              <a:t>(values)</a:t>
            </a:r>
            <a:endParaRPr sz="1000" dirty="0"/>
          </a:p>
          <a:p>
            <a:pPr marL="0" lvl="0" indent="0" algn="l" rtl="0">
              <a:spcBef>
                <a:spcPts val="0"/>
              </a:spcBef>
              <a:spcAft>
                <a:spcPts val="0"/>
              </a:spcAft>
              <a:buNone/>
            </a:pPr>
            <a:r>
              <a:rPr lang="en" sz="1000" dirty="0"/>
              <a:t>}</a:t>
            </a:r>
            <a:endParaRPr sz="1000" dirty="0"/>
          </a:p>
        </p:txBody>
      </p:sp>
      <p:sp>
        <p:nvSpPr>
          <p:cNvPr id="612" name="Google Shape;612;p45"/>
          <p:cNvSpPr/>
          <p:nvPr/>
        </p:nvSpPr>
        <p:spPr>
          <a:xfrm rot="-5400000">
            <a:off x="4742500" y="273687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45"/>
          <p:cNvSpPr/>
          <p:nvPr/>
        </p:nvSpPr>
        <p:spPr>
          <a:xfrm rot="-5400000">
            <a:off x="3959550" y="273687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45"/>
          <p:cNvSpPr/>
          <p:nvPr/>
        </p:nvSpPr>
        <p:spPr>
          <a:xfrm rot="-5400000">
            <a:off x="3176600" y="273687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5"/>
          <p:cNvSpPr txBox="1"/>
          <p:nvPr/>
        </p:nvSpPr>
        <p:spPr>
          <a:xfrm>
            <a:off x="3054500" y="3064325"/>
            <a:ext cx="8157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1:x.mzML</a:t>
            </a:r>
            <a:endParaRPr sz="1100">
              <a:latin typeface="Nunito"/>
              <a:ea typeface="Nunito"/>
              <a:cs typeface="Nunito"/>
              <a:sym typeface="Nunito"/>
            </a:endParaRPr>
          </a:p>
        </p:txBody>
      </p:sp>
      <p:cxnSp>
        <p:nvCxnSpPr>
          <p:cNvPr id="616" name="Google Shape;616;p45"/>
          <p:cNvCxnSpPr>
            <a:stCxn id="614" idx="2"/>
            <a:endCxn id="617" idx="0"/>
          </p:cNvCxnSpPr>
          <p:nvPr/>
        </p:nvCxnSpPr>
        <p:spPr>
          <a:xfrm flipH="1">
            <a:off x="1599350" y="3430475"/>
            <a:ext cx="1766400" cy="1039800"/>
          </a:xfrm>
          <a:prstGeom prst="straightConnector1">
            <a:avLst/>
          </a:prstGeom>
          <a:noFill/>
          <a:ln w="9525" cap="flat" cmpd="sng">
            <a:solidFill>
              <a:schemeClr val="dk2"/>
            </a:solidFill>
            <a:prstDash val="solid"/>
            <a:round/>
            <a:headEnd type="none" w="med" len="med"/>
            <a:tailEnd type="triangle" w="med" len="med"/>
          </a:ln>
        </p:spPr>
      </p:cxnSp>
      <p:cxnSp>
        <p:nvCxnSpPr>
          <p:cNvPr id="618" name="Google Shape;618;p45"/>
          <p:cNvCxnSpPr>
            <a:stCxn id="613" idx="2"/>
            <a:endCxn id="619" idx="0"/>
          </p:cNvCxnSpPr>
          <p:nvPr/>
        </p:nvCxnSpPr>
        <p:spPr>
          <a:xfrm>
            <a:off x="4148700" y="3430475"/>
            <a:ext cx="0" cy="1027500"/>
          </a:xfrm>
          <a:prstGeom prst="straightConnector1">
            <a:avLst/>
          </a:prstGeom>
          <a:noFill/>
          <a:ln w="9525" cap="flat" cmpd="sng">
            <a:solidFill>
              <a:schemeClr val="dk2"/>
            </a:solidFill>
            <a:prstDash val="solid"/>
            <a:round/>
            <a:headEnd type="none" w="med" len="med"/>
            <a:tailEnd type="triangle" w="med" len="med"/>
          </a:ln>
        </p:spPr>
      </p:cxnSp>
      <p:cxnSp>
        <p:nvCxnSpPr>
          <p:cNvPr id="620" name="Google Shape;620;p45"/>
          <p:cNvCxnSpPr>
            <a:stCxn id="612" idx="2"/>
            <a:endCxn id="621" idx="0"/>
          </p:cNvCxnSpPr>
          <p:nvPr/>
        </p:nvCxnSpPr>
        <p:spPr>
          <a:xfrm>
            <a:off x="4931650" y="3430475"/>
            <a:ext cx="2033100" cy="973200"/>
          </a:xfrm>
          <a:prstGeom prst="straightConnector1">
            <a:avLst/>
          </a:prstGeom>
          <a:noFill/>
          <a:ln w="9525" cap="flat" cmpd="sng">
            <a:solidFill>
              <a:schemeClr val="dk2"/>
            </a:solidFill>
            <a:prstDash val="solid"/>
            <a:round/>
            <a:headEnd type="none" w="med" len="med"/>
            <a:tailEnd type="triangle" w="med" len="med"/>
          </a:ln>
        </p:spPr>
      </p:cxnSp>
      <p:sp>
        <p:nvSpPr>
          <p:cNvPr id="622" name="Google Shape;622;p45"/>
          <p:cNvSpPr txBox="1"/>
          <p:nvPr/>
        </p:nvSpPr>
        <p:spPr>
          <a:xfrm>
            <a:off x="1374450" y="3767275"/>
            <a:ext cx="12279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0B5394"/>
                </a:solidFill>
                <a:latin typeface="Nunito"/>
                <a:ea typeface="Nunito"/>
                <a:cs typeface="Nunito"/>
                <a:sym typeface="Nunito"/>
              </a:rPr>
              <a:t>fl=x.mzML</a:t>
            </a:r>
            <a:endParaRPr sz="1100">
              <a:solidFill>
                <a:srgbClr val="0B5394"/>
              </a:solidFill>
              <a:latin typeface="Nunito"/>
              <a:ea typeface="Nunito"/>
              <a:cs typeface="Nunito"/>
              <a:sym typeface="Nunito"/>
            </a:endParaRPr>
          </a:p>
          <a:p>
            <a:pPr marL="0" lvl="0" indent="0" algn="ctr" rtl="0">
              <a:spcBef>
                <a:spcPts val="0"/>
              </a:spcBef>
              <a:spcAft>
                <a:spcPts val="0"/>
              </a:spcAft>
              <a:buNone/>
            </a:pPr>
            <a:r>
              <a:rPr lang="en" sz="1100">
                <a:solidFill>
                  <a:srgbClr val="0B5394"/>
                </a:solidFill>
                <a:latin typeface="Nunito"/>
                <a:ea typeface="Nunito"/>
                <a:cs typeface="Nunito"/>
                <a:sym typeface="Nunito"/>
              </a:rPr>
              <a:t>x=1</a:t>
            </a:r>
            <a:endParaRPr sz="1100">
              <a:solidFill>
                <a:srgbClr val="0B5394"/>
              </a:solidFill>
              <a:latin typeface="Nunito"/>
              <a:ea typeface="Nunito"/>
              <a:cs typeface="Nunito"/>
              <a:sym typeface="Nunito"/>
            </a:endParaRPr>
          </a:p>
        </p:txBody>
      </p:sp>
      <p:sp>
        <p:nvSpPr>
          <p:cNvPr id="623" name="Google Shape;623;p45"/>
          <p:cNvSpPr txBox="1"/>
          <p:nvPr/>
        </p:nvSpPr>
        <p:spPr>
          <a:xfrm>
            <a:off x="3828200" y="3064325"/>
            <a:ext cx="8157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2:y.mzML</a:t>
            </a:r>
            <a:endParaRPr sz="1100">
              <a:latin typeface="Nunito"/>
              <a:ea typeface="Nunito"/>
              <a:cs typeface="Nunito"/>
              <a:sym typeface="Nunito"/>
            </a:endParaRPr>
          </a:p>
        </p:txBody>
      </p:sp>
      <p:sp>
        <p:nvSpPr>
          <p:cNvPr id="624" name="Google Shape;624;p45"/>
          <p:cNvSpPr txBox="1"/>
          <p:nvPr/>
        </p:nvSpPr>
        <p:spPr>
          <a:xfrm>
            <a:off x="4638050" y="3064325"/>
            <a:ext cx="8601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3:z.mzML</a:t>
            </a:r>
            <a:endParaRPr sz="1100">
              <a:latin typeface="Nunito"/>
              <a:ea typeface="Nunito"/>
              <a:cs typeface="Nunito"/>
              <a:sym typeface="Nunito"/>
            </a:endParaRPr>
          </a:p>
        </p:txBody>
      </p:sp>
      <p:sp>
        <p:nvSpPr>
          <p:cNvPr id="617" name="Google Shape;617;p45"/>
          <p:cNvSpPr txBox="1"/>
          <p:nvPr/>
        </p:nvSpPr>
        <p:spPr>
          <a:xfrm>
            <a:off x="337100" y="4470225"/>
            <a:ext cx="252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F9000"/>
                </a:solidFill>
              </a:rPr>
              <a:t>echo Processing 1 in file x.mzML</a:t>
            </a:r>
            <a:endParaRPr sz="1100">
              <a:solidFill>
                <a:srgbClr val="BF9000"/>
              </a:solidFill>
            </a:endParaRPr>
          </a:p>
        </p:txBody>
      </p:sp>
      <p:sp>
        <p:nvSpPr>
          <p:cNvPr id="619" name="Google Shape;619;p45"/>
          <p:cNvSpPr txBox="1"/>
          <p:nvPr/>
        </p:nvSpPr>
        <p:spPr>
          <a:xfrm>
            <a:off x="2886600" y="4458075"/>
            <a:ext cx="252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F9000"/>
                </a:solidFill>
              </a:rPr>
              <a:t>echo Processing 2 in file y.mzML</a:t>
            </a:r>
            <a:endParaRPr sz="1100">
              <a:solidFill>
                <a:srgbClr val="BF9000"/>
              </a:solidFill>
            </a:endParaRPr>
          </a:p>
        </p:txBody>
      </p:sp>
      <p:sp>
        <p:nvSpPr>
          <p:cNvPr id="621" name="Google Shape;621;p45"/>
          <p:cNvSpPr txBox="1"/>
          <p:nvPr/>
        </p:nvSpPr>
        <p:spPr>
          <a:xfrm>
            <a:off x="5702525" y="4403700"/>
            <a:ext cx="252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F9000"/>
                </a:solidFill>
              </a:rPr>
              <a:t>echo Processing 3 in file z.mzML</a:t>
            </a:r>
            <a:endParaRPr sz="1100">
              <a:solidFill>
                <a:srgbClr val="BF9000"/>
              </a:solidFill>
            </a:endParaRPr>
          </a:p>
        </p:txBody>
      </p:sp>
      <p:sp>
        <p:nvSpPr>
          <p:cNvPr id="625" name="Google Shape;625;p45"/>
          <p:cNvSpPr txBox="1"/>
          <p:nvPr/>
        </p:nvSpPr>
        <p:spPr>
          <a:xfrm>
            <a:off x="3158163" y="3761200"/>
            <a:ext cx="12279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0B5394"/>
                </a:solidFill>
                <a:latin typeface="Nunito"/>
                <a:ea typeface="Nunito"/>
                <a:cs typeface="Nunito"/>
                <a:sym typeface="Nunito"/>
              </a:rPr>
              <a:t>fl=y.mzML</a:t>
            </a:r>
            <a:endParaRPr sz="1100">
              <a:solidFill>
                <a:srgbClr val="0B5394"/>
              </a:solidFill>
              <a:latin typeface="Nunito"/>
              <a:ea typeface="Nunito"/>
              <a:cs typeface="Nunito"/>
              <a:sym typeface="Nunito"/>
            </a:endParaRPr>
          </a:p>
          <a:p>
            <a:pPr marL="0" lvl="0" indent="0" algn="ctr" rtl="0">
              <a:spcBef>
                <a:spcPts val="0"/>
              </a:spcBef>
              <a:spcAft>
                <a:spcPts val="0"/>
              </a:spcAft>
              <a:buNone/>
            </a:pPr>
            <a:r>
              <a:rPr lang="en" sz="1100">
                <a:solidFill>
                  <a:srgbClr val="0B5394"/>
                </a:solidFill>
                <a:latin typeface="Nunito"/>
                <a:ea typeface="Nunito"/>
                <a:cs typeface="Nunito"/>
                <a:sym typeface="Nunito"/>
              </a:rPr>
              <a:t>x=2</a:t>
            </a:r>
            <a:endParaRPr sz="1100">
              <a:solidFill>
                <a:srgbClr val="0B5394"/>
              </a:solidFill>
              <a:latin typeface="Nunito"/>
              <a:ea typeface="Nunito"/>
              <a:cs typeface="Nunito"/>
              <a:sym typeface="Nunito"/>
            </a:endParaRPr>
          </a:p>
        </p:txBody>
      </p:sp>
      <p:sp>
        <p:nvSpPr>
          <p:cNvPr id="626" name="Google Shape;626;p45"/>
          <p:cNvSpPr txBox="1"/>
          <p:nvPr/>
        </p:nvSpPr>
        <p:spPr>
          <a:xfrm>
            <a:off x="4865700" y="3734013"/>
            <a:ext cx="12279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0B5394"/>
                </a:solidFill>
                <a:latin typeface="Nunito"/>
                <a:ea typeface="Nunito"/>
                <a:cs typeface="Nunito"/>
                <a:sym typeface="Nunito"/>
              </a:rPr>
              <a:t>fl=z.mzML</a:t>
            </a:r>
            <a:endParaRPr sz="1100">
              <a:solidFill>
                <a:srgbClr val="0B5394"/>
              </a:solidFill>
              <a:latin typeface="Nunito"/>
              <a:ea typeface="Nunito"/>
              <a:cs typeface="Nunito"/>
              <a:sym typeface="Nunito"/>
            </a:endParaRPr>
          </a:p>
          <a:p>
            <a:pPr marL="0" lvl="0" indent="0" algn="ctr" rtl="0">
              <a:spcBef>
                <a:spcPts val="0"/>
              </a:spcBef>
              <a:spcAft>
                <a:spcPts val="0"/>
              </a:spcAft>
              <a:buNone/>
            </a:pPr>
            <a:r>
              <a:rPr lang="en" sz="1100">
                <a:solidFill>
                  <a:srgbClr val="0B5394"/>
                </a:solidFill>
                <a:latin typeface="Nunito"/>
                <a:ea typeface="Nunito"/>
                <a:cs typeface="Nunito"/>
                <a:sym typeface="Nunito"/>
              </a:rPr>
              <a:t>x=3</a:t>
            </a:r>
            <a:endParaRPr sz="1100">
              <a:solidFill>
                <a:srgbClr val="0B5394"/>
              </a:solidFill>
              <a:latin typeface="Nunito"/>
              <a:ea typeface="Nunito"/>
              <a:cs typeface="Nunito"/>
              <a:sym typeface="Nunit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cxnSp>
        <p:nvCxnSpPr>
          <p:cNvPr id="631" name="Google Shape;631;p46"/>
          <p:cNvCxnSpPr/>
          <p:nvPr/>
        </p:nvCxnSpPr>
        <p:spPr>
          <a:xfrm rot="10800000" flipH="1">
            <a:off x="505475" y="988963"/>
            <a:ext cx="486600" cy="9900"/>
          </a:xfrm>
          <a:prstGeom prst="straightConnector1">
            <a:avLst/>
          </a:prstGeom>
          <a:noFill/>
          <a:ln w="28575" cap="flat" cmpd="sng">
            <a:solidFill>
              <a:schemeClr val="dk2"/>
            </a:solidFill>
            <a:prstDash val="solid"/>
            <a:round/>
            <a:headEnd type="none" w="med" len="med"/>
            <a:tailEnd type="triangle" w="med" len="med"/>
          </a:ln>
        </p:spPr>
      </p:cxnSp>
      <p:pic>
        <p:nvPicPr>
          <p:cNvPr id="632" name="Google Shape;632;p46"/>
          <p:cNvPicPr preferRelativeResize="0"/>
          <p:nvPr/>
        </p:nvPicPr>
        <p:blipFill>
          <a:blip r:embed="rId3">
            <a:alphaModFix/>
          </a:blip>
          <a:stretch>
            <a:fillRect/>
          </a:stretch>
        </p:blipFill>
        <p:spPr>
          <a:xfrm>
            <a:off x="991975" y="644562"/>
            <a:ext cx="688700" cy="688700"/>
          </a:xfrm>
          <a:prstGeom prst="rect">
            <a:avLst/>
          </a:prstGeom>
          <a:noFill/>
          <a:ln>
            <a:noFill/>
          </a:ln>
        </p:spPr>
      </p:pic>
      <p:sp>
        <p:nvSpPr>
          <p:cNvPr id="633" name="Google Shape;633;p46"/>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Input - each</a:t>
            </a:r>
            <a:endParaRPr/>
          </a:p>
        </p:txBody>
      </p:sp>
      <p:sp>
        <p:nvSpPr>
          <p:cNvPr id="634" name="Google Shape;634;p46"/>
          <p:cNvSpPr txBox="1"/>
          <p:nvPr/>
        </p:nvSpPr>
        <p:spPr>
          <a:xfrm>
            <a:off x="643950" y="1578513"/>
            <a:ext cx="3711900" cy="692700"/>
          </a:xfrm>
          <a:prstGeom prst="rect">
            <a:avLst/>
          </a:prstGeom>
          <a:noFill/>
          <a:ln>
            <a:noFill/>
          </a:ln>
        </p:spPr>
        <p:txBody>
          <a:bodyPr spcFirstLastPara="1" wrap="square" lIns="91425" tIns="91425" rIns="91425" bIns="91425" anchor="t" anchorCtr="0">
            <a:spAutoFit/>
          </a:bodyPr>
          <a:lstStyle/>
          <a:p>
            <a:pPr marL="457200" lvl="0" indent="-298450" algn="l" rtl="0">
              <a:spcBef>
                <a:spcPts val="0"/>
              </a:spcBef>
              <a:spcAft>
                <a:spcPts val="0"/>
              </a:spcAft>
              <a:buSzPts val="1100"/>
              <a:buChar char="●"/>
            </a:pPr>
            <a:r>
              <a:rPr lang="en" sz="1100"/>
              <a:t>The each qualifier allows you to repeat the execution of a process for each item in a collection, every time a new data is received</a:t>
            </a:r>
            <a:endParaRPr sz="1100"/>
          </a:p>
        </p:txBody>
      </p:sp>
      <p:sp>
        <p:nvSpPr>
          <p:cNvPr id="635" name="Google Shape;635;p46"/>
          <p:cNvSpPr txBox="1"/>
          <p:nvPr/>
        </p:nvSpPr>
        <p:spPr>
          <a:xfrm>
            <a:off x="5042800" y="284725"/>
            <a:ext cx="4035300" cy="28014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err="1"/>
              <a:t>mzMLFiles</a:t>
            </a:r>
            <a:r>
              <a:rPr lang="en" sz="1000" dirty="0"/>
              <a:t> = </a:t>
            </a:r>
            <a:r>
              <a:rPr lang="en" sz="1000" dirty="0" err="1"/>
              <a:t>Channel.fromPath</a:t>
            </a:r>
            <a:r>
              <a:rPr lang="en" sz="1000" dirty="0"/>
              <a:t>('../</a:t>
            </a:r>
            <a:r>
              <a:rPr lang="en" sz="1000" dirty="0" err="1"/>
              <a:t>xcms_pipeline</a:t>
            </a:r>
            <a:r>
              <a:rPr lang="en" sz="1000" dirty="0"/>
              <a:t>/test-datasets/*.*' )</a:t>
            </a:r>
            <a:endParaRPr sz="1000" dirty="0"/>
          </a:p>
          <a:p>
            <a:pPr marL="0" lvl="0" indent="0" algn="l" rtl="0">
              <a:spcBef>
                <a:spcPts val="0"/>
              </a:spcBef>
              <a:spcAft>
                <a:spcPts val="0"/>
              </a:spcAft>
              <a:buNone/>
            </a:pPr>
            <a:r>
              <a:rPr lang="en" sz="1000" dirty="0"/>
              <a:t>num = </a:t>
            </a:r>
            <a:r>
              <a:rPr lang="en" sz="1000" dirty="0" err="1"/>
              <a:t>Channel.of</a:t>
            </a:r>
            <a:r>
              <a:rPr lang="en" sz="1000" dirty="0"/>
              <a:t>( 1, 2, 3 )</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process </a:t>
            </a:r>
            <a:r>
              <a:rPr lang="en" sz="1000" dirty="0" err="1"/>
              <a:t>featureFinder</a:t>
            </a:r>
            <a:r>
              <a:rPr lang="en" sz="1000" dirty="0"/>
              <a:t> {</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input:</a:t>
            </a:r>
            <a:endParaRPr sz="1000" dirty="0"/>
          </a:p>
          <a:p>
            <a:pPr marL="0" lvl="0" indent="0" algn="l" rtl="0">
              <a:spcBef>
                <a:spcPts val="0"/>
              </a:spcBef>
              <a:spcAft>
                <a:spcPts val="0"/>
              </a:spcAft>
              <a:buNone/>
            </a:pPr>
            <a:r>
              <a:rPr lang="en" sz="1000" dirty="0">
                <a:solidFill>
                  <a:srgbClr val="0000FF"/>
                </a:solidFill>
              </a:rPr>
              <a:t>each path(x) </a:t>
            </a:r>
            <a:endParaRPr sz="1000" dirty="0">
              <a:solidFill>
                <a:srgbClr val="0000FF"/>
              </a:solidFill>
            </a:endParaRPr>
          </a:p>
          <a:p>
            <a:pPr marL="0" lvl="0" indent="0" algn="l" rtl="0">
              <a:spcBef>
                <a:spcPts val="0"/>
              </a:spcBef>
              <a:spcAft>
                <a:spcPts val="0"/>
              </a:spcAft>
              <a:buNone/>
            </a:pPr>
            <a:r>
              <a:rPr lang="en" sz="1000" dirty="0"/>
              <a:t>path y </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a:t>
            </a:r>
            <a:endParaRPr sz="1000" dirty="0"/>
          </a:p>
          <a:p>
            <a:pPr marL="0" lvl="0" indent="0" algn="l" rtl="0">
              <a:spcBef>
                <a:spcPts val="0"/>
              </a:spcBef>
              <a:spcAft>
                <a:spcPts val="0"/>
              </a:spcAft>
              <a:buNone/>
            </a:pPr>
            <a:r>
              <a:rPr lang="en" sz="1000" dirty="0"/>
              <a:t>echo value $x file $y</a:t>
            </a:r>
            <a:endParaRPr sz="1000" dirty="0"/>
          </a:p>
          <a:p>
            <a:pPr marL="0" lvl="0" indent="0" algn="l" rtl="0">
              <a:spcBef>
                <a:spcPts val="0"/>
              </a:spcBef>
              <a:spcAft>
                <a:spcPts val="0"/>
              </a:spcAft>
              <a:buNone/>
            </a:pPr>
            <a:r>
              <a:rPr lang="en" sz="1000" dirty="0"/>
              <a:t>"""</a:t>
            </a:r>
            <a:endParaRPr sz="1000" dirty="0"/>
          </a:p>
          <a:p>
            <a:pPr marL="0" lvl="0" indent="0" algn="l" rtl="0">
              <a:spcBef>
                <a:spcPts val="0"/>
              </a:spcBef>
              <a:spcAft>
                <a:spcPts val="0"/>
              </a:spcAft>
              <a:buNone/>
            </a:pPr>
            <a:r>
              <a:rPr lang="en" sz="1000" dirty="0"/>
              <a:t>}</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workflow { </a:t>
            </a:r>
            <a:endParaRPr sz="1000" dirty="0"/>
          </a:p>
          <a:p>
            <a:pPr marL="0" lvl="0" indent="0" algn="l" rtl="0">
              <a:spcBef>
                <a:spcPts val="0"/>
              </a:spcBef>
              <a:spcAft>
                <a:spcPts val="0"/>
              </a:spcAft>
              <a:buNone/>
            </a:pPr>
            <a:r>
              <a:rPr lang="en" sz="1000" dirty="0" err="1"/>
              <a:t>featureFinder</a:t>
            </a:r>
            <a:r>
              <a:rPr lang="en" sz="1000" dirty="0"/>
              <a:t>(</a:t>
            </a:r>
            <a:r>
              <a:rPr lang="en" sz="1000" dirty="0" err="1"/>
              <a:t>num,mzMLFiles</a:t>
            </a:r>
            <a:r>
              <a:rPr lang="en" sz="1000" dirty="0"/>
              <a:t>)</a:t>
            </a:r>
            <a:endParaRPr sz="1000" dirty="0"/>
          </a:p>
          <a:p>
            <a:pPr marL="0" lvl="0" indent="0" algn="l" rtl="0">
              <a:spcBef>
                <a:spcPts val="0"/>
              </a:spcBef>
              <a:spcAft>
                <a:spcPts val="0"/>
              </a:spcAft>
              <a:buNone/>
            </a:pPr>
            <a:r>
              <a:rPr lang="en" sz="1000" dirty="0"/>
              <a:t>}</a:t>
            </a:r>
            <a:endParaRPr sz="1000" dirty="0"/>
          </a:p>
        </p:txBody>
      </p:sp>
      <p:sp>
        <p:nvSpPr>
          <p:cNvPr id="636" name="Google Shape;636;p46"/>
          <p:cNvSpPr/>
          <p:nvPr/>
        </p:nvSpPr>
        <p:spPr>
          <a:xfrm rot="-5400000">
            <a:off x="2151700" y="281307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46"/>
          <p:cNvSpPr/>
          <p:nvPr/>
        </p:nvSpPr>
        <p:spPr>
          <a:xfrm rot="-5400000">
            <a:off x="1368750" y="281307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46"/>
          <p:cNvSpPr/>
          <p:nvPr/>
        </p:nvSpPr>
        <p:spPr>
          <a:xfrm rot="-5400000">
            <a:off x="585800" y="281307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46"/>
          <p:cNvSpPr txBox="1"/>
          <p:nvPr/>
        </p:nvSpPr>
        <p:spPr>
          <a:xfrm>
            <a:off x="463700" y="3140525"/>
            <a:ext cx="8157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x.mzML</a:t>
            </a:r>
            <a:endParaRPr sz="1100">
              <a:latin typeface="Nunito"/>
              <a:ea typeface="Nunito"/>
              <a:cs typeface="Nunito"/>
              <a:sym typeface="Nunito"/>
            </a:endParaRPr>
          </a:p>
        </p:txBody>
      </p:sp>
      <p:cxnSp>
        <p:nvCxnSpPr>
          <p:cNvPr id="640" name="Google Shape;640;p46"/>
          <p:cNvCxnSpPr>
            <a:stCxn id="638" idx="2"/>
            <a:endCxn id="641" idx="0"/>
          </p:cNvCxnSpPr>
          <p:nvPr/>
        </p:nvCxnSpPr>
        <p:spPr>
          <a:xfrm>
            <a:off x="774950" y="3506675"/>
            <a:ext cx="443100" cy="963600"/>
          </a:xfrm>
          <a:prstGeom prst="straightConnector1">
            <a:avLst/>
          </a:prstGeom>
          <a:noFill/>
          <a:ln w="9525" cap="flat" cmpd="sng">
            <a:solidFill>
              <a:schemeClr val="dk2"/>
            </a:solidFill>
            <a:prstDash val="solid"/>
            <a:round/>
            <a:headEnd type="none" w="med" len="med"/>
            <a:tailEnd type="triangle" w="med" len="med"/>
          </a:ln>
        </p:spPr>
      </p:cxnSp>
      <p:cxnSp>
        <p:nvCxnSpPr>
          <p:cNvPr id="642" name="Google Shape;642;p46"/>
          <p:cNvCxnSpPr>
            <a:stCxn id="637" idx="2"/>
            <a:endCxn id="643" idx="0"/>
          </p:cNvCxnSpPr>
          <p:nvPr/>
        </p:nvCxnSpPr>
        <p:spPr>
          <a:xfrm>
            <a:off x="1557900" y="3506675"/>
            <a:ext cx="1419600" cy="909300"/>
          </a:xfrm>
          <a:prstGeom prst="straightConnector1">
            <a:avLst/>
          </a:prstGeom>
          <a:noFill/>
          <a:ln w="9525" cap="flat" cmpd="sng">
            <a:solidFill>
              <a:schemeClr val="dk2"/>
            </a:solidFill>
            <a:prstDash val="solid"/>
            <a:round/>
            <a:headEnd type="none" w="med" len="med"/>
            <a:tailEnd type="triangle" w="med" len="med"/>
          </a:ln>
        </p:spPr>
      </p:cxnSp>
      <p:cxnSp>
        <p:nvCxnSpPr>
          <p:cNvPr id="644" name="Google Shape;644;p46"/>
          <p:cNvCxnSpPr>
            <a:stCxn id="636" idx="2"/>
            <a:endCxn id="645" idx="0"/>
          </p:cNvCxnSpPr>
          <p:nvPr/>
        </p:nvCxnSpPr>
        <p:spPr>
          <a:xfrm>
            <a:off x="2340850" y="3506675"/>
            <a:ext cx="2327700" cy="897000"/>
          </a:xfrm>
          <a:prstGeom prst="straightConnector1">
            <a:avLst/>
          </a:prstGeom>
          <a:noFill/>
          <a:ln w="9525" cap="flat" cmpd="sng">
            <a:solidFill>
              <a:schemeClr val="dk2"/>
            </a:solidFill>
            <a:prstDash val="solid"/>
            <a:round/>
            <a:headEnd type="none" w="med" len="med"/>
            <a:tailEnd type="triangle" w="med" len="med"/>
          </a:ln>
        </p:spPr>
      </p:cxnSp>
      <p:sp>
        <p:nvSpPr>
          <p:cNvPr id="646" name="Google Shape;646;p46"/>
          <p:cNvSpPr txBox="1"/>
          <p:nvPr/>
        </p:nvSpPr>
        <p:spPr>
          <a:xfrm>
            <a:off x="135475" y="3744925"/>
            <a:ext cx="1008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0B5394"/>
                </a:solidFill>
                <a:latin typeface="Nunito"/>
                <a:ea typeface="Nunito"/>
                <a:cs typeface="Nunito"/>
                <a:sym typeface="Nunito"/>
              </a:rPr>
              <a:t>y=x.mzML</a:t>
            </a:r>
            <a:endParaRPr sz="1100">
              <a:solidFill>
                <a:srgbClr val="0B5394"/>
              </a:solidFill>
              <a:latin typeface="Nunito"/>
              <a:ea typeface="Nunito"/>
              <a:cs typeface="Nunito"/>
              <a:sym typeface="Nunito"/>
            </a:endParaRPr>
          </a:p>
        </p:txBody>
      </p:sp>
      <p:sp>
        <p:nvSpPr>
          <p:cNvPr id="647" name="Google Shape;647;p46"/>
          <p:cNvSpPr txBox="1"/>
          <p:nvPr/>
        </p:nvSpPr>
        <p:spPr>
          <a:xfrm>
            <a:off x="1237400" y="3140525"/>
            <a:ext cx="8157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y.mzML</a:t>
            </a:r>
            <a:endParaRPr sz="1100">
              <a:latin typeface="Nunito"/>
              <a:ea typeface="Nunito"/>
              <a:cs typeface="Nunito"/>
              <a:sym typeface="Nunito"/>
            </a:endParaRPr>
          </a:p>
        </p:txBody>
      </p:sp>
      <p:sp>
        <p:nvSpPr>
          <p:cNvPr id="648" name="Google Shape;648;p46"/>
          <p:cNvSpPr txBox="1"/>
          <p:nvPr/>
        </p:nvSpPr>
        <p:spPr>
          <a:xfrm>
            <a:off x="2047250" y="3140525"/>
            <a:ext cx="8601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z.mzML</a:t>
            </a:r>
            <a:endParaRPr sz="1100">
              <a:latin typeface="Nunito"/>
              <a:ea typeface="Nunito"/>
              <a:cs typeface="Nunito"/>
              <a:sym typeface="Nunito"/>
            </a:endParaRPr>
          </a:p>
        </p:txBody>
      </p:sp>
      <p:sp>
        <p:nvSpPr>
          <p:cNvPr id="641" name="Google Shape;641;p46"/>
          <p:cNvSpPr txBox="1"/>
          <p:nvPr/>
        </p:nvSpPr>
        <p:spPr>
          <a:xfrm>
            <a:off x="337100" y="4470225"/>
            <a:ext cx="1761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F9000"/>
                </a:solidFill>
              </a:rPr>
              <a:t>echo value 1 file x.mzML</a:t>
            </a:r>
            <a:endParaRPr sz="1100">
              <a:solidFill>
                <a:srgbClr val="BF9000"/>
              </a:solidFill>
            </a:endParaRPr>
          </a:p>
        </p:txBody>
      </p:sp>
      <p:sp>
        <p:nvSpPr>
          <p:cNvPr id="643" name="Google Shape;643;p46"/>
          <p:cNvSpPr txBox="1"/>
          <p:nvPr/>
        </p:nvSpPr>
        <p:spPr>
          <a:xfrm>
            <a:off x="2096700" y="4415825"/>
            <a:ext cx="1761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F9000"/>
                </a:solidFill>
              </a:rPr>
              <a:t>echo value 1 file y.mzML</a:t>
            </a:r>
            <a:endParaRPr sz="1100">
              <a:solidFill>
                <a:srgbClr val="BF9000"/>
              </a:solidFill>
            </a:endParaRPr>
          </a:p>
        </p:txBody>
      </p:sp>
      <p:sp>
        <p:nvSpPr>
          <p:cNvPr id="645" name="Google Shape;645;p46"/>
          <p:cNvSpPr txBox="1"/>
          <p:nvPr/>
        </p:nvSpPr>
        <p:spPr>
          <a:xfrm>
            <a:off x="3787875" y="4403675"/>
            <a:ext cx="1761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F9000"/>
                </a:solidFill>
              </a:rPr>
              <a:t>echo value 1 file z.mzML</a:t>
            </a:r>
            <a:endParaRPr sz="1100">
              <a:solidFill>
                <a:srgbClr val="BF9000"/>
              </a:solidFill>
            </a:endParaRPr>
          </a:p>
        </p:txBody>
      </p:sp>
      <p:sp>
        <p:nvSpPr>
          <p:cNvPr id="649" name="Google Shape;649;p46"/>
          <p:cNvSpPr/>
          <p:nvPr/>
        </p:nvSpPr>
        <p:spPr>
          <a:xfrm rot="-5400000">
            <a:off x="7121525" y="275867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46"/>
          <p:cNvSpPr/>
          <p:nvPr/>
        </p:nvSpPr>
        <p:spPr>
          <a:xfrm rot="-5400000">
            <a:off x="6338575" y="275867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46"/>
          <p:cNvSpPr/>
          <p:nvPr/>
        </p:nvSpPr>
        <p:spPr>
          <a:xfrm rot="-5400000">
            <a:off x="5555625" y="275867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6"/>
          <p:cNvSpPr txBox="1"/>
          <p:nvPr/>
        </p:nvSpPr>
        <p:spPr>
          <a:xfrm>
            <a:off x="5433525" y="3086125"/>
            <a:ext cx="8157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latin typeface="Nunito"/>
                <a:ea typeface="Nunito"/>
                <a:cs typeface="Nunito"/>
                <a:sym typeface="Nunito"/>
              </a:rPr>
              <a:t>1</a:t>
            </a:r>
            <a:endParaRPr sz="1100">
              <a:latin typeface="Nunito"/>
              <a:ea typeface="Nunito"/>
              <a:cs typeface="Nunito"/>
              <a:sym typeface="Nunito"/>
            </a:endParaRPr>
          </a:p>
        </p:txBody>
      </p:sp>
      <p:sp>
        <p:nvSpPr>
          <p:cNvPr id="653" name="Google Shape;653;p46"/>
          <p:cNvSpPr txBox="1"/>
          <p:nvPr/>
        </p:nvSpPr>
        <p:spPr>
          <a:xfrm>
            <a:off x="6207225" y="3086125"/>
            <a:ext cx="8157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latin typeface="Nunito"/>
                <a:ea typeface="Nunito"/>
                <a:cs typeface="Nunito"/>
                <a:sym typeface="Nunito"/>
              </a:rPr>
              <a:t>2</a:t>
            </a:r>
            <a:endParaRPr sz="1100">
              <a:latin typeface="Nunito"/>
              <a:ea typeface="Nunito"/>
              <a:cs typeface="Nunito"/>
              <a:sym typeface="Nunito"/>
            </a:endParaRPr>
          </a:p>
        </p:txBody>
      </p:sp>
      <p:sp>
        <p:nvSpPr>
          <p:cNvPr id="654" name="Google Shape;654;p46"/>
          <p:cNvSpPr txBox="1"/>
          <p:nvPr/>
        </p:nvSpPr>
        <p:spPr>
          <a:xfrm>
            <a:off x="7017075" y="3086125"/>
            <a:ext cx="8601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latin typeface="Nunito"/>
                <a:ea typeface="Nunito"/>
                <a:cs typeface="Nunito"/>
                <a:sym typeface="Nunito"/>
              </a:rPr>
              <a:t>3</a:t>
            </a:r>
            <a:endParaRPr sz="1100">
              <a:latin typeface="Nunito"/>
              <a:ea typeface="Nunito"/>
              <a:cs typeface="Nunito"/>
              <a:sym typeface="Nunito"/>
            </a:endParaRPr>
          </a:p>
        </p:txBody>
      </p:sp>
      <p:sp>
        <p:nvSpPr>
          <p:cNvPr id="655" name="Google Shape;655;p46"/>
          <p:cNvSpPr txBox="1"/>
          <p:nvPr/>
        </p:nvSpPr>
        <p:spPr>
          <a:xfrm>
            <a:off x="1188875" y="3706100"/>
            <a:ext cx="1227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0B5394"/>
                </a:solidFill>
                <a:latin typeface="Nunito"/>
                <a:ea typeface="Nunito"/>
                <a:cs typeface="Nunito"/>
                <a:sym typeface="Nunito"/>
              </a:rPr>
              <a:t>y=y.mzML</a:t>
            </a:r>
            <a:endParaRPr sz="1100">
              <a:solidFill>
                <a:srgbClr val="0B5394"/>
              </a:solidFill>
              <a:latin typeface="Nunito"/>
              <a:ea typeface="Nunito"/>
              <a:cs typeface="Nunito"/>
              <a:sym typeface="Nunito"/>
            </a:endParaRPr>
          </a:p>
        </p:txBody>
      </p:sp>
      <p:sp>
        <p:nvSpPr>
          <p:cNvPr id="656" name="Google Shape;656;p46"/>
          <p:cNvSpPr txBox="1"/>
          <p:nvPr/>
        </p:nvSpPr>
        <p:spPr>
          <a:xfrm>
            <a:off x="2232375" y="3706100"/>
            <a:ext cx="1227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0B5394"/>
                </a:solidFill>
                <a:latin typeface="Nunito"/>
                <a:ea typeface="Nunito"/>
                <a:cs typeface="Nunito"/>
                <a:sym typeface="Nunito"/>
              </a:rPr>
              <a:t>y=z.mzML</a:t>
            </a:r>
            <a:endParaRPr sz="1100">
              <a:solidFill>
                <a:srgbClr val="0B5394"/>
              </a:solidFill>
              <a:latin typeface="Nunito"/>
              <a:ea typeface="Nunito"/>
              <a:cs typeface="Nunito"/>
              <a:sym typeface="Nunito"/>
            </a:endParaRPr>
          </a:p>
        </p:txBody>
      </p:sp>
      <p:cxnSp>
        <p:nvCxnSpPr>
          <p:cNvPr id="657" name="Google Shape;657;p46"/>
          <p:cNvCxnSpPr>
            <a:stCxn id="652" idx="2"/>
            <a:endCxn id="641" idx="0"/>
          </p:cNvCxnSpPr>
          <p:nvPr/>
        </p:nvCxnSpPr>
        <p:spPr>
          <a:xfrm flipH="1">
            <a:off x="1217775" y="3440125"/>
            <a:ext cx="4623600" cy="1030200"/>
          </a:xfrm>
          <a:prstGeom prst="straightConnector1">
            <a:avLst/>
          </a:prstGeom>
          <a:noFill/>
          <a:ln w="9525" cap="flat" cmpd="sng">
            <a:solidFill>
              <a:schemeClr val="dk2"/>
            </a:solidFill>
            <a:prstDash val="solid"/>
            <a:round/>
            <a:headEnd type="none" w="med" len="med"/>
            <a:tailEnd type="triangle" w="med" len="med"/>
          </a:ln>
        </p:spPr>
      </p:cxnSp>
      <p:cxnSp>
        <p:nvCxnSpPr>
          <p:cNvPr id="658" name="Google Shape;658;p46"/>
          <p:cNvCxnSpPr>
            <a:stCxn id="653" idx="2"/>
            <a:endCxn id="643" idx="0"/>
          </p:cNvCxnSpPr>
          <p:nvPr/>
        </p:nvCxnSpPr>
        <p:spPr>
          <a:xfrm flipH="1">
            <a:off x="2977575" y="3440125"/>
            <a:ext cx="3637500" cy="975600"/>
          </a:xfrm>
          <a:prstGeom prst="straightConnector1">
            <a:avLst/>
          </a:prstGeom>
          <a:noFill/>
          <a:ln w="9525" cap="flat" cmpd="sng">
            <a:solidFill>
              <a:schemeClr val="dk2"/>
            </a:solidFill>
            <a:prstDash val="solid"/>
            <a:round/>
            <a:headEnd type="none" w="med" len="med"/>
            <a:tailEnd type="triangle" w="med" len="med"/>
          </a:ln>
        </p:spPr>
      </p:cxnSp>
      <p:cxnSp>
        <p:nvCxnSpPr>
          <p:cNvPr id="659" name="Google Shape;659;p46"/>
          <p:cNvCxnSpPr>
            <a:stCxn id="654" idx="2"/>
            <a:endCxn id="645" idx="0"/>
          </p:cNvCxnSpPr>
          <p:nvPr/>
        </p:nvCxnSpPr>
        <p:spPr>
          <a:xfrm flipH="1">
            <a:off x="4668825" y="3440125"/>
            <a:ext cx="2778300" cy="963600"/>
          </a:xfrm>
          <a:prstGeom prst="straightConnector1">
            <a:avLst/>
          </a:prstGeom>
          <a:noFill/>
          <a:ln w="9525" cap="flat" cmpd="sng">
            <a:solidFill>
              <a:schemeClr val="dk2"/>
            </a:solidFill>
            <a:prstDash val="solid"/>
            <a:round/>
            <a:headEnd type="none" w="med" len="med"/>
            <a:tailEnd type="triangle" w="med" len="med"/>
          </a:ln>
        </p:spPr>
      </p:cxnSp>
      <p:sp>
        <p:nvSpPr>
          <p:cNvPr id="660" name="Google Shape;660;p46"/>
          <p:cNvSpPr txBox="1"/>
          <p:nvPr/>
        </p:nvSpPr>
        <p:spPr>
          <a:xfrm>
            <a:off x="4474613" y="3506663"/>
            <a:ext cx="1227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0B5394"/>
                </a:solidFill>
                <a:latin typeface="Nunito"/>
                <a:ea typeface="Nunito"/>
                <a:cs typeface="Nunito"/>
                <a:sym typeface="Nunito"/>
              </a:rPr>
              <a:t>x=1</a:t>
            </a:r>
            <a:endParaRPr sz="1100">
              <a:solidFill>
                <a:srgbClr val="0B5394"/>
              </a:solidFill>
              <a:latin typeface="Nunito"/>
              <a:ea typeface="Nunito"/>
              <a:cs typeface="Nunito"/>
              <a:sym typeface="Nunito"/>
            </a:endParaRPr>
          </a:p>
        </p:txBody>
      </p:sp>
      <p:sp>
        <p:nvSpPr>
          <p:cNvPr id="661" name="Google Shape;661;p46"/>
          <p:cNvSpPr txBox="1"/>
          <p:nvPr/>
        </p:nvSpPr>
        <p:spPr>
          <a:xfrm>
            <a:off x="5359413" y="3506663"/>
            <a:ext cx="1227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0B5394"/>
                </a:solidFill>
                <a:latin typeface="Nunito"/>
                <a:ea typeface="Nunito"/>
                <a:cs typeface="Nunito"/>
                <a:sym typeface="Nunito"/>
              </a:rPr>
              <a:t>x=2</a:t>
            </a:r>
            <a:endParaRPr sz="1100">
              <a:solidFill>
                <a:srgbClr val="0B5394"/>
              </a:solidFill>
              <a:latin typeface="Nunito"/>
              <a:ea typeface="Nunito"/>
              <a:cs typeface="Nunito"/>
              <a:sym typeface="Nunito"/>
            </a:endParaRPr>
          </a:p>
        </p:txBody>
      </p:sp>
      <p:sp>
        <p:nvSpPr>
          <p:cNvPr id="662" name="Google Shape;662;p46"/>
          <p:cNvSpPr txBox="1"/>
          <p:nvPr/>
        </p:nvSpPr>
        <p:spPr>
          <a:xfrm>
            <a:off x="6399388" y="3506663"/>
            <a:ext cx="1227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0B5394"/>
                </a:solidFill>
                <a:latin typeface="Nunito"/>
                <a:ea typeface="Nunito"/>
                <a:cs typeface="Nunito"/>
                <a:sym typeface="Nunito"/>
              </a:rPr>
              <a:t>x=3</a:t>
            </a:r>
            <a:endParaRPr sz="1100">
              <a:solidFill>
                <a:srgbClr val="0B5394"/>
              </a:solidFill>
              <a:latin typeface="Nunito"/>
              <a:ea typeface="Nunito"/>
              <a:cs typeface="Nunito"/>
              <a:sym typeface="Nunito"/>
            </a:endParaRPr>
          </a:p>
        </p:txBody>
      </p:sp>
      <p:sp>
        <p:nvSpPr>
          <p:cNvPr id="663" name="Google Shape;663;p46"/>
          <p:cNvSpPr txBox="1"/>
          <p:nvPr/>
        </p:nvSpPr>
        <p:spPr>
          <a:xfrm>
            <a:off x="5549475" y="4403675"/>
            <a:ext cx="18009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F9000"/>
                </a:solidFill>
              </a:rPr>
              <a:t>echo value 2 file x.mzML</a:t>
            </a:r>
            <a:endParaRPr sz="1100">
              <a:solidFill>
                <a:srgbClr val="BF9000"/>
              </a:solidFill>
            </a:endParaRPr>
          </a:p>
        </p:txBody>
      </p:sp>
      <p:cxnSp>
        <p:nvCxnSpPr>
          <p:cNvPr id="664" name="Google Shape;664;p46"/>
          <p:cNvCxnSpPr>
            <a:endCxn id="663" idx="0"/>
          </p:cNvCxnSpPr>
          <p:nvPr/>
        </p:nvCxnSpPr>
        <p:spPr>
          <a:xfrm>
            <a:off x="5820825" y="4217075"/>
            <a:ext cx="629100" cy="186600"/>
          </a:xfrm>
          <a:prstGeom prst="straightConnector1">
            <a:avLst/>
          </a:prstGeom>
          <a:noFill/>
          <a:ln w="9525" cap="flat" cmpd="sng">
            <a:solidFill>
              <a:schemeClr val="dk2"/>
            </a:solidFill>
            <a:prstDash val="dash"/>
            <a:round/>
            <a:headEnd type="none" w="med" len="med"/>
            <a:tailEnd type="triangle" w="med" len="med"/>
          </a:ln>
        </p:spPr>
      </p:cxnSp>
      <p:cxnSp>
        <p:nvCxnSpPr>
          <p:cNvPr id="665" name="Google Shape;665;p46"/>
          <p:cNvCxnSpPr>
            <a:stCxn id="653" idx="2"/>
            <a:endCxn id="663" idx="0"/>
          </p:cNvCxnSpPr>
          <p:nvPr/>
        </p:nvCxnSpPr>
        <p:spPr>
          <a:xfrm flipH="1">
            <a:off x="6450075" y="3440125"/>
            <a:ext cx="165000" cy="963600"/>
          </a:xfrm>
          <a:prstGeom prst="straightConnector1">
            <a:avLst/>
          </a:prstGeom>
          <a:noFill/>
          <a:ln w="9525" cap="flat" cmpd="sng">
            <a:solidFill>
              <a:schemeClr val="dk2"/>
            </a:solidFill>
            <a:prstDash val="solid"/>
            <a:round/>
            <a:headEnd type="none" w="med" len="med"/>
            <a:tailEnd type="triangle" w="med" len="med"/>
          </a:ln>
        </p:spPr>
      </p:cxnSp>
      <p:sp>
        <p:nvSpPr>
          <p:cNvPr id="666" name="Google Shape;666;p46"/>
          <p:cNvSpPr txBox="1"/>
          <p:nvPr/>
        </p:nvSpPr>
        <p:spPr>
          <a:xfrm>
            <a:off x="7627300" y="4365125"/>
            <a:ext cx="350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BF9000"/>
                </a:solidFill>
              </a:rPr>
              <a:t>…</a:t>
            </a:r>
            <a:endParaRPr sz="1600">
              <a:solidFill>
                <a:srgbClr val="BF9000"/>
              </a:solidFill>
            </a:endParaRPr>
          </a:p>
        </p:txBody>
      </p:sp>
      <p:cxnSp>
        <p:nvCxnSpPr>
          <p:cNvPr id="667" name="Google Shape;667;p46"/>
          <p:cNvCxnSpPr>
            <a:endCxn id="666" idx="0"/>
          </p:cNvCxnSpPr>
          <p:nvPr/>
        </p:nvCxnSpPr>
        <p:spPr>
          <a:xfrm>
            <a:off x="7309450" y="4273025"/>
            <a:ext cx="492900" cy="92100"/>
          </a:xfrm>
          <a:prstGeom prst="straightConnector1">
            <a:avLst/>
          </a:prstGeom>
          <a:noFill/>
          <a:ln w="9525" cap="flat" cmpd="sng">
            <a:solidFill>
              <a:schemeClr val="dk2"/>
            </a:solidFill>
            <a:prstDash val="dash"/>
            <a:round/>
            <a:headEnd type="none" w="med" len="med"/>
            <a:tailEnd type="triangle" w="med" len="med"/>
          </a:ln>
        </p:spPr>
      </p:cxnSp>
      <p:cxnSp>
        <p:nvCxnSpPr>
          <p:cNvPr id="668" name="Google Shape;668;p46"/>
          <p:cNvCxnSpPr>
            <a:endCxn id="666" idx="0"/>
          </p:cNvCxnSpPr>
          <p:nvPr/>
        </p:nvCxnSpPr>
        <p:spPr>
          <a:xfrm>
            <a:off x="7738750" y="4084025"/>
            <a:ext cx="63600" cy="281100"/>
          </a:xfrm>
          <a:prstGeom prst="straightConnector1">
            <a:avLst/>
          </a:prstGeom>
          <a:noFill/>
          <a:ln w="9525" cap="flat" cmpd="sng">
            <a:solidFill>
              <a:schemeClr val="dk2"/>
            </a:solidFill>
            <a:prstDash val="dash"/>
            <a:round/>
            <a:headEnd type="none" w="med" len="med"/>
            <a:tailEnd type="triangle" w="med" len="med"/>
          </a:ln>
        </p:spPr>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53"/>
          <p:cNvSpPr txBox="1">
            <a:spLocks noGrp="1"/>
          </p:cNvSpPr>
          <p:nvPr>
            <p:ph type="body" idx="4294967295"/>
          </p:nvPr>
        </p:nvSpPr>
        <p:spPr>
          <a:xfrm>
            <a:off x="265825" y="1753525"/>
            <a:ext cx="4544700" cy="2900700"/>
          </a:xfrm>
          <a:prstGeom prst="rect">
            <a:avLst/>
          </a:prstGeom>
        </p:spPr>
        <p:txBody>
          <a:bodyPr spcFirstLastPara="1" wrap="square" lIns="91425" tIns="91425" rIns="91425" bIns="91425" anchor="t" anchorCtr="0">
            <a:normAutofit/>
          </a:bodyPr>
          <a:lstStyle/>
          <a:p>
            <a:pPr marL="457200" lvl="0" indent="-298450" algn="l" rtl="0">
              <a:lnSpc>
                <a:spcPct val="200000"/>
              </a:lnSpc>
              <a:spcBef>
                <a:spcPts val="0"/>
              </a:spcBef>
              <a:spcAft>
                <a:spcPts val="0"/>
              </a:spcAft>
              <a:buClr>
                <a:srgbClr val="000000"/>
              </a:buClr>
              <a:buSzPts val="1100"/>
              <a:buChar char="●"/>
            </a:pPr>
            <a:r>
              <a:rPr lang="en" sz="1100" dirty="0">
                <a:solidFill>
                  <a:srgbClr val="000000"/>
                </a:solidFill>
                <a:latin typeface="Arial"/>
                <a:ea typeface="Arial"/>
                <a:cs typeface="Arial"/>
                <a:sym typeface="Arial"/>
              </a:rPr>
              <a:t>The </a:t>
            </a:r>
            <a:r>
              <a:rPr lang="en" sz="1100" b="1" dirty="0">
                <a:solidFill>
                  <a:srgbClr val="000000"/>
                </a:solidFill>
                <a:latin typeface="Arial"/>
                <a:ea typeface="Arial"/>
                <a:cs typeface="Arial"/>
                <a:sym typeface="Arial"/>
              </a:rPr>
              <a:t>when</a:t>
            </a:r>
            <a:r>
              <a:rPr lang="en" sz="1100" dirty="0">
                <a:solidFill>
                  <a:srgbClr val="000000"/>
                </a:solidFill>
                <a:latin typeface="Arial"/>
                <a:ea typeface="Arial"/>
                <a:cs typeface="Arial"/>
                <a:sym typeface="Arial"/>
              </a:rPr>
              <a:t> declaration defines a condition that must be verified in order to execute the process. This can be any expression that evaluates a </a:t>
            </a:r>
            <a:r>
              <a:rPr lang="en" sz="1100" dirty="0" err="1">
                <a:solidFill>
                  <a:srgbClr val="000000"/>
                </a:solidFill>
                <a:latin typeface="Arial"/>
                <a:ea typeface="Arial"/>
                <a:cs typeface="Arial"/>
                <a:sym typeface="Arial"/>
              </a:rPr>
              <a:t>boolean</a:t>
            </a:r>
            <a:r>
              <a:rPr lang="en" sz="1100" dirty="0">
                <a:solidFill>
                  <a:srgbClr val="000000"/>
                </a:solidFill>
                <a:latin typeface="Arial"/>
                <a:ea typeface="Arial"/>
                <a:cs typeface="Arial"/>
                <a:sym typeface="Arial"/>
              </a:rPr>
              <a:t> value</a:t>
            </a:r>
            <a:endParaRPr sz="1100" dirty="0">
              <a:solidFill>
                <a:srgbClr val="000000"/>
              </a:solidFill>
              <a:latin typeface="Arial"/>
              <a:ea typeface="Arial"/>
              <a:cs typeface="Arial"/>
              <a:sym typeface="Arial"/>
            </a:endParaRPr>
          </a:p>
          <a:p>
            <a:pPr marL="457200" lvl="0" indent="-298450" algn="l" rtl="0">
              <a:lnSpc>
                <a:spcPct val="200000"/>
              </a:lnSpc>
              <a:spcBef>
                <a:spcPts val="0"/>
              </a:spcBef>
              <a:spcAft>
                <a:spcPts val="0"/>
              </a:spcAft>
              <a:buClr>
                <a:srgbClr val="000000"/>
              </a:buClr>
              <a:buSzPts val="1100"/>
              <a:buFont typeface="Arial"/>
              <a:buChar char="●"/>
            </a:pPr>
            <a:r>
              <a:rPr lang="en" sz="1100" dirty="0">
                <a:solidFill>
                  <a:srgbClr val="000000"/>
                </a:solidFill>
                <a:latin typeface="Arial"/>
                <a:ea typeface="Arial"/>
                <a:cs typeface="Arial"/>
                <a:sym typeface="Arial"/>
              </a:rPr>
              <a:t>It is useful to enable/disable the process execution depending on the state of various inputs and parameters.</a:t>
            </a:r>
            <a:endParaRPr sz="1100" dirty="0">
              <a:solidFill>
                <a:srgbClr val="000000"/>
              </a:solidFill>
              <a:latin typeface="Arial"/>
              <a:ea typeface="Arial"/>
              <a:cs typeface="Arial"/>
              <a:sym typeface="Arial"/>
            </a:endParaRPr>
          </a:p>
          <a:p>
            <a:pPr marL="457200" lvl="0" indent="-298450" algn="l" rtl="0">
              <a:lnSpc>
                <a:spcPct val="200000"/>
              </a:lnSpc>
              <a:spcBef>
                <a:spcPts val="0"/>
              </a:spcBef>
              <a:spcAft>
                <a:spcPts val="0"/>
              </a:spcAft>
              <a:buClr>
                <a:srgbClr val="000000"/>
              </a:buClr>
              <a:buSzPts val="1100"/>
              <a:buChar char="●"/>
            </a:pPr>
            <a:r>
              <a:rPr lang="en" sz="1100" dirty="0">
                <a:solidFill>
                  <a:srgbClr val="000000"/>
                </a:solidFill>
                <a:latin typeface="Arial"/>
                <a:ea typeface="Arial"/>
                <a:cs typeface="Arial"/>
                <a:sym typeface="Arial"/>
              </a:rPr>
              <a:t>In this example the process is executed only when the value of "</a:t>
            </a:r>
            <a:r>
              <a:rPr lang="en" sz="1100" dirty="0">
                <a:solidFill>
                  <a:srgbClr val="0000FF"/>
                </a:solidFill>
                <a:latin typeface="Arial"/>
                <a:ea typeface="Arial"/>
                <a:cs typeface="Arial"/>
                <a:sym typeface="Arial"/>
              </a:rPr>
              <a:t>x</a:t>
            </a:r>
            <a:r>
              <a:rPr lang="en" sz="1100" dirty="0">
                <a:solidFill>
                  <a:srgbClr val="000000"/>
                </a:solidFill>
                <a:latin typeface="Arial"/>
                <a:ea typeface="Arial"/>
                <a:cs typeface="Arial"/>
                <a:sym typeface="Arial"/>
              </a:rPr>
              <a:t>" becomes “</a:t>
            </a:r>
            <a:r>
              <a:rPr lang="en" sz="1100" dirty="0">
                <a:solidFill>
                  <a:srgbClr val="0000FF"/>
                </a:solidFill>
                <a:latin typeface="Arial"/>
                <a:ea typeface="Arial"/>
                <a:cs typeface="Arial"/>
                <a:sym typeface="Arial"/>
              </a:rPr>
              <a:t>world</a:t>
            </a:r>
            <a:r>
              <a:rPr lang="en" sz="1100" dirty="0">
                <a:solidFill>
                  <a:srgbClr val="000000"/>
                </a:solidFill>
                <a:latin typeface="Arial"/>
                <a:ea typeface="Arial"/>
                <a:cs typeface="Arial"/>
                <a:sym typeface="Arial"/>
              </a:rPr>
              <a:t>”</a:t>
            </a:r>
            <a:endParaRPr sz="1100" dirty="0">
              <a:solidFill>
                <a:srgbClr val="000000"/>
              </a:solidFill>
              <a:latin typeface="Arial"/>
              <a:ea typeface="Arial"/>
              <a:cs typeface="Arial"/>
              <a:sym typeface="Arial"/>
            </a:endParaRPr>
          </a:p>
        </p:txBody>
      </p:sp>
      <p:sp>
        <p:nvSpPr>
          <p:cNvPr id="778" name="Google Shape;778;p53"/>
          <p:cNvSpPr txBox="1"/>
          <p:nvPr/>
        </p:nvSpPr>
        <p:spPr>
          <a:xfrm>
            <a:off x="5481200" y="956700"/>
            <a:ext cx="3000000" cy="38943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t>#!/</a:t>
            </a:r>
            <a:r>
              <a:rPr lang="en" sz="1000" dirty="0" err="1"/>
              <a:t>usr</a:t>
            </a:r>
            <a:r>
              <a:rPr lang="en" sz="1000" dirty="0"/>
              <a:t>/bin/env </a:t>
            </a:r>
            <a:r>
              <a:rPr lang="en" sz="1000" dirty="0" err="1"/>
              <a:t>nextflow</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err="1"/>
              <a:t>params.greeting</a:t>
            </a:r>
            <a:r>
              <a:rPr lang="en" sz="1000" dirty="0"/>
              <a:t> = ['Hello </a:t>
            </a:r>
            <a:r>
              <a:rPr lang="en" sz="1000" dirty="0" err="1"/>
              <a:t>world!','world','hello</a:t>
            </a:r>
            <a:r>
              <a:rPr lang="en" sz="1000" dirty="0"/>
              <a:t>']</a:t>
            </a:r>
            <a:endParaRPr sz="1000" dirty="0"/>
          </a:p>
          <a:p>
            <a:pPr marL="0" lvl="0" indent="0" algn="l" rtl="0">
              <a:spcBef>
                <a:spcPts val="0"/>
              </a:spcBef>
              <a:spcAft>
                <a:spcPts val="0"/>
              </a:spcAft>
              <a:buNone/>
            </a:pPr>
            <a:r>
              <a:rPr lang="en" sz="1000" dirty="0" err="1"/>
              <a:t>greeting_ch</a:t>
            </a:r>
            <a:r>
              <a:rPr lang="en" sz="1000" dirty="0"/>
              <a:t> = </a:t>
            </a:r>
            <a:r>
              <a:rPr lang="en" sz="1000" dirty="0" err="1"/>
              <a:t>Channel.fromList</a:t>
            </a:r>
            <a:r>
              <a:rPr lang="en" sz="1000" dirty="0"/>
              <a:t>(</a:t>
            </a:r>
            <a:r>
              <a:rPr lang="en" sz="1000" dirty="0" err="1"/>
              <a:t>params.greeting</a:t>
            </a:r>
            <a:r>
              <a:rPr lang="en" sz="1000" dirty="0"/>
              <a:t>)</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process SPLITLETTERS {</a:t>
            </a:r>
            <a:endParaRPr sz="1000" dirty="0">
              <a:solidFill>
                <a:srgbClr val="0000FF"/>
              </a:solidFill>
            </a:endParaRPr>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    input:</a:t>
            </a:r>
            <a:endParaRPr sz="1000" dirty="0"/>
          </a:p>
          <a:p>
            <a:pPr marL="0" lvl="0" indent="0" algn="l" rtl="0">
              <a:spcBef>
                <a:spcPts val="0"/>
              </a:spcBef>
              <a:spcAft>
                <a:spcPts val="0"/>
              </a:spcAft>
              <a:buNone/>
            </a:pPr>
            <a:r>
              <a:rPr lang="en" sz="1000" dirty="0"/>
              <a:t>    </a:t>
            </a:r>
            <a:r>
              <a:rPr lang="en" sz="1000" dirty="0" err="1"/>
              <a:t>val</a:t>
            </a:r>
            <a:r>
              <a:rPr lang="en" sz="1000" dirty="0"/>
              <a:t> x </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    output:</a:t>
            </a:r>
            <a:endParaRPr sz="1000" dirty="0"/>
          </a:p>
          <a:p>
            <a:pPr marL="0" lvl="0" indent="0" algn="l" rtl="0">
              <a:spcBef>
                <a:spcPts val="0"/>
              </a:spcBef>
              <a:spcAft>
                <a:spcPts val="0"/>
              </a:spcAft>
              <a:buNone/>
            </a:pPr>
            <a:r>
              <a:rPr lang="en" sz="1000" dirty="0"/>
              <a:t>    path 'chunk_*' </a:t>
            </a:r>
            <a:endParaRPr sz="1000" dirty="0"/>
          </a:p>
          <a:p>
            <a:pPr marL="0" lvl="0" indent="0" algn="l" rtl="0">
              <a:spcBef>
                <a:spcPts val="0"/>
              </a:spcBef>
              <a:spcAft>
                <a:spcPts val="0"/>
              </a:spcAft>
              <a:buNone/>
            </a:pPr>
            <a:r>
              <a:rPr lang="en" sz="1000" dirty="0"/>
              <a:t>    </a:t>
            </a:r>
            <a:endParaRPr sz="1000" dirty="0"/>
          </a:p>
          <a:p>
            <a:pPr marL="0" lvl="0" indent="0" algn="l" rtl="0">
              <a:spcBef>
                <a:spcPts val="0"/>
              </a:spcBef>
              <a:spcAft>
                <a:spcPts val="0"/>
              </a:spcAft>
              <a:buNone/>
            </a:pPr>
            <a:r>
              <a:rPr lang="en" sz="1000" dirty="0"/>
              <a:t>  </a:t>
            </a:r>
            <a:r>
              <a:rPr lang="en" sz="1000" dirty="0">
                <a:solidFill>
                  <a:srgbClr val="0000FF"/>
                </a:solidFill>
              </a:rPr>
              <a:t>  when:</a:t>
            </a:r>
            <a:endParaRPr sz="1000" dirty="0">
              <a:solidFill>
                <a:srgbClr val="0000FF"/>
              </a:solidFill>
            </a:endParaRPr>
          </a:p>
          <a:p>
            <a:pPr marL="0" lvl="0" indent="0" algn="l" rtl="0">
              <a:spcBef>
                <a:spcPts val="0"/>
              </a:spcBef>
              <a:spcAft>
                <a:spcPts val="0"/>
              </a:spcAft>
              <a:buNone/>
            </a:pPr>
            <a:r>
              <a:rPr lang="en" sz="1000" dirty="0">
                <a:solidFill>
                  <a:srgbClr val="0000FF"/>
                </a:solidFill>
              </a:rPr>
              <a:t>    x == "world"</a:t>
            </a:r>
            <a:endParaRPr sz="1000" dirty="0">
              <a:solidFill>
                <a:srgbClr val="0000FF"/>
              </a:solidFill>
            </a:endParaRPr>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    """</a:t>
            </a:r>
            <a:endParaRPr sz="1000" dirty="0"/>
          </a:p>
          <a:p>
            <a:pPr marL="0" lvl="0" indent="0" algn="l" rtl="0">
              <a:spcBef>
                <a:spcPts val="0"/>
              </a:spcBef>
              <a:spcAft>
                <a:spcPts val="0"/>
              </a:spcAft>
              <a:buNone/>
            </a:pPr>
            <a:r>
              <a:rPr lang="en" sz="1000" dirty="0"/>
              <a:t>    echo “$x” | split -b 6 - chunk_</a:t>
            </a:r>
            <a:endParaRPr sz="1000" dirty="0"/>
          </a:p>
          <a:p>
            <a:pPr marL="0" lvl="0" indent="0" algn="l" rtl="0">
              <a:spcBef>
                <a:spcPts val="0"/>
              </a:spcBef>
              <a:spcAft>
                <a:spcPts val="0"/>
              </a:spcAft>
              <a:buNone/>
            </a:pPr>
            <a:r>
              <a:rPr lang="en" sz="1000" dirty="0"/>
              <a:t>    """</a:t>
            </a:r>
            <a:endParaRPr sz="1000" dirty="0"/>
          </a:p>
          <a:p>
            <a:pPr marL="0" lvl="0" indent="0" algn="l" rtl="0">
              <a:spcBef>
                <a:spcPts val="0"/>
              </a:spcBef>
              <a:spcAft>
                <a:spcPts val="0"/>
              </a:spcAft>
              <a:buNone/>
            </a:pPr>
            <a:r>
              <a:rPr lang="en" sz="1000" dirty="0"/>
              <a:t>}</a:t>
            </a:r>
            <a:endParaRPr sz="1000" dirty="0"/>
          </a:p>
          <a:p>
            <a:pPr marL="0" lvl="0" indent="0" algn="l" rtl="0">
              <a:spcBef>
                <a:spcPts val="0"/>
              </a:spcBef>
              <a:spcAft>
                <a:spcPts val="0"/>
              </a:spcAft>
              <a:buNone/>
            </a:pPr>
            <a:endParaRPr sz="1000" dirty="0"/>
          </a:p>
          <a:p>
            <a:pPr marL="0" lvl="0" indent="0" algn="l" rtl="0">
              <a:spcBef>
                <a:spcPts val="0"/>
              </a:spcBef>
              <a:spcAft>
                <a:spcPts val="0"/>
              </a:spcAft>
              <a:buNone/>
            </a:pPr>
            <a:r>
              <a:rPr lang="en" sz="1000" dirty="0"/>
              <a:t>workflow { </a:t>
            </a:r>
            <a:endParaRPr sz="1000" dirty="0"/>
          </a:p>
          <a:p>
            <a:pPr marL="0" lvl="0" indent="0" algn="l" rtl="0">
              <a:spcBef>
                <a:spcPts val="0"/>
              </a:spcBef>
              <a:spcAft>
                <a:spcPts val="0"/>
              </a:spcAft>
              <a:buNone/>
            </a:pPr>
            <a:r>
              <a:rPr lang="en" sz="1100" dirty="0" err="1"/>
              <a:t>outputChannel</a:t>
            </a:r>
            <a:r>
              <a:rPr lang="en" sz="1100" dirty="0"/>
              <a:t> = </a:t>
            </a:r>
            <a:r>
              <a:rPr lang="en" sz="1000" dirty="0"/>
              <a:t>SPLITLETTERS(</a:t>
            </a:r>
            <a:r>
              <a:rPr lang="en" sz="1000" dirty="0" err="1"/>
              <a:t>greeting_ch</a:t>
            </a:r>
            <a:r>
              <a:rPr lang="en" sz="1000" dirty="0"/>
              <a:t>)</a:t>
            </a:r>
            <a:endParaRPr sz="1000" dirty="0"/>
          </a:p>
          <a:p>
            <a:pPr marL="0" lvl="0" indent="0" algn="l" rtl="0">
              <a:spcBef>
                <a:spcPts val="0"/>
              </a:spcBef>
              <a:spcAft>
                <a:spcPts val="0"/>
              </a:spcAft>
              <a:buNone/>
            </a:pPr>
            <a:r>
              <a:rPr lang="en" sz="1000" dirty="0"/>
              <a:t>}</a:t>
            </a:r>
            <a:endParaRPr sz="1000" dirty="0"/>
          </a:p>
        </p:txBody>
      </p:sp>
      <p:grpSp>
        <p:nvGrpSpPr>
          <p:cNvPr id="779" name="Google Shape;779;p53"/>
          <p:cNvGrpSpPr/>
          <p:nvPr/>
        </p:nvGrpSpPr>
        <p:grpSpPr>
          <a:xfrm>
            <a:off x="1159225" y="758236"/>
            <a:ext cx="521439" cy="473044"/>
            <a:chOff x="2921450" y="3784625"/>
            <a:chExt cx="427619" cy="387900"/>
          </a:xfrm>
        </p:grpSpPr>
        <p:cxnSp>
          <p:nvCxnSpPr>
            <p:cNvPr id="780" name="Google Shape;780;p53"/>
            <p:cNvCxnSpPr/>
            <p:nvPr/>
          </p:nvCxnSpPr>
          <p:spPr>
            <a:xfrm>
              <a:off x="2975600" y="3924425"/>
              <a:ext cx="0" cy="139800"/>
            </a:xfrm>
            <a:prstGeom prst="straightConnector1">
              <a:avLst/>
            </a:prstGeom>
            <a:noFill/>
            <a:ln w="9525" cap="flat" cmpd="sng">
              <a:solidFill>
                <a:schemeClr val="dk2"/>
              </a:solidFill>
              <a:prstDash val="solid"/>
              <a:round/>
              <a:headEnd type="none" w="med" len="med"/>
              <a:tailEnd type="none" w="med" len="med"/>
            </a:ln>
          </p:spPr>
        </p:cxnSp>
        <p:grpSp>
          <p:nvGrpSpPr>
            <p:cNvPr id="781" name="Google Shape;781;p53"/>
            <p:cNvGrpSpPr/>
            <p:nvPr/>
          </p:nvGrpSpPr>
          <p:grpSpPr>
            <a:xfrm>
              <a:off x="2921450" y="3784625"/>
              <a:ext cx="427619" cy="387900"/>
              <a:chOff x="2921450" y="3784625"/>
              <a:chExt cx="427619" cy="387900"/>
            </a:xfrm>
          </p:grpSpPr>
          <p:cxnSp>
            <p:nvCxnSpPr>
              <p:cNvPr id="782" name="Google Shape;782;p53"/>
              <p:cNvCxnSpPr/>
              <p:nvPr/>
            </p:nvCxnSpPr>
            <p:spPr>
              <a:xfrm>
                <a:off x="2975600" y="3924425"/>
                <a:ext cx="309300" cy="0"/>
              </a:xfrm>
              <a:prstGeom prst="straightConnector1">
                <a:avLst/>
              </a:prstGeom>
              <a:noFill/>
              <a:ln w="9525" cap="flat" cmpd="sng">
                <a:solidFill>
                  <a:schemeClr val="dk2"/>
                </a:solidFill>
                <a:prstDash val="solid"/>
                <a:round/>
                <a:headEnd type="none" w="med" len="med"/>
                <a:tailEnd type="none" w="med" len="med"/>
              </a:ln>
            </p:spPr>
          </p:cxnSp>
          <p:cxnSp>
            <p:nvCxnSpPr>
              <p:cNvPr id="783" name="Google Shape;783;p53"/>
              <p:cNvCxnSpPr/>
              <p:nvPr/>
            </p:nvCxnSpPr>
            <p:spPr>
              <a:xfrm>
                <a:off x="3284900" y="3924425"/>
                <a:ext cx="0" cy="139800"/>
              </a:xfrm>
              <a:prstGeom prst="straightConnector1">
                <a:avLst/>
              </a:prstGeom>
              <a:noFill/>
              <a:ln w="9525" cap="flat" cmpd="sng">
                <a:solidFill>
                  <a:schemeClr val="dk2"/>
                </a:solidFill>
                <a:prstDash val="solid"/>
                <a:round/>
                <a:headEnd type="none" w="med" len="med"/>
                <a:tailEnd type="none" w="med" len="med"/>
              </a:ln>
            </p:spPr>
          </p:cxnSp>
          <p:cxnSp>
            <p:nvCxnSpPr>
              <p:cNvPr id="784" name="Google Shape;784;p53"/>
              <p:cNvCxnSpPr/>
              <p:nvPr/>
            </p:nvCxnSpPr>
            <p:spPr>
              <a:xfrm>
                <a:off x="3130250" y="3784625"/>
                <a:ext cx="0" cy="139800"/>
              </a:xfrm>
              <a:prstGeom prst="straightConnector1">
                <a:avLst/>
              </a:prstGeom>
              <a:noFill/>
              <a:ln w="9525" cap="flat" cmpd="sng">
                <a:solidFill>
                  <a:schemeClr val="dk2"/>
                </a:solidFill>
                <a:prstDash val="solid"/>
                <a:round/>
                <a:headEnd type="none" w="med" len="med"/>
                <a:tailEnd type="none" w="med" len="med"/>
              </a:ln>
            </p:spPr>
          </p:cxnSp>
          <p:sp>
            <p:nvSpPr>
              <p:cNvPr id="785" name="Google Shape;785;p53"/>
              <p:cNvSpPr/>
              <p:nvPr/>
            </p:nvSpPr>
            <p:spPr>
              <a:xfrm>
                <a:off x="2921450" y="4064225"/>
                <a:ext cx="108300" cy="108300"/>
              </a:xfrm>
              <a:prstGeom prst="noSmoking">
                <a:avLst>
                  <a:gd name="adj" fmla="val 18750"/>
                </a:avLst>
              </a:prstGeom>
              <a:solidFill>
                <a:srgbClr val="434343"/>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86" name="Google Shape;786;p53"/>
              <p:cNvPicPr preferRelativeResize="0"/>
              <p:nvPr/>
            </p:nvPicPr>
            <p:blipFill>
              <a:blip r:embed="rId3">
                <a:alphaModFix/>
              </a:blip>
              <a:stretch>
                <a:fillRect/>
              </a:stretch>
            </p:blipFill>
            <p:spPr>
              <a:xfrm>
                <a:off x="3240769" y="4065337"/>
                <a:ext cx="108300" cy="106087"/>
              </a:xfrm>
              <a:prstGeom prst="rect">
                <a:avLst/>
              </a:prstGeom>
              <a:noFill/>
              <a:ln>
                <a:noFill/>
              </a:ln>
            </p:spPr>
          </p:pic>
        </p:grpSp>
      </p:grpSp>
      <p:sp>
        <p:nvSpPr>
          <p:cNvPr id="787" name="Google Shape;787;p53"/>
          <p:cNvSpPr txBox="1">
            <a:spLocks noGrp="1"/>
          </p:cNvSpPr>
          <p:nvPr>
            <p:ph type="title" idx="4294967295"/>
          </p:nvPr>
        </p:nvSpPr>
        <p:spPr>
          <a:xfrm>
            <a:off x="1680675" y="598575"/>
            <a:ext cx="38004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When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51"/>
          <p:cNvSpPr txBox="1"/>
          <p:nvPr/>
        </p:nvSpPr>
        <p:spPr>
          <a:xfrm>
            <a:off x="5292900" y="1080000"/>
            <a:ext cx="3851100" cy="40635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process &lt; name &gt; {</a:t>
            </a:r>
            <a:endParaRPr/>
          </a:p>
          <a:p>
            <a:pPr marL="0" lvl="0" indent="0" algn="l" rtl="0">
              <a:spcBef>
                <a:spcPts val="0"/>
              </a:spcBef>
              <a:spcAft>
                <a:spcPts val="0"/>
              </a:spcAft>
              <a:buNone/>
            </a:pPr>
            <a:endParaRPr/>
          </a:p>
          <a:p>
            <a:pPr marL="0" lvl="0" indent="0" algn="l" rtl="0">
              <a:spcBef>
                <a:spcPts val="0"/>
              </a:spcBef>
              <a:spcAft>
                <a:spcPts val="0"/>
              </a:spcAft>
              <a:buNone/>
            </a:pPr>
            <a:r>
              <a:rPr lang="en">
                <a:solidFill>
                  <a:srgbClr val="0000FF"/>
                </a:solidFill>
              </a:rPr>
              <a:t> </a:t>
            </a:r>
            <a:r>
              <a:rPr lang="en"/>
              <a:t> [ directives ] </a:t>
            </a:r>
            <a:endParaRPr/>
          </a:p>
          <a:p>
            <a:pPr marL="0" lvl="0" indent="0" algn="l" rtl="0">
              <a:spcBef>
                <a:spcPts val="0"/>
              </a:spcBef>
              <a:spcAft>
                <a:spcPts val="0"/>
              </a:spcAft>
              <a:buNone/>
            </a:pPr>
            <a:endParaRPr/>
          </a:p>
          <a:p>
            <a:pPr marL="0" lvl="0" indent="0" algn="l" rtl="0">
              <a:spcBef>
                <a:spcPts val="0"/>
              </a:spcBef>
              <a:spcAft>
                <a:spcPts val="0"/>
              </a:spcAft>
              <a:buNone/>
            </a:pPr>
            <a:r>
              <a:rPr lang="en">
                <a:solidFill>
                  <a:srgbClr val="0000FF"/>
                </a:solidFill>
              </a:rPr>
              <a:t>  </a:t>
            </a:r>
            <a:r>
              <a:rPr lang="en"/>
              <a:t>input: </a:t>
            </a:r>
            <a:endParaRPr/>
          </a:p>
          <a:p>
            <a:pPr marL="0" lvl="0" indent="0" algn="l" rtl="0">
              <a:spcBef>
                <a:spcPts val="0"/>
              </a:spcBef>
              <a:spcAft>
                <a:spcPts val="0"/>
              </a:spcAft>
              <a:buNone/>
            </a:pPr>
            <a:r>
              <a:rPr lang="en"/>
              <a:t>  &lt; process inputs &gt;</a:t>
            </a:r>
            <a:endParaRPr/>
          </a:p>
          <a:p>
            <a:pPr marL="0" lvl="0" indent="0" algn="l" rtl="0">
              <a:spcBef>
                <a:spcPts val="0"/>
              </a:spcBef>
              <a:spcAft>
                <a:spcPts val="0"/>
              </a:spcAft>
              <a:buNone/>
            </a:pPr>
            <a:endParaRPr/>
          </a:p>
          <a:p>
            <a:pPr marL="0" lvl="0" indent="0" algn="l" rtl="0">
              <a:spcBef>
                <a:spcPts val="0"/>
              </a:spcBef>
              <a:spcAft>
                <a:spcPts val="0"/>
              </a:spcAft>
              <a:buNone/>
            </a:pPr>
            <a:r>
              <a:rPr lang="en"/>
              <a:t>  output: </a:t>
            </a:r>
            <a:endParaRPr/>
          </a:p>
          <a:p>
            <a:pPr marL="0" lvl="0" indent="0" algn="l" rtl="0">
              <a:spcBef>
                <a:spcPts val="0"/>
              </a:spcBef>
              <a:spcAft>
                <a:spcPts val="0"/>
              </a:spcAft>
              <a:buNone/>
            </a:pPr>
            <a:r>
              <a:rPr lang="en"/>
              <a:t>  &lt; process outputs &gt;</a:t>
            </a:r>
            <a:endParaRPr/>
          </a:p>
          <a:p>
            <a:pPr marL="0" lvl="0" indent="0" algn="l" rtl="0">
              <a:spcBef>
                <a:spcPts val="0"/>
              </a:spcBef>
              <a:spcAft>
                <a:spcPts val="0"/>
              </a:spcAft>
              <a:buNone/>
            </a:pPr>
            <a:endParaRPr/>
          </a:p>
          <a:p>
            <a:pPr marL="0" lvl="0" indent="0" algn="l" rtl="0">
              <a:spcBef>
                <a:spcPts val="0"/>
              </a:spcBef>
              <a:spcAft>
                <a:spcPts val="0"/>
              </a:spcAft>
              <a:buNone/>
            </a:pPr>
            <a:r>
              <a:rPr lang="en"/>
              <a:t>  when: </a:t>
            </a:r>
            <a:endParaRPr/>
          </a:p>
          <a:p>
            <a:pPr marL="0" lvl="0" indent="0" algn="l" rtl="0">
              <a:spcBef>
                <a:spcPts val="0"/>
              </a:spcBef>
              <a:spcAft>
                <a:spcPts val="0"/>
              </a:spcAft>
              <a:buNone/>
            </a:pPr>
            <a:r>
              <a:rPr lang="en"/>
              <a:t>  &lt; condition &gt;</a:t>
            </a:r>
            <a:endParaRPr/>
          </a:p>
          <a:p>
            <a:pPr marL="0" lvl="0" indent="0" algn="l" rtl="0">
              <a:spcBef>
                <a:spcPts val="0"/>
              </a:spcBef>
              <a:spcAft>
                <a:spcPts val="0"/>
              </a:spcAft>
              <a:buNone/>
            </a:pPr>
            <a:endParaRPr/>
          </a:p>
          <a:p>
            <a:pPr marL="0" lvl="0" indent="0" algn="l" rtl="0">
              <a:spcBef>
                <a:spcPts val="0"/>
              </a:spcBef>
              <a:spcAft>
                <a:spcPts val="0"/>
              </a:spcAft>
              <a:buNone/>
            </a:pPr>
            <a:r>
              <a:rPr lang="en">
                <a:solidFill>
                  <a:srgbClr val="0000FF"/>
                </a:solidFill>
              </a:rPr>
              <a:t>  [script|shell|exec]: </a:t>
            </a:r>
            <a:endParaRPr>
              <a:solidFill>
                <a:srgbClr val="0000FF"/>
              </a:solidFill>
            </a:endParaRPr>
          </a:p>
          <a:p>
            <a:pPr marL="0" lvl="0" indent="0" algn="l" rtl="0">
              <a:spcBef>
                <a:spcPts val="0"/>
              </a:spcBef>
              <a:spcAft>
                <a:spcPts val="0"/>
              </a:spcAft>
              <a:buNone/>
            </a:pPr>
            <a:r>
              <a:rPr lang="en">
                <a:solidFill>
                  <a:srgbClr val="0000FF"/>
                </a:solidFill>
              </a:rPr>
              <a:t>  """</a:t>
            </a:r>
            <a:endParaRPr>
              <a:solidFill>
                <a:srgbClr val="0000FF"/>
              </a:solidFill>
            </a:endParaRPr>
          </a:p>
          <a:p>
            <a:pPr marL="0" lvl="0" indent="0" algn="l" rtl="0">
              <a:spcBef>
                <a:spcPts val="0"/>
              </a:spcBef>
              <a:spcAft>
                <a:spcPts val="0"/>
              </a:spcAft>
              <a:buNone/>
            </a:pPr>
            <a:r>
              <a:rPr lang="en">
                <a:solidFill>
                  <a:srgbClr val="0000FF"/>
                </a:solidFill>
              </a:rPr>
              <a:t>  &lt; user script to be executed &gt;</a:t>
            </a:r>
            <a:endParaRPr>
              <a:solidFill>
                <a:srgbClr val="0000FF"/>
              </a:solidFill>
            </a:endParaRPr>
          </a:p>
          <a:p>
            <a:pPr marL="0" lvl="0" indent="0" algn="l" rtl="0">
              <a:spcBef>
                <a:spcPts val="0"/>
              </a:spcBef>
              <a:spcAft>
                <a:spcPts val="0"/>
              </a:spcAft>
              <a:buNone/>
            </a:pPr>
            <a:r>
              <a:rPr lang="en">
                <a:solidFill>
                  <a:srgbClr val="0000FF"/>
                </a:solidFill>
              </a:rPr>
              <a:t>  """</a:t>
            </a:r>
            <a:endParaRPr>
              <a:solidFill>
                <a:srgbClr val="0000FF"/>
              </a:solidFill>
            </a:endParaRPr>
          </a:p>
          <a:p>
            <a:pPr marL="0" lvl="0" indent="0" algn="l" rtl="0">
              <a:spcBef>
                <a:spcPts val="0"/>
              </a:spcBef>
              <a:spcAft>
                <a:spcPts val="0"/>
              </a:spcAft>
              <a:buNone/>
            </a:pPr>
            <a:r>
              <a:rPr lang="en"/>
              <a:t>}</a:t>
            </a:r>
            <a:endParaRPr/>
          </a:p>
        </p:txBody>
      </p:sp>
      <p:sp>
        <p:nvSpPr>
          <p:cNvPr id="759" name="Google Shape;759;p51"/>
          <p:cNvSpPr txBox="1">
            <a:spLocks noGrp="1"/>
          </p:cNvSpPr>
          <p:nvPr>
            <p:ph type="body" idx="4294967295"/>
          </p:nvPr>
        </p:nvSpPr>
        <p:spPr>
          <a:xfrm>
            <a:off x="202625" y="1536550"/>
            <a:ext cx="3734400" cy="3474600"/>
          </a:xfrm>
          <a:prstGeom prst="rect">
            <a:avLst/>
          </a:prstGeom>
        </p:spPr>
        <p:txBody>
          <a:bodyPr spcFirstLastPara="1" wrap="square" lIns="91425" tIns="91425" rIns="91425" bIns="91425" anchor="t" anchorCtr="0">
            <a:normAutofit fontScale="77500" lnSpcReduction="20000"/>
          </a:bodyPr>
          <a:lstStyle/>
          <a:p>
            <a:pPr marL="457200" lvl="0" indent="-292576" algn="l" rtl="0">
              <a:lnSpc>
                <a:spcPct val="200000"/>
              </a:lnSpc>
              <a:spcBef>
                <a:spcPts val="0"/>
              </a:spcBef>
              <a:spcAft>
                <a:spcPts val="0"/>
              </a:spcAft>
              <a:buSzPct val="100000"/>
              <a:buChar char="●"/>
            </a:pPr>
            <a:r>
              <a:rPr lang="en"/>
              <a:t>The </a:t>
            </a:r>
            <a:r>
              <a:rPr lang="en" b="1"/>
              <a:t>script</a:t>
            </a:r>
            <a:r>
              <a:rPr lang="en"/>
              <a:t> block defines the command to be executed in the process</a:t>
            </a:r>
            <a:endParaRPr/>
          </a:p>
          <a:p>
            <a:pPr marL="457200" lvl="0" indent="-292576" algn="l" rtl="0">
              <a:lnSpc>
                <a:spcPct val="200000"/>
              </a:lnSpc>
              <a:spcBef>
                <a:spcPts val="0"/>
              </a:spcBef>
              <a:spcAft>
                <a:spcPts val="0"/>
              </a:spcAft>
              <a:buSzPct val="100000"/>
              <a:buChar char="●"/>
            </a:pPr>
            <a:r>
              <a:rPr lang="en"/>
              <a:t>It is the last block of the process body, i.e., after input, output, and when blocks</a:t>
            </a:r>
            <a:endParaRPr/>
          </a:p>
          <a:p>
            <a:pPr marL="457200" lvl="0" indent="-292576" algn="l" rtl="0">
              <a:lnSpc>
                <a:spcPct val="200000"/>
              </a:lnSpc>
              <a:spcBef>
                <a:spcPts val="0"/>
              </a:spcBef>
              <a:spcAft>
                <a:spcPts val="0"/>
              </a:spcAft>
              <a:buSzPct val="100000"/>
              <a:buChar char="●"/>
            </a:pPr>
            <a:r>
              <a:rPr lang="en"/>
              <a:t>It can be a command, script or combination of them that would normally use terminal shell or bash</a:t>
            </a:r>
            <a:endParaRPr/>
          </a:p>
          <a:p>
            <a:pPr marL="457200" lvl="0" indent="-292576" algn="l" rtl="0">
              <a:lnSpc>
                <a:spcPct val="200000"/>
              </a:lnSpc>
              <a:spcBef>
                <a:spcPts val="0"/>
              </a:spcBef>
              <a:spcAft>
                <a:spcPts val="0"/>
              </a:spcAft>
              <a:buSzPct val="100000"/>
              <a:buChar char="●"/>
            </a:pPr>
            <a:r>
              <a:rPr lang="en"/>
              <a:t>The script block can be defined using single-quotes or double quotes and multiline strings can be defined in three single-quotes or three double-quotes</a:t>
            </a:r>
            <a:endParaRPr/>
          </a:p>
          <a:p>
            <a:pPr marL="1371600" lvl="0" indent="0" algn="l" rtl="0">
              <a:lnSpc>
                <a:spcPct val="200000"/>
              </a:lnSpc>
              <a:spcBef>
                <a:spcPts val="1200"/>
              </a:spcBef>
              <a:spcAft>
                <a:spcPts val="1200"/>
              </a:spcAft>
              <a:buNone/>
            </a:pPr>
            <a:endParaRPr/>
          </a:p>
        </p:txBody>
      </p:sp>
      <p:pic>
        <p:nvPicPr>
          <p:cNvPr id="760" name="Google Shape;760;p51"/>
          <p:cNvPicPr preferRelativeResize="0"/>
          <p:nvPr/>
        </p:nvPicPr>
        <p:blipFill>
          <a:blip r:embed="rId3">
            <a:alphaModFix/>
          </a:blip>
          <a:stretch>
            <a:fillRect/>
          </a:stretch>
        </p:blipFill>
        <p:spPr>
          <a:xfrm>
            <a:off x="1048600" y="752325"/>
            <a:ext cx="632076" cy="391749"/>
          </a:xfrm>
          <a:prstGeom prst="rect">
            <a:avLst/>
          </a:prstGeom>
          <a:noFill/>
          <a:ln>
            <a:noFill/>
          </a:ln>
        </p:spPr>
      </p:pic>
      <p:sp>
        <p:nvSpPr>
          <p:cNvPr id="761" name="Google Shape;761;p51"/>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Script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52"/>
          <p:cNvSpPr txBox="1">
            <a:spLocks noGrp="1"/>
          </p:cNvSpPr>
          <p:nvPr>
            <p:ph type="body" idx="4294967295"/>
          </p:nvPr>
        </p:nvSpPr>
        <p:spPr>
          <a:xfrm>
            <a:off x="202625" y="1536550"/>
            <a:ext cx="3734400" cy="3474600"/>
          </a:xfrm>
          <a:prstGeom prst="rect">
            <a:avLst/>
          </a:prstGeom>
        </p:spPr>
        <p:txBody>
          <a:bodyPr spcFirstLastPara="1" wrap="square" lIns="91425" tIns="91425" rIns="91425" bIns="91425" anchor="t" anchorCtr="0">
            <a:normAutofit/>
          </a:bodyPr>
          <a:lstStyle/>
          <a:p>
            <a:pPr lvl="0" indent="-298450">
              <a:lnSpc>
                <a:spcPct val="200000"/>
              </a:lnSpc>
              <a:buClr>
                <a:srgbClr val="000000"/>
              </a:buClr>
              <a:buSzPts val="1100"/>
              <a:buFont typeface="Arial"/>
              <a:buChar char="●"/>
            </a:pPr>
            <a:r>
              <a:rPr lang="en-US" sz="1100" i="1" dirty="0">
                <a:solidFill>
                  <a:srgbClr val="000000"/>
                </a:solidFill>
                <a:latin typeface="Arial"/>
                <a:cs typeface="Arial"/>
              </a:rPr>
              <a:t>Double quotes allow variable interpolation</a:t>
            </a:r>
          </a:p>
          <a:p>
            <a:pPr lvl="0" indent="-298450">
              <a:lnSpc>
                <a:spcPct val="200000"/>
              </a:lnSpc>
              <a:buClr>
                <a:srgbClr val="000000"/>
              </a:buClr>
              <a:buSzPts val="1100"/>
              <a:buFont typeface="Arial"/>
              <a:buChar char="●"/>
            </a:pPr>
            <a:r>
              <a:rPr lang="en-US" sz="1100" i="1" dirty="0">
                <a:solidFill>
                  <a:srgbClr val="000000"/>
                </a:solidFill>
                <a:latin typeface="Arial"/>
                <a:cs typeface="Arial"/>
              </a:rPr>
              <a:t>Single quotes prevent variable interpolation</a:t>
            </a:r>
          </a:p>
          <a:p>
            <a:pPr lvl="0" indent="-298450">
              <a:lnSpc>
                <a:spcPct val="200000"/>
              </a:lnSpc>
              <a:buClr>
                <a:srgbClr val="000000"/>
              </a:buClr>
              <a:buSzPts val="1100"/>
              <a:buFont typeface="Arial"/>
              <a:buChar char="●"/>
            </a:pPr>
            <a:r>
              <a:rPr lang="en-US" sz="1100" dirty="0">
                <a:solidFill>
                  <a:srgbClr val="000000"/>
                </a:solidFill>
                <a:latin typeface="Arial"/>
                <a:cs typeface="Arial"/>
              </a:rPr>
              <a:t>Use triple quotes (""") for multi-line scripts</a:t>
            </a:r>
          </a:p>
          <a:p>
            <a:pPr lvl="0" indent="-298450">
              <a:lnSpc>
                <a:spcPct val="200000"/>
              </a:lnSpc>
              <a:buClr>
                <a:srgbClr val="000000"/>
              </a:buClr>
              <a:buSzPts val="1100"/>
              <a:buFont typeface="Arial"/>
              <a:buChar char="●"/>
            </a:pPr>
            <a:r>
              <a:rPr lang="en" sz="1100" dirty="0">
                <a:solidFill>
                  <a:srgbClr val="000000"/>
                </a:solidFill>
                <a:latin typeface="Arial"/>
                <a:ea typeface="Arial"/>
                <a:cs typeface="Arial"/>
                <a:sym typeface="Arial"/>
              </a:rPr>
              <a:t>Exec will run the native groovy commands</a:t>
            </a:r>
            <a:endParaRPr sz="1100" dirty="0">
              <a:solidFill>
                <a:srgbClr val="000000"/>
              </a:solidFill>
              <a:latin typeface="Arial"/>
              <a:ea typeface="Arial"/>
              <a:cs typeface="Arial"/>
              <a:sym typeface="Arial"/>
            </a:endParaRPr>
          </a:p>
          <a:p>
            <a:pPr marL="457200" lvl="0" indent="-298450" algn="l" rtl="0">
              <a:lnSpc>
                <a:spcPct val="200000"/>
              </a:lnSpc>
              <a:spcBef>
                <a:spcPts val="0"/>
              </a:spcBef>
              <a:spcAft>
                <a:spcPts val="0"/>
              </a:spcAft>
              <a:buClr>
                <a:srgbClr val="000000"/>
              </a:buClr>
              <a:buSzPts val="1100"/>
              <a:buFont typeface="Arial"/>
              <a:buChar char="●"/>
            </a:pPr>
            <a:r>
              <a:rPr lang="en" sz="1100" dirty="0">
                <a:solidFill>
                  <a:srgbClr val="000000"/>
                </a:solidFill>
                <a:latin typeface="Arial"/>
                <a:ea typeface="Arial"/>
                <a:cs typeface="Arial"/>
                <a:sym typeface="Arial"/>
              </a:rPr>
              <a:t>“$” sign will replace the value with </a:t>
            </a:r>
            <a:r>
              <a:rPr lang="en" sz="1100" dirty="0" err="1">
                <a:solidFill>
                  <a:srgbClr val="000000"/>
                </a:solidFill>
                <a:latin typeface="Arial"/>
                <a:ea typeface="Arial"/>
                <a:cs typeface="Arial"/>
                <a:sym typeface="Arial"/>
              </a:rPr>
              <a:t>nextflow</a:t>
            </a:r>
            <a:r>
              <a:rPr lang="en" sz="1100" dirty="0">
                <a:solidFill>
                  <a:srgbClr val="000000"/>
                </a:solidFill>
                <a:latin typeface="Arial"/>
                <a:ea typeface="Arial"/>
                <a:cs typeface="Arial"/>
                <a:sym typeface="Arial"/>
              </a:rPr>
              <a:t> variable</a:t>
            </a:r>
            <a:endParaRPr sz="1100" dirty="0">
              <a:solidFill>
                <a:srgbClr val="000000"/>
              </a:solidFill>
              <a:latin typeface="Arial"/>
              <a:ea typeface="Arial"/>
              <a:cs typeface="Arial"/>
              <a:sym typeface="Arial"/>
            </a:endParaRPr>
          </a:p>
          <a:p>
            <a:pPr marL="457200" lvl="0" indent="-298450" algn="l" rtl="0">
              <a:lnSpc>
                <a:spcPct val="200000"/>
              </a:lnSpc>
              <a:spcBef>
                <a:spcPts val="0"/>
              </a:spcBef>
              <a:spcAft>
                <a:spcPts val="0"/>
              </a:spcAft>
              <a:buClr>
                <a:srgbClr val="000000"/>
              </a:buClr>
              <a:buSzPts val="1100"/>
              <a:buFont typeface="Arial"/>
              <a:buChar char="●"/>
            </a:pPr>
            <a:r>
              <a:rPr lang="en" sz="1100" dirty="0">
                <a:solidFill>
                  <a:srgbClr val="000000"/>
                </a:solidFill>
                <a:latin typeface="Arial"/>
                <a:ea typeface="Arial"/>
                <a:cs typeface="Arial"/>
                <a:sym typeface="Arial"/>
              </a:rPr>
              <a:t>To access native bash variable “\$” is used</a:t>
            </a:r>
            <a:endParaRPr sz="1100" dirty="0">
              <a:solidFill>
                <a:srgbClr val="000000"/>
              </a:solidFill>
              <a:latin typeface="Arial"/>
              <a:ea typeface="Arial"/>
              <a:cs typeface="Arial"/>
              <a:sym typeface="Arial"/>
            </a:endParaRPr>
          </a:p>
          <a:p>
            <a:pPr marL="914400" lvl="1" indent="-298450" algn="l" rtl="0">
              <a:lnSpc>
                <a:spcPct val="200000"/>
              </a:lnSpc>
              <a:spcBef>
                <a:spcPts val="0"/>
              </a:spcBef>
              <a:spcAft>
                <a:spcPts val="0"/>
              </a:spcAft>
              <a:buClr>
                <a:srgbClr val="000000"/>
              </a:buClr>
              <a:buSzPts val="1100"/>
              <a:buFont typeface="Arial"/>
              <a:buChar char="○"/>
            </a:pPr>
            <a:r>
              <a:rPr lang="en" dirty="0">
                <a:solidFill>
                  <a:srgbClr val="000000"/>
                </a:solidFill>
                <a:latin typeface="Arial"/>
                <a:ea typeface="Arial"/>
                <a:cs typeface="Arial"/>
                <a:sym typeface="Arial"/>
              </a:rPr>
              <a:t>Eg: echo \$PATH</a:t>
            </a:r>
            <a:endParaRPr sz="1100" dirty="0">
              <a:solidFill>
                <a:srgbClr val="000000"/>
              </a:solidFill>
              <a:latin typeface="Arial"/>
              <a:ea typeface="Arial"/>
              <a:cs typeface="Arial"/>
              <a:sym typeface="Arial"/>
            </a:endParaRPr>
          </a:p>
        </p:txBody>
      </p:sp>
      <p:grpSp>
        <p:nvGrpSpPr>
          <p:cNvPr id="767" name="Google Shape;767;p52"/>
          <p:cNvGrpSpPr/>
          <p:nvPr/>
        </p:nvGrpSpPr>
        <p:grpSpPr>
          <a:xfrm>
            <a:off x="5469325" y="0"/>
            <a:ext cx="3000000" cy="5110200"/>
            <a:chOff x="5481200" y="995550"/>
            <a:chExt cx="3000000" cy="5110200"/>
          </a:xfrm>
        </p:grpSpPr>
        <p:sp>
          <p:nvSpPr>
            <p:cNvPr id="768" name="Google Shape;768;p52"/>
            <p:cNvSpPr txBox="1"/>
            <p:nvPr/>
          </p:nvSpPr>
          <p:spPr>
            <a:xfrm>
              <a:off x="5481200" y="995550"/>
              <a:ext cx="3000000" cy="51102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var = "world"</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process SIMPLYECHO_BASH {</a:t>
              </a:r>
              <a:endParaRPr sz="1000"/>
            </a:p>
            <a:p>
              <a:pPr marL="0" lvl="0" indent="0" algn="l" rtl="0">
                <a:spcBef>
                  <a:spcPts val="0"/>
                </a:spcBef>
                <a:spcAft>
                  <a:spcPts val="0"/>
                </a:spcAft>
                <a:buNone/>
              </a:pPr>
              <a:r>
                <a:rPr lang="en" sz="1000"/>
                <a:t>    input:</a:t>
              </a:r>
              <a:endParaRPr sz="1000"/>
            </a:p>
            <a:p>
              <a:pPr marL="0" lvl="0" indent="0" algn="l" rtl="0">
                <a:spcBef>
                  <a:spcPts val="0"/>
                </a:spcBef>
                <a:spcAft>
                  <a:spcPts val="0"/>
                </a:spcAft>
                <a:buNone/>
              </a:pPr>
              <a:r>
                <a:rPr lang="en" sz="1000"/>
                <a:t>    val var</a:t>
              </a:r>
              <a:endParaRPr sz="1000"/>
            </a:p>
            <a:p>
              <a:pPr marL="0" lvl="0" indent="0" algn="l" rtl="0">
                <a:spcBef>
                  <a:spcPts val="0"/>
                </a:spcBef>
                <a:spcAft>
                  <a:spcPts val="0"/>
                </a:spcAft>
                <a:buNone/>
              </a:pPr>
              <a:r>
                <a:rPr lang="en" sz="1000"/>
                <a:t>    script:</a:t>
              </a:r>
              <a:endParaRPr sz="1000"/>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    echo 'hello $var'</a:t>
              </a:r>
              <a:endParaRPr sz="1000"/>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process SIMPLYECHO_SHELL {</a:t>
              </a:r>
              <a:endParaRPr sz="1000"/>
            </a:p>
            <a:p>
              <a:pPr marL="0" lvl="0" indent="0" algn="l" rtl="0">
                <a:spcBef>
                  <a:spcPts val="0"/>
                </a:spcBef>
                <a:spcAft>
                  <a:spcPts val="0"/>
                </a:spcAft>
                <a:buNone/>
              </a:pPr>
              <a:r>
                <a:rPr lang="en" sz="1000"/>
                <a:t>    input:</a:t>
              </a:r>
              <a:endParaRPr sz="1000"/>
            </a:p>
            <a:p>
              <a:pPr marL="0" lvl="0" indent="0" algn="l" rtl="0">
                <a:spcBef>
                  <a:spcPts val="0"/>
                </a:spcBef>
                <a:spcAft>
                  <a:spcPts val="0"/>
                </a:spcAft>
                <a:buNone/>
              </a:pPr>
              <a:r>
                <a:rPr lang="en" sz="1000"/>
                <a:t>    val var</a:t>
              </a:r>
              <a:endParaRPr sz="1000"/>
            </a:p>
            <a:p>
              <a:pPr marL="0" lvl="0" indent="0" algn="l" rtl="0">
                <a:spcBef>
                  <a:spcPts val="0"/>
                </a:spcBef>
                <a:spcAft>
                  <a:spcPts val="0"/>
                </a:spcAft>
                <a:buNone/>
              </a:pPr>
              <a:r>
                <a:rPr lang="en" sz="1000"/>
                <a:t>    shell:</a:t>
              </a:r>
              <a:endParaRPr sz="1000"/>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    echo  hello !{var}</a:t>
              </a:r>
              <a:endParaRPr sz="1000"/>
            </a:p>
            <a:p>
              <a:pPr marL="0" lvl="0" indent="0" algn="l" rtl="0">
                <a:spcBef>
                  <a:spcPts val="0"/>
                </a:spcBef>
                <a:spcAft>
                  <a:spcPts val="0"/>
                </a:spcAft>
                <a:buNone/>
              </a:pPr>
              <a:r>
                <a:rPr lang="en" sz="1000"/>
                <a:t>    '''</a:t>
              </a:r>
              <a:endParaRPr sz="1000"/>
            </a:p>
            <a:p>
              <a:pPr marL="0" lvl="0" indent="0" algn="l" rtl="0">
                <a:spcBef>
                  <a:spcPts val="0"/>
                </a:spcBef>
                <a:spcAft>
                  <a:spcPts val="0"/>
                </a:spcAft>
                <a:buNone/>
              </a:pPr>
              <a:r>
                <a:rPr lang="en" sz="1000"/>
                <a:t>}</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process SIMPLYECHO_NATIVE {</a:t>
              </a:r>
              <a:endParaRPr sz="1000"/>
            </a:p>
            <a:p>
              <a:pPr marL="0" lvl="0" indent="0" algn="l" rtl="0">
                <a:spcBef>
                  <a:spcPts val="0"/>
                </a:spcBef>
                <a:spcAft>
                  <a:spcPts val="0"/>
                </a:spcAft>
                <a:buNone/>
              </a:pPr>
              <a:r>
                <a:rPr lang="en" sz="1000"/>
                <a:t>    input:</a:t>
              </a:r>
              <a:endParaRPr sz="1000"/>
            </a:p>
            <a:p>
              <a:pPr marL="0" lvl="0" indent="0" algn="l" rtl="0">
                <a:spcBef>
                  <a:spcPts val="0"/>
                </a:spcBef>
                <a:spcAft>
                  <a:spcPts val="0"/>
                </a:spcAft>
                <a:buNone/>
              </a:pPr>
              <a:r>
                <a:rPr lang="en" sz="1000"/>
                <a:t>    val var</a:t>
              </a:r>
              <a:endParaRPr sz="1000"/>
            </a:p>
            <a:p>
              <a:pPr marL="0" lvl="0" indent="0" algn="l" rtl="0">
                <a:spcBef>
                  <a:spcPts val="0"/>
                </a:spcBef>
                <a:spcAft>
                  <a:spcPts val="0"/>
                </a:spcAft>
                <a:buNone/>
              </a:pPr>
              <a:r>
                <a:rPr lang="en" sz="1000"/>
                <a:t>    exec:</a:t>
              </a:r>
              <a:endParaRPr sz="1000"/>
            </a:p>
            <a:p>
              <a:pPr marL="0" lvl="0" indent="0" algn="l" rtl="0">
                <a:spcBef>
                  <a:spcPts val="0"/>
                </a:spcBef>
                <a:spcAft>
                  <a:spcPts val="0"/>
                </a:spcAft>
                <a:buNone/>
              </a:pPr>
              <a:r>
                <a:rPr lang="en" sz="1000"/>
                <a:t>    println "hello $var"</a:t>
              </a:r>
              <a:endParaRPr sz="1000"/>
            </a:p>
            <a:p>
              <a:pPr marL="0" lvl="0" indent="0" algn="l" rtl="0">
                <a:spcBef>
                  <a:spcPts val="0"/>
                </a:spcBef>
                <a:spcAft>
                  <a:spcPts val="0"/>
                </a:spcAft>
                <a:buNone/>
              </a:pPr>
              <a:r>
                <a:rPr lang="en" sz="1000"/>
                <a:t>}</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workflow { </a:t>
              </a:r>
              <a:endParaRPr sz="1000"/>
            </a:p>
            <a:p>
              <a:pPr marL="0" lvl="0" indent="0" algn="l" rtl="0">
                <a:spcBef>
                  <a:spcPts val="0"/>
                </a:spcBef>
                <a:spcAft>
                  <a:spcPts val="0"/>
                </a:spcAft>
                <a:buNone/>
              </a:pPr>
              <a:r>
                <a:rPr lang="en" sz="1000"/>
                <a:t>SIMPLYECHO_BASH(var)</a:t>
              </a:r>
              <a:endParaRPr sz="1000"/>
            </a:p>
            <a:p>
              <a:pPr marL="0" lvl="0" indent="0" algn="l" rtl="0">
                <a:spcBef>
                  <a:spcPts val="0"/>
                </a:spcBef>
                <a:spcAft>
                  <a:spcPts val="0"/>
                </a:spcAft>
                <a:buNone/>
              </a:pPr>
              <a:r>
                <a:rPr lang="en" sz="1000"/>
                <a:t>SIMPLYECHO_SHELL(var)</a:t>
              </a:r>
              <a:endParaRPr sz="1000"/>
            </a:p>
            <a:p>
              <a:pPr marL="0" lvl="0" indent="0" algn="l" rtl="0">
                <a:spcBef>
                  <a:spcPts val="0"/>
                </a:spcBef>
                <a:spcAft>
                  <a:spcPts val="0"/>
                </a:spcAft>
                <a:buNone/>
              </a:pPr>
              <a:r>
                <a:rPr lang="en" sz="1000"/>
                <a:t>SIMPLYECHO_NATIVE(var)</a:t>
              </a:r>
              <a:endParaRPr sz="1000"/>
            </a:p>
            <a:p>
              <a:pPr marL="0" lvl="0" indent="0" algn="l" rtl="0">
                <a:spcBef>
                  <a:spcPts val="0"/>
                </a:spcBef>
                <a:spcAft>
                  <a:spcPts val="0"/>
                </a:spcAft>
                <a:buNone/>
              </a:pPr>
              <a:r>
                <a:rPr lang="en" sz="1000"/>
                <a:t>}</a:t>
              </a:r>
              <a:endParaRPr sz="1000"/>
            </a:p>
          </p:txBody>
        </p:sp>
        <p:sp>
          <p:nvSpPr>
            <p:cNvPr id="769" name="Google Shape;769;p52"/>
            <p:cNvSpPr txBox="1"/>
            <p:nvPr/>
          </p:nvSpPr>
          <p:spPr>
            <a:xfrm>
              <a:off x="5481200" y="2190750"/>
              <a:ext cx="3000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000"/>
            </a:p>
          </p:txBody>
        </p:sp>
      </p:grpSp>
      <p:pic>
        <p:nvPicPr>
          <p:cNvPr id="770" name="Google Shape;770;p52"/>
          <p:cNvPicPr preferRelativeResize="0"/>
          <p:nvPr/>
        </p:nvPicPr>
        <p:blipFill>
          <a:blip r:embed="rId3">
            <a:alphaModFix/>
          </a:blip>
          <a:stretch>
            <a:fillRect/>
          </a:stretch>
        </p:blipFill>
        <p:spPr>
          <a:xfrm>
            <a:off x="1048600" y="752325"/>
            <a:ext cx="632076" cy="391749"/>
          </a:xfrm>
          <a:prstGeom prst="rect">
            <a:avLst/>
          </a:prstGeom>
          <a:noFill/>
          <a:ln>
            <a:noFill/>
          </a:ln>
        </p:spPr>
      </p:pic>
      <p:sp>
        <p:nvSpPr>
          <p:cNvPr id="771" name="Google Shape;771;p52"/>
          <p:cNvSpPr txBox="1">
            <a:spLocks noGrp="1"/>
          </p:cNvSpPr>
          <p:nvPr>
            <p:ph type="title" idx="4294967295"/>
          </p:nvPr>
        </p:nvSpPr>
        <p:spPr>
          <a:xfrm>
            <a:off x="1680675" y="598575"/>
            <a:ext cx="37071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Script</a:t>
            </a:r>
            <a:endParaRPr/>
          </a:p>
        </p:txBody>
      </p:sp>
      <p:sp>
        <p:nvSpPr>
          <p:cNvPr id="772" name="Google Shape;772;p52"/>
          <p:cNvSpPr txBox="1"/>
          <p:nvPr/>
        </p:nvSpPr>
        <p:spPr>
          <a:xfrm>
            <a:off x="0" y="4366432"/>
            <a:ext cx="5338500" cy="615600"/>
          </a:xfrm>
          <a:prstGeom prst="rect">
            <a:avLst/>
          </a:prstGeom>
          <a:noFill/>
          <a:ln w="9525" cap="flat" cmpd="sng">
            <a:solidFill>
              <a:srgbClr val="38761D"/>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When running a pipeline, the assumption is that the tools are available on the system where you are running the pipeline</a:t>
            </a:r>
            <a:endParaRPr>
              <a:latin typeface="Nunito"/>
              <a:ea typeface="Nunito"/>
              <a:cs typeface="Nunito"/>
              <a:sym typeface="Nunito"/>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47"/>
          <p:cNvSpPr txBox="1"/>
          <p:nvPr/>
        </p:nvSpPr>
        <p:spPr>
          <a:xfrm>
            <a:off x="5292900" y="1080000"/>
            <a:ext cx="3851100" cy="40635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process &lt; name &gt; {</a:t>
            </a:r>
            <a:endParaRPr/>
          </a:p>
          <a:p>
            <a:pPr marL="0" lvl="0" indent="0" algn="l" rtl="0">
              <a:spcBef>
                <a:spcPts val="0"/>
              </a:spcBef>
              <a:spcAft>
                <a:spcPts val="0"/>
              </a:spcAft>
              <a:buNone/>
            </a:pPr>
            <a:endParaRPr/>
          </a:p>
          <a:p>
            <a:pPr marL="0" lvl="0" indent="0" algn="l" rtl="0">
              <a:spcBef>
                <a:spcPts val="0"/>
              </a:spcBef>
              <a:spcAft>
                <a:spcPts val="0"/>
              </a:spcAft>
              <a:buNone/>
            </a:pPr>
            <a:r>
              <a:rPr lang="en">
                <a:solidFill>
                  <a:srgbClr val="0000FF"/>
                </a:solidFill>
              </a:rPr>
              <a:t> </a:t>
            </a:r>
            <a:r>
              <a:rPr lang="en"/>
              <a:t> [ directives ] </a:t>
            </a:r>
            <a:endParaRPr/>
          </a:p>
          <a:p>
            <a:pPr marL="0" lvl="0" indent="0" algn="l" rtl="0">
              <a:spcBef>
                <a:spcPts val="0"/>
              </a:spcBef>
              <a:spcAft>
                <a:spcPts val="0"/>
              </a:spcAft>
              <a:buNone/>
            </a:pPr>
            <a:endParaRPr/>
          </a:p>
          <a:p>
            <a:pPr marL="0" lvl="0" indent="0" algn="l" rtl="0">
              <a:spcBef>
                <a:spcPts val="0"/>
              </a:spcBef>
              <a:spcAft>
                <a:spcPts val="0"/>
              </a:spcAft>
              <a:buNone/>
            </a:pPr>
            <a:r>
              <a:rPr lang="en"/>
              <a:t>  input: </a:t>
            </a:r>
            <a:endParaRPr/>
          </a:p>
          <a:p>
            <a:pPr marL="0" lvl="0" indent="0" algn="l" rtl="0">
              <a:spcBef>
                <a:spcPts val="0"/>
              </a:spcBef>
              <a:spcAft>
                <a:spcPts val="0"/>
              </a:spcAft>
              <a:buNone/>
            </a:pPr>
            <a:r>
              <a:rPr lang="en"/>
              <a:t>  &lt; process inputs &gt;</a:t>
            </a:r>
            <a:endParaRPr/>
          </a:p>
          <a:p>
            <a:pPr marL="0" lvl="0" indent="0" algn="l" rtl="0">
              <a:spcBef>
                <a:spcPts val="0"/>
              </a:spcBef>
              <a:spcAft>
                <a:spcPts val="0"/>
              </a:spcAft>
              <a:buNone/>
            </a:pPr>
            <a:endParaRPr/>
          </a:p>
          <a:p>
            <a:pPr marL="0" lvl="0" indent="0" algn="l" rtl="0">
              <a:spcBef>
                <a:spcPts val="0"/>
              </a:spcBef>
              <a:spcAft>
                <a:spcPts val="0"/>
              </a:spcAft>
              <a:buNone/>
            </a:pPr>
            <a:r>
              <a:rPr lang="en"/>
              <a:t>  </a:t>
            </a:r>
            <a:r>
              <a:rPr lang="en">
                <a:solidFill>
                  <a:srgbClr val="0000FF"/>
                </a:solidFill>
              </a:rPr>
              <a:t>output: </a:t>
            </a:r>
            <a:endParaRPr>
              <a:solidFill>
                <a:srgbClr val="0000FF"/>
              </a:solidFill>
            </a:endParaRPr>
          </a:p>
          <a:p>
            <a:pPr marL="0" lvl="0" indent="0" algn="l" rtl="0">
              <a:spcBef>
                <a:spcPts val="0"/>
              </a:spcBef>
              <a:spcAft>
                <a:spcPts val="0"/>
              </a:spcAft>
              <a:buNone/>
            </a:pPr>
            <a:r>
              <a:rPr lang="en">
                <a:solidFill>
                  <a:srgbClr val="0000FF"/>
                </a:solidFill>
              </a:rPr>
              <a:t>  &lt; process outputs &gt;</a:t>
            </a:r>
            <a:endParaRPr>
              <a:solidFill>
                <a:srgbClr val="0000FF"/>
              </a:solidFill>
            </a:endParaRPr>
          </a:p>
          <a:p>
            <a:pPr marL="0" lvl="0" indent="0" algn="l" rtl="0">
              <a:spcBef>
                <a:spcPts val="0"/>
              </a:spcBef>
              <a:spcAft>
                <a:spcPts val="0"/>
              </a:spcAft>
              <a:buNone/>
            </a:pPr>
            <a:endParaRPr/>
          </a:p>
          <a:p>
            <a:pPr marL="0" lvl="0" indent="0" algn="l" rtl="0">
              <a:spcBef>
                <a:spcPts val="0"/>
              </a:spcBef>
              <a:spcAft>
                <a:spcPts val="0"/>
              </a:spcAft>
              <a:buNone/>
            </a:pPr>
            <a:r>
              <a:rPr lang="en"/>
              <a:t>  when: </a:t>
            </a:r>
            <a:endParaRPr/>
          </a:p>
          <a:p>
            <a:pPr marL="0" lvl="0" indent="0" algn="l" rtl="0">
              <a:spcBef>
                <a:spcPts val="0"/>
              </a:spcBef>
              <a:spcAft>
                <a:spcPts val="0"/>
              </a:spcAft>
              <a:buNone/>
            </a:pPr>
            <a:r>
              <a:rPr lang="en"/>
              <a:t>  &lt; condition &gt;</a:t>
            </a:r>
            <a:endParaRPr/>
          </a:p>
          <a:p>
            <a:pPr marL="0" lvl="0" indent="0" algn="l" rtl="0">
              <a:spcBef>
                <a:spcPts val="0"/>
              </a:spcBef>
              <a:spcAft>
                <a:spcPts val="0"/>
              </a:spcAft>
              <a:buNone/>
            </a:pPr>
            <a:endParaRPr/>
          </a:p>
          <a:p>
            <a:pPr marL="0" lvl="0" indent="0" algn="l" rtl="0">
              <a:spcBef>
                <a:spcPts val="0"/>
              </a:spcBef>
              <a:spcAft>
                <a:spcPts val="0"/>
              </a:spcAft>
              <a:buNone/>
            </a:pPr>
            <a:r>
              <a:rPr lang="en"/>
              <a:t>  [script|shell|exec]: </a:t>
            </a:r>
            <a:endParaRPr/>
          </a:p>
          <a:p>
            <a:pPr marL="0" lvl="0" indent="0" algn="l" rtl="0">
              <a:spcBef>
                <a:spcPts val="0"/>
              </a:spcBef>
              <a:spcAft>
                <a:spcPts val="0"/>
              </a:spcAft>
              <a:buNone/>
            </a:pPr>
            <a:r>
              <a:rPr lang="en"/>
              <a:t>  """</a:t>
            </a:r>
            <a:endParaRPr/>
          </a:p>
          <a:p>
            <a:pPr marL="0" lvl="0" indent="0" algn="l" rtl="0">
              <a:spcBef>
                <a:spcPts val="0"/>
              </a:spcBef>
              <a:spcAft>
                <a:spcPts val="0"/>
              </a:spcAft>
              <a:buNone/>
            </a:pPr>
            <a:r>
              <a:rPr lang="en"/>
              <a:t>  &lt; user script to be executed &gt;</a:t>
            </a:r>
            <a:endParaRPr/>
          </a:p>
          <a:p>
            <a:pPr marL="0" lvl="0" indent="0" algn="l" rtl="0">
              <a:spcBef>
                <a:spcPts val="0"/>
              </a:spcBef>
              <a:spcAft>
                <a:spcPts val="0"/>
              </a:spcAft>
              <a:buNone/>
            </a:pPr>
            <a:r>
              <a:rPr lang="en"/>
              <a:t>  """</a:t>
            </a:r>
            <a:endParaRPr/>
          </a:p>
          <a:p>
            <a:pPr marL="0" lvl="0" indent="0" algn="l" rtl="0">
              <a:spcBef>
                <a:spcPts val="0"/>
              </a:spcBef>
              <a:spcAft>
                <a:spcPts val="0"/>
              </a:spcAft>
              <a:buNone/>
            </a:pPr>
            <a:r>
              <a:rPr lang="en"/>
              <a:t>}</a:t>
            </a:r>
            <a:endParaRPr/>
          </a:p>
        </p:txBody>
      </p:sp>
      <p:cxnSp>
        <p:nvCxnSpPr>
          <p:cNvPr id="674" name="Google Shape;674;p47"/>
          <p:cNvCxnSpPr/>
          <p:nvPr/>
        </p:nvCxnSpPr>
        <p:spPr>
          <a:xfrm rot="10800000" flipH="1">
            <a:off x="1191275" y="988963"/>
            <a:ext cx="486600" cy="9900"/>
          </a:xfrm>
          <a:prstGeom prst="straightConnector1">
            <a:avLst/>
          </a:prstGeom>
          <a:noFill/>
          <a:ln w="28575" cap="flat" cmpd="sng">
            <a:solidFill>
              <a:schemeClr val="dk2"/>
            </a:solidFill>
            <a:prstDash val="solid"/>
            <a:round/>
            <a:headEnd type="none" w="med" len="med"/>
            <a:tailEnd type="triangle" w="med" len="med"/>
          </a:ln>
        </p:spPr>
      </p:cxnSp>
      <p:pic>
        <p:nvPicPr>
          <p:cNvPr id="675" name="Google Shape;675;p47"/>
          <p:cNvPicPr preferRelativeResize="0"/>
          <p:nvPr/>
        </p:nvPicPr>
        <p:blipFill>
          <a:blip r:embed="rId3">
            <a:alphaModFix/>
          </a:blip>
          <a:stretch>
            <a:fillRect/>
          </a:stretch>
        </p:blipFill>
        <p:spPr>
          <a:xfrm>
            <a:off x="534775" y="644562"/>
            <a:ext cx="688700" cy="688700"/>
          </a:xfrm>
          <a:prstGeom prst="rect">
            <a:avLst/>
          </a:prstGeom>
          <a:noFill/>
          <a:ln>
            <a:noFill/>
          </a:ln>
        </p:spPr>
      </p:pic>
      <p:sp>
        <p:nvSpPr>
          <p:cNvPr id="676" name="Google Shape;676;p47"/>
          <p:cNvSpPr txBox="1">
            <a:spLocks noGrp="1"/>
          </p:cNvSpPr>
          <p:nvPr>
            <p:ph type="title" idx="4294967295"/>
          </p:nvPr>
        </p:nvSpPr>
        <p:spPr>
          <a:xfrm>
            <a:off x="1680675" y="598575"/>
            <a:ext cx="6196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Output</a:t>
            </a:r>
            <a:endParaRPr/>
          </a:p>
        </p:txBody>
      </p:sp>
      <p:sp>
        <p:nvSpPr>
          <p:cNvPr id="677" name="Google Shape;677;p47"/>
          <p:cNvSpPr txBox="1"/>
          <p:nvPr/>
        </p:nvSpPr>
        <p:spPr>
          <a:xfrm>
            <a:off x="569125" y="2258600"/>
            <a:ext cx="3452700" cy="1454214"/>
          </a:xfrm>
          <a:prstGeom prst="rect">
            <a:avLst/>
          </a:prstGeom>
          <a:noFill/>
          <a:ln>
            <a:noFill/>
          </a:ln>
        </p:spPr>
        <p:txBody>
          <a:bodyPr spcFirstLastPara="1" wrap="square" lIns="91425" tIns="91425" rIns="91425" bIns="91425" anchor="t" anchorCtr="0">
            <a:spAutoFit/>
          </a:bodyPr>
          <a:lstStyle/>
          <a:p>
            <a:pPr marL="457200" lvl="0" indent="-298450">
              <a:lnSpc>
                <a:spcPct val="150000"/>
              </a:lnSpc>
              <a:buSzPts val="1100"/>
              <a:buChar char="●"/>
            </a:pPr>
            <a:r>
              <a:rPr lang="en" sz="1100" dirty="0"/>
              <a:t>The output declaration block allows you to define the channels used by the process to send out the results produced. </a:t>
            </a:r>
            <a:r>
              <a:rPr lang="en-US" sz="1100" dirty="0"/>
              <a:t>A process has a single output block, which can contain multiple output declarations.</a:t>
            </a:r>
            <a:endParaRPr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cxnSp>
        <p:nvCxnSpPr>
          <p:cNvPr id="682" name="Google Shape;682;p48"/>
          <p:cNvCxnSpPr/>
          <p:nvPr/>
        </p:nvCxnSpPr>
        <p:spPr>
          <a:xfrm rot="10800000" flipH="1">
            <a:off x="1191275" y="988963"/>
            <a:ext cx="486600" cy="9900"/>
          </a:xfrm>
          <a:prstGeom prst="straightConnector1">
            <a:avLst/>
          </a:prstGeom>
          <a:noFill/>
          <a:ln w="28575" cap="flat" cmpd="sng">
            <a:solidFill>
              <a:schemeClr val="dk2"/>
            </a:solidFill>
            <a:prstDash val="solid"/>
            <a:round/>
            <a:headEnd type="none" w="med" len="med"/>
            <a:tailEnd type="triangle" w="med" len="med"/>
          </a:ln>
        </p:spPr>
      </p:cxnSp>
      <p:pic>
        <p:nvPicPr>
          <p:cNvPr id="683" name="Google Shape;683;p48"/>
          <p:cNvPicPr preferRelativeResize="0"/>
          <p:nvPr/>
        </p:nvPicPr>
        <p:blipFill>
          <a:blip r:embed="rId3">
            <a:alphaModFix/>
          </a:blip>
          <a:stretch>
            <a:fillRect/>
          </a:stretch>
        </p:blipFill>
        <p:spPr>
          <a:xfrm>
            <a:off x="534775" y="644562"/>
            <a:ext cx="688700" cy="688700"/>
          </a:xfrm>
          <a:prstGeom prst="rect">
            <a:avLst/>
          </a:prstGeom>
          <a:noFill/>
          <a:ln>
            <a:noFill/>
          </a:ln>
        </p:spPr>
      </p:pic>
      <p:sp>
        <p:nvSpPr>
          <p:cNvPr id="684" name="Google Shape;684;p48"/>
          <p:cNvSpPr txBox="1">
            <a:spLocks noGrp="1"/>
          </p:cNvSpPr>
          <p:nvPr>
            <p:ph type="title" idx="4294967295"/>
          </p:nvPr>
        </p:nvSpPr>
        <p:spPr>
          <a:xfrm>
            <a:off x="1680675" y="598575"/>
            <a:ext cx="1524600" cy="688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Output</a:t>
            </a:r>
            <a:endParaRPr/>
          </a:p>
        </p:txBody>
      </p:sp>
      <p:sp>
        <p:nvSpPr>
          <p:cNvPr id="685" name="Google Shape;685;p48"/>
          <p:cNvSpPr txBox="1"/>
          <p:nvPr/>
        </p:nvSpPr>
        <p:spPr>
          <a:xfrm>
            <a:off x="3528650" y="1477500"/>
            <a:ext cx="4490100" cy="6927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output:</a:t>
            </a:r>
            <a:endParaRPr sz="1100"/>
          </a:p>
          <a:p>
            <a:pPr marL="0" lvl="0" indent="0" algn="l" rtl="0">
              <a:spcBef>
                <a:spcPts val="0"/>
              </a:spcBef>
              <a:spcAft>
                <a:spcPts val="0"/>
              </a:spcAft>
              <a:buNone/>
            </a:pPr>
            <a:r>
              <a:rPr lang="en" sz="1100"/>
              <a:t>&lt;output qualifier&gt;   &lt;output name&gt; </a:t>
            </a:r>
            <a:r>
              <a:rPr lang="en" sz="1100">
                <a:solidFill>
                  <a:srgbClr val="212121"/>
                </a:solidFill>
              </a:rPr>
              <a:t>[, &lt;option&gt;: &lt;option value&gt;]</a:t>
            </a:r>
            <a:endParaRPr sz="1100">
              <a:solidFill>
                <a:srgbClr val="212121"/>
              </a:solidFill>
            </a:endParaRPr>
          </a:p>
          <a:p>
            <a:pPr marL="0" lvl="0" indent="0" algn="l" rtl="0">
              <a:spcBef>
                <a:spcPts val="0"/>
              </a:spcBef>
              <a:spcAft>
                <a:spcPts val="0"/>
              </a:spcAft>
              <a:buNone/>
            </a:pPr>
            <a:r>
              <a:rPr lang="en" sz="1100"/>
              <a:t> </a:t>
            </a:r>
            <a:endParaRPr sz="1100"/>
          </a:p>
        </p:txBody>
      </p:sp>
      <p:sp>
        <p:nvSpPr>
          <p:cNvPr id="686" name="Google Shape;686;p48"/>
          <p:cNvSpPr txBox="1"/>
          <p:nvPr/>
        </p:nvSpPr>
        <p:spPr>
          <a:xfrm>
            <a:off x="3136925" y="720075"/>
            <a:ext cx="22266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What type of output the process is giving (file, value etc)?</a:t>
            </a:r>
            <a:endParaRPr sz="1100"/>
          </a:p>
        </p:txBody>
      </p:sp>
      <p:sp>
        <p:nvSpPr>
          <p:cNvPr id="687" name="Google Shape;687;p48"/>
          <p:cNvSpPr txBox="1"/>
          <p:nvPr/>
        </p:nvSpPr>
        <p:spPr>
          <a:xfrm>
            <a:off x="4318400" y="2512050"/>
            <a:ext cx="24057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The actual name of value, variable</a:t>
            </a:r>
            <a:endParaRPr sz="1100"/>
          </a:p>
          <a:p>
            <a:pPr marL="0" lvl="0" indent="0" algn="l" rtl="0">
              <a:spcBef>
                <a:spcPts val="0"/>
              </a:spcBef>
              <a:spcAft>
                <a:spcPts val="0"/>
              </a:spcAft>
              <a:buNone/>
            </a:pPr>
            <a:r>
              <a:rPr lang="en" sz="1100"/>
              <a:t>or file the process is output. E.g.,</a:t>
            </a:r>
            <a:endParaRPr sz="1100"/>
          </a:p>
          <a:p>
            <a:pPr marL="0" lvl="0" indent="0" algn="l" rtl="0">
              <a:spcBef>
                <a:spcPts val="0"/>
              </a:spcBef>
              <a:spcAft>
                <a:spcPts val="0"/>
              </a:spcAft>
              <a:buNone/>
            </a:pPr>
            <a:r>
              <a:rPr lang="en" sz="1100"/>
              <a:t>results of the analysis!</a:t>
            </a:r>
            <a:endParaRPr sz="1100"/>
          </a:p>
          <a:p>
            <a:pPr marL="0" lvl="0" indent="0" algn="l" rtl="0">
              <a:spcBef>
                <a:spcPts val="0"/>
              </a:spcBef>
              <a:spcAft>
                <a:spcPts val="0"/>
              </a:spcAft>
              <a:buNone/>
            </a:pPr>
            <a:endParaRPr sz="1100"/>
          </a:p>
        </p:txBody>
      </p:sp>
      <p:cxnSp>
        <p:nvCxnSpPr>
          <p:cNvPr id="688" name="Google Shape;688;p48"/>
          <p:cNvCxnSpPr/>
          <p:nvPr/>
        </p:nvCxnSpPr>
        <p:spPr>
          <a:xfrm rot="10800000">
            <a:off x="4080025" y="1183550"/>
            <a:ext cx="5700" cy="322800"/>
          </a:xfrm>
          <a:prstGeom prst="straightConnector1">
            <a:avLst/>
          </a:prstGeom>
          <a:noFill/>
          <a:ln w="9525" cap="flat" cmpd="sng">
            <a:solidFill>
              <a:schemeClr val="dk2"/>
            </a:solidFill>
            <a:prstDash val="solid"/>
            <a:round/>
            <a:headEnd type="none" w="med" len="med"/>
            <a:tailEnd type="triangle" w="med" len="med"/>
          </a:ln>
        </p:spPr>
      </p:cxnSp>
      <p:cxnSp>
        <p:nvCxnSpPr>
          <p:cNvPr id="689" name="Google Shape;689;p48"/>
          <p:cNvCxnSpPr>
            <a:endCxn id="687" idx="0"/>
          </p:cNvCxnSpPr>
          <p:nvPr/>
        </p:nvCxnSpPr>
        <p:spPr>
          <a:xfrm>
            <a:off x="5521250" y="2108250"/>
            <a:ext cx="0" cy="403800"/>
          </a:xfrm>
          <a:prstGeom prst="straightConnector1">
            <a:avLst/>
          </a:prstGeom>
          <a:noFill/>
          <a:ln w="9525" cap="flat" cmpd="sng">
            <a:solidFill>
              <a:schemeClr val="dk2"/>
            </a:solidFill>
            <a:prstDash val="solid"/>
            <a:round/>
            <a:headEnd type="none" w="med" len="med"/>
            <a:tailEnd type="triangle" w="med" len="med"/>
          </a:ln>
        </p:spPr>
      </p:cxnSp>
      <p:sp>
        <p:nvSpPr>
          <p:cNvPr id="690" name="Google Shape;690;p48"/>
          <p:cNvSpPr txBox="1"/>
          <p:nvPr/>
        </p:nvSpPr>
        <p:spPr>
          <a:xfrm>
            <a:off x="145875" y="1758425"/>
            <a:ext cx="3111000" cy="1200600"/>
          </a:xfrm>
          <a:prstGeom prst="rect">
            <a:avLst/>
          </a:prstGeom>
          <a:noFill/>
          <a:ln>
            <a:noFill/>
          </a:ln>
        </p:spPr>
        <p:txBody>
          <a:bodyPr spcFirstLastPara="1" wrap="square" lIns="91425" tIns="91425" rIns="91425" bIns="91425" anchor="t" anchorCtr="0">
            <a:spAutoFit/>
          </a:bodyPr>
          <a:lstStyle/>
          <a:p>
            <a:pPr marL="457200" lvl="0" indent="-298450" algn="l" rtl="0">
              <a:spcBef>
                <a:spcPts val="0"/>
              </a:spcBef>
              <a:spcAft>
                <a:spcPts val="0"/>
              </a:spcAft>
              <a:buSzPts val="1100"/>
              <a:buChar char="●"/>
            </a:pPr>
            <a:r>
              <a:rPr lang="en" sz="1100"/>
              <a:t>Output definitions start by an output qualifier and the output name, followed by the keyword into and one or more channels over which outputs are sent. Finally some optional attributes can be specified.</a:t>
            </a:r>
            <a:endParaRPr sz="1100"/>
          </a:p>
        </p:txBody>
      </p:sp>
      <p:graphicFrame>
        <p:nvGraphicFramePr>
          <p:cNvPr id="691" name="Google Shape;691;p48"/>
          <p:cNvGraphicFramePr/>
          <p:nvPr>
            <p:extLst>
              <p:ext uri="{D42A27DB-BD31-4B8C-83A1-F6EECF244321}">
                <p14:modId xmlns:p14="http://schemas.microsoft.com/office/powerpoint/2010/main" val="3773047349"/>
              </p:ext>
            </p:extLst>
          </p:nvPr>
        </p:nvGraphicFramePr>
        <p:xfrm>
          <a:off x="1612000" y="3474175"/>
          <a:ext cx="5521613" cy="1722231"/>
        </p:xfrm>
        <a:graphic>
          <a:graphicData uri="http://schemas.openxmlformats.org/drawingml/2006/table">
            <a:tbl>
              <a:tblPr>
                <a:noFill/>
                <a:tableStyleId>{712A25F6-365B-4CE5-B9C8-0CC15657493F}</a:tableStyleId>
              </a:tblPr>
              <a:tblGrid>
                <a:gridCol w="730538">
                  <a:extLst>
                    <a:ext uri="{9D8B030D-6E8A-4147-A177-3AD203B41FA5}">
                      <a16:colId xmlns:a16="http://schemas.microsoft.com/office/drawing/2014/main" val="20000"/>
                    </a:ext>
                  </a:extLst>
                </a:gridCol>
                <a:gridCol w="4791075">
                  <a:extLst>
                    <a:ext uri="{9D8B030D-6E8A-4147-A177-3AD203B41FA5}">
                      <a16:colId xmlns:a16="http://schemas.microsoft.com/office/drawing/2014/main" val="20001"/>
                    </a:ext>
                  </a:extLst>
                </a:gridCol>
              </a:tblGrid>
              <a:tr h="0">
                <a:tc>
                  <a:txBody>
                    <a:bodyPr/>
                    <a:lstStyle/>
                    <a:p>
                      <a:pPr marL="0" lvl="0" indent="0" algn="ctr" rtl="0">
                        <a:lnSpc>
                          <a:spcPct val="30000"/>
                        </a:lnSpc>
                        <a:spcBef>
                          <a:spcPts val="0"/>
                        </a:spcBef>
                        <a:spcAft>
                          <a:spcPts val="0"/>
                        </a:spcAft>
                        <a:buNone/>
                      </a:pPr>
                      <a:r>
                        <a:rPr lang="en" sz="1000" b="1"/>
                        <a:t>Qualifier</a:t>
                      </a:r>
                      <a:endParaRPr sz="1000" b="1"/>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tc>
                  <a:txBody>
                    <a:bodyPr/>
                    <a:lstStyle/>
                    <a:p>
                      <a:pPr marL="0" lvl="0" indent="0" algn="ctr" rtl="0">
                        <a:lnSpc>
                          <a:spcPct val="30000"/>
                        </a:lnSpc>
                        <a:spcBef>
                          <a:spcPts val="0"/>
                        </a:spcBef>
                        <a:spcAft>
                          <a:spcPts val="0"/>
                        </a:spcAft>
                        <a:buNone/>
                      </a:pPr>
                      <a:r>
                        <a:rPr lang="en" sz="1000" b="1"/>
                        <a:t>Semantic</a:t>
                      </a:r>
                      <a:endParaRPr sz="1000" b="1"/>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lnSpc>
                          <a:spcPct val="30000"/>
                        </a:lnSpc>
                        <a:spcBef>
                          <a:spcPts val="0"/>
                        </a:spcBef>
                        <a:spcAft>
                          <a:spcPts val="0"/>
                        </a:spcAft>
                        <a:buNone/>
                      </a:pPr>
                      <a:r>
                        <a:rPr lang="en" sz="1000" dirty="0" err="1">
                          <a:solidFill>
                            <a:srgbClr val="00B050"/>
                          </a:solidFill>
                        </a:rPr>
                        <a:t>val</a:t>
                      </a:r>
                      <a:endParaRPr sz="1000" dirty="0">
                        <a:solidFill>
                          <a:srgbClr val="00B050"/>
                        </a:solidFill>
                      </a:endParaRPr>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tcPr>
                </a:tc>
                <a:tc>
                  <a:txBody>
                    <a:bodyPr/>
                    <a:lstStyle/>
                    <a:p>
                      <a:pPr marL="0" lvl="0" indent="0" algn="l" rtl="0">
                        <a:lnSpc>
                          <a:spcPct val="30000"/>
                        </a:lnSpc>
                        <a:spcBef>
                          <a:spcPts val="0"/>
                        </a:spcBef>
                        <a:spcAft>
                          <a:spcPts val="0"/>
                        </a:spcAft>
                        <a:buNone/>
                      </a:pPr>
                      <a:r>
                        <a:rPr lang="en" sz="1000" dirty="0">
                          <a:solidFill>
                            <a:srgbClr val="00B050"/>
                          </a:solidFill>
                        </a:rPr>
                        <a:t>Emit the variable with the specified name.</a:t>
                      </a:r>
                      <a:endParaRPr sz="1000" dirty="0">
                        <a:solidFill>
                          <a:srgbClr val="00B050"/>
                        </a:solidFill>
                      </a:endParaRPr>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0">
                <a:tc>
                  <a:txBody>
                    <a:bodyPr/>
                    <a:lstStyle/>
                    <a:p>
                      <a:pPr marL="0" lvl="0" indent="0" algn="l" rtl="0">
                        <a:lnSpc>
                          <a:spcPct val="30000"/>
                        </a:lnSpc>
                        <a:spcBef>
                          <a:spcPts val="0"/>
                        </a:spcBef>
                        <a:spcAft>
                          <a:spcPts val="0"/>
                        </a:spcAft>
                        <a:buNone/>
                      </a:pPr>
                      <a:r>
                        <a:rPr lang="en" sz="1000" dirty="0">
                          <a:solidFill>
                            <a:schemeClr val="bg2">
                              <a:lumMod val="50000"/>
                            </a:schemeClr>
                          </a:solidFill>
                        </a:rPr>
                        <a:t>file</a:t>
                      </a:r>
                      <a:endParaRPr sz="1000" dirty="0">
                        <a:solidFill>
                          <a:schemeClr val="bg2">
                            <a:lumMod val="50000"/>
                          </a:schemeClr>
                        </a:solidFill>
                      </a:endParaRPr>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tcPr>
                </a:tc>
                <a:tc>
                  <a:txBody>
                    <a:bodyPr/>
                    <a:lstStyle/>
                    <a:p>
                      <a:pPr marL="0" lvl="0" indent="0" algn="l" rtl="0">
                        <a:lnSpc>
                          <a:spcPct val="30000"/>
                        </a:lnSpc>
                        <a:spcBef>
                          <a:spcPts val="0"/>
                        </a:spcBef>
                        <a:spcAft>
                          <a:spcPts val="0"/>
                        </a:spcAft>
                        <a:buNone/>
                      </a:pPr>
                      <a:r>
                        <a:rPr lang="en" sz="1000" dirty="0">
                          <a:solidFill>
                            <a:schemeClr val="bg2">
                              <a:lumMod val="50000"/>
                            </a:schemeClr>
                          </a:solidFill>
                        </a:rPr>
                        <a:t>(DEPRECATED) Emit a file produced by the process with the specified name.</a:t>
                      </a:r>
                      <a:endParaRPr sz="1000" dirty="0">
                        <a:solidFill>
                          <a:schemeClr val="bg2">
                            <a:lumMod val="50000"/>
                          </a:schemeClr>
                        </a:solidFill>
                      </a:endParaRPr>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tcPr>
                </a:tc>
                <a:extLst>
                  <a:ext uri="{0D108BD9-81ED-4DB2-BD59-A6C34878D82A}">
                    <a16:rowId xmlns:a16="http://schemas.microsoft.com/office/drawing/2014/main" val="10002"/>
                  </a:ext>
                </a:extLst>
              </a:tr>
              <a:tr h="0">
                <a:tc>
                  <a:txBody>
                    <a:bodyPr/>
                    <a:lstStyle/>
                    <a:p>
                      <a:pPr marL="0" lvl="0" indent="0" algn="l" rtl="0">
                        <a:lnSpc>
                          <a:spcPct val="30000"/>
                        </a:lnSpc>
                        <a:spcBef>
                          <a:spcPts val="0"/>
                        </a:spcBef>
                        <a:spcAft>
                          <a:spcPts val="0"/>
                        </a:spcAft>
                        <a:buNone/>
                      </a:pPr>
                      <a:r>
                        <a:rPr lang="en" sz="1000" dirty="0">
                          <a:solidFill>
                            <a:srgbClr val="00B050"/>
                          </a:solidFill>
                        </a:rPr>
                        <a:t>path</a:t>
                      </a:r>
                      <a:endParaRPr sz="1000" dirty="0">
                        <a:solidFill>
                          <a:srgbClr val="00B050"/>
                        </a:solidFill>
                      </a:endParaRPr>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tcPr>
                </a:tc>
                <a:tc>
                  <a:txBody>
                    <a:bodyPr/>
                    <a:lstStyle/>
                    <a:p>
                      <a:pPr marL="0" lvl="0" indent="0" algn="l" rtl="0">
                        <a:lnSpc>
                          <a:spcPct val="30000"/>
                        </a:lnSpc>
                        <a:spcBef>
                          <a:spcPts val="0"/>
                        </a:spcBef>
                        <a:spcAft>
                          <a:spcPts val="0"/>
                        </a:spcAft>
                        <a:buNone/>
                      </a:pPr>
                      <a:r>
                        <a:rPr lang="en" sz="1000" dirty="0">
                          <a:solidFill>
                            <a:srgbClr val="00B050"/>
                          </a:solidFill>
                        </a:rPr>
                        <a:t>Emit a file produced by the process with the specified name.</a:t>
                      </a:r>
                      <a:endParaRPr sz="1000" dirty="0">
                        <a:solidFill>
                          <a:srgbClr val="00B050"/>
                        </a:solidFill>
                      </a:endParaRPr>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tcPr>
                </a:tc>
                <a:extLst>
                  <a:ext uri="{0D108BD9-81ED-4DB2-BD59-A6C34878D82A}">
                    <a16:rowId xmlns:a16="http://schemas.microsoft.com/office/drawing/2014/main" val="10003"/>
                  </a:ext>
                </a:extLst>
              </a:tr>
              <a:tr h="0">
                <a:tc>
                  <a:txBody>
                    <a:bodyPr/>
                    <a:lstStyle/>
                    <a:p>
                      <a:pPr marL="0" lvl="0" indent="0" algn="l" rtl="0">
                        <a:lnSpc>
                          <a:spcPct val="30000"/>
                        </a:lnSpc>
                        <a:spcBef>
                          <a:spcPts val="0"/>
                        </a:spcBef>
                        <a:spcAft>
                          <a:spcPts val="0"/>
                        </a:spcAft>
                        <a:buNone/>
                      </a:pPr>
                      <a:r>
                        <a:rPr lang="en" sz="1000"/>
                        <a:t>env</a:t>
                      </a:r>
                      <a:endParaRPr sz="1000"/>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tcPr>
                </a:tc>
                <a:tc>
                  <a:txBody>
                    <a:bodyPr/>
                    <a:lstStyle/>
                    <a:p>
                      <a:pPr marL="0" lvl="0" indent="0" algn="l" rtl="0">
                        <a:lnSpc>
                          <a:spcPct val="30000"/>
                        </a:lnSpc>
                        <a:spcBef>
                          <a:spcPts val="0"/>
                        </a:spcBef>
                        <a:spcAft>
                          <a:spcPts val="0"/>
                        </a:spcAft>
                        <a:buNone/>
                      </a:pPr>
                      <a:r>
                        <a:rPr lang="en" sz="1000" dirty="0"/>
                        <a:t>Emit the variable defined in the process environment with the specified name.</a:t>
                      </a:r>
                      <a:endParaRPr sz="1000" dirty="0"/>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tcPr>
                </a:tc>
                <a:extLst>
                  <a:ext uri="{0D108BD9-81ED-4DB2-BD59-A6C34878D82A}">
                    <a16:rowId xmlns:a16="http://schemas.microsoft.com/office/drawing/2014/main" val="10004"/>
                  </a:ext>
                </a:extLst>
              </a:tr>
              <a:tr h="0">
                <a:tc>
                  <a:txBody>
                    <a:bodyPr/>
                    <a:lstStyle/>
                    <a:p>
                      <a:pPr marL="0" lvl="0" indent="0" algn="l" rtl="0">
                        <a:lnSpc>
                          <a:spcPct val="30000"/>
                        </a:lnSpc>
                        <a:spcBef>
                          <a:spcPts val="0"/>
                        </a:spcBef>
                        <a:spcAft>
                          <a:spcPts val="0"/>
                        </a:spcAft>
                        <a:buNone/>
                      </a:pPr>
                      <a:r>
                        <a:rPr lang="en" sz="1000"/>
                        <a:t>stdout</a:t>
                      </a:r>
                      <a:endParaRPr sz="1000"/>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tcPr>
                </a:tc>
                <a:tc>
                  <a:txBody>
                    <a:bodyPr/>
                    <a:lstStyle/>
                    <a:p>
                      <a:pPr marL="0" lvl="0" indent="0" algn="l" rtl="0">
                        <a:lnSpc>
                          <a:spcPct val="30000"/>
                        </a:lnSpc>
                        <a:spcBef>
                          <a:spcPts val="0"/>
                        </a:spcBef>
                        <a:spcAft>
                          <a:spcPts val="0"/>
                        </a:spcAft>
                        <a:buNone/>
                      </a:pPr>
                      <a:r>
                        <a:rPr lang="en" sz="1000"/>
                        <a:t>Emit the stdout of the executed process.</a:t>
                      </a:r>
                      <a:endParaRPr sz="1000"/>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tcPr>
                </a:tc>
                <a:extLst>
                  <a:ext uri="{0D108BD9-81ED-4DB2-BD59-A6C34878D82A}">
                    <a16:rowId xmlns:a16="http://schemas.microsoft.com/office/drawing/2014/main" val="10005"/>
                  </a:ext>
                </a:extLst>
              </a:tr>
              <a:tr h="0">
                <a:tc>
                  <a:txBody>
                    <a:bodyPr/>
                    <a:lstStyle/>
                    <a:p>
                      <a:pPr marL="0" lvl="0" indent="0" algn="l" rtl="0">
                        <a:lnSpc>
                          <a:spcPct val="30000"/>
                        </a:lnSpc>
                        <a:spcBef>
                          <a:spcPts val="0"/>
                        </a:spcBef>
                        <a:spcAft>
                          <a:spcPts val="0"/>
                        </a:spcAft>
                        <a:buNone/>
                      </a:pPr>
                      <a:r>
                        <a:rPr lang="en" sz="1000"/>
                        <a:t>tuple</a:t>
                      </a:r>
                      <a:endParaRPr sz="1000"/>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B w="6350" cap="flat" cmpd="sng">
                      <a:solidFill>
                        <a:srgbClr val="000000"/>
                      </a:solidFill>
                      <a:prstDash val="solid"/>
                      <a:round/>
                      <a:headEnd type="none" w="sm" len="sm"/>
                      <a:tailEnd type="none" w="sm" len="sm"/>
                    </a:lnB>
                  </a:tcPr>
                </a:tc>
                <a:tc>
                  <a:txBody>
                    <a:bodyPr/>
                    <a:lstStyle/>
                    <a:p>
                      <a:pPr marL="0" lvl="0" indent="0" algn="l" rtl="0">
                        <a:lnSpc>
                          <a:spcPct val="30000"/>
                        </a:lnSpc>
                        <a:spcBef>
                          <a:spcPts val="0"/>
                        </a:spcBef>
                        <a:spcAft>
                          <a:spcPts val="0"/>
                        </a:spcAft>
                        <a:buNone/>
                      </a:pPr>
                      <a:r>
                        <a:rPr lang="en" sz="1000" dirty="0"/>
                        <a:t>Emit multiple values.</a:t>
                      </a:r>
                      <a:endParaRPr sz="1000" dirty="0"/>
                    </a:p>
                  </a:txBody>
                  <a:tcPr marL="91425" marR="91425" marT="91425" marB="91425">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B w="635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692" name="Google Shape;692;p48"/>
          <p:cNvSpPr txBox="1"/>
          <p:nvPr/>
        </p:nvSpPr>
        <p:spPr>
          <a:xfrm>
            <a:off x="5909850" y="933375"/>
            <a:ext cx="13548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212121"/>
                </a:solidFill>
                <a:highlight>
                  <a:srgbClr val="FCFCFC"/>
                </a:highlight>
              </a:rPr>
              <a:t>Optional attributes</a:t>
            </a:r>
            <a:endParaRPr sz="1100">
              <a:solidFill>
                <a:srgbClr val="212121"/>
              </a:solidFill>
            </a:endParaRPr>
          </a:p>
        </p:txBody>
      </p:sp>
      <p:cxnSp>
        <p:nvCxnSpPr>
          <p:cNvPr id="693" name="Google Shape;693;p48"/>
          <p:cNvCxnSpPr/>
          <p:nvPr/>
        </p:nvCxnSpPr>
        <p:spPr>
          <a:xfrm rot="10800000">
            <a:off x="6584400" y="1333250"/>
            <a:ext cx="5700" cy="3228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cxnSp>
        <p:nvCxnSpPr>
          <p:cNvPr id="698" name="Google Shape;698;p49"/>
          <p:cNvCxnSpPr/>
          <p:nvPr/>
        </p:nvCxnSpPr>
        <p:spPr>
          <a:xfrm rot="10800000" flipH="1">
            <a:off x="1191275" y="988963"/>
            <a:ext cx="486600" cy="9900"/>
          </a:xfrm>
          <a:prstGeom prst="straightConnector1">
            <a:avLst/>
          </a:prstGeom>
          <a:noFill/>
          <a:ln w="28575" cap="flat" cmpd="sng">
            <a:solidFill>
              <a:schemeClr val="dk2"/>
            </a:solidFill>
            <a:prstDash val="solid"/>
            <a:round/>
            <a:headEnd type="none" w="med" len="med"/>
            <a:tailEnd type="triangle" w="med" len="med"/>
          </a:ln>
        </p:spPr>
      </p:cxnSp>
      <p:pic>
        <p:nvPicPr>
          <p:cNvPr id="699" name="Google Shape;699;p49"/>
          <p:cNvPicPr preferRelativeResize="0"/>
          <p:nvPr/>
        </p:nvPicPr>
        <p:blipFill>
          <a:blip r:embed="rId3">
            <a:alphaModFix/>
          </a:blip>
          <a:stretch>
            <a:fillRect/>
          </a:stretch>
        </p:blipFill>
        <p:spPr>
          <a:xfrm>
            <a:off x="534775" y="644562"/>
            <a:ext cx="688700" cy="688700"/>
          </a:xfrm>
          <a:prstGeom prst="rect">
            <a:avLst/>
          </a:prstGeom>
          <a:noFill/>
          <a:ln>
            <a:noFill/>
          </a:ln>
        </p:spPr>
      </p:pic>
      <p:sp>
        <p:nvSpPr>
          <p:cNvPr id="700" name="Google Shape;700;p49"/>
          <p:cNvSpPr txBox="1">
            <a:spLocks noGrp="1"/>
          </p:cNvSpPr>
          <p:nvPr>
            <p:ph type="title" idx="4294967295"/>
          </p:nvPr>
        </p:nvSpPr>
        <p:spPr>
          <a:xfrm>
            <a:off x="1680675" y="598575"/>
            <a:ext cx="2503500" cy="688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Output - file</a:t>
            </a:r>
            <a:endParaRPr/>
          </a:p>
        </p:txBody>
      </p:sp>
      <p:sp>
        <p:nvSpPr>
          <p:cNvPr id="701" name="Google Shape;701;p49"/>
          <p:cNvSpPr txBox="1"/>
          <p:nvPr/>
        </p:nvSpPr>
        <p:spPr>
          <a:xfrm>
            <a:off x="145875" y="1758425"/>
            <a:ext cx="3111000" cy="861900"/>
          </a:xfrm>
          <a:prstGeom prst="rect">
            <a:avLst/>
          </a:prstGeom>
          <a:noFill/>
          <a:ln>
            <a:noFill/>
          </a:ln>
        </p:spPr>
        <p:txBody>
          <a:bodyPr spcFirstLastPara="1" wrap="square" lIns="91425" tIns="91425" rIns="91425" bIns="91425" anchor="t" anchorCtr="0">
            <a:spAutoFit/>
          </a:bodyPr>
          <a:lstStyle/>
          <a:p>
            <a:pPr marL="457200" lvl="0" indent="-298450" algn="l" rtl="0">
              <a:spcBef>
                <a:spcPts val="0"/>
              </a:spcBef>
              <a:spcAft>
                <a:spcPts val="0"/>
              </a:spcAft>
              <a:buSzPts val="1100"/>
              <a:buChar char="●"/>
            </a:pPr>
            <a:r>
              <a:rPr lang="en" sz="1100"/>
              <a:t>The file qualifier allows you to output one or a collection of files to another channel that can be consumed by another process</a:t>
            </a:r>
            <a:endParaRPr sz="1100"/>
          </a:p>
        </p:txBody>
      </p:sp>
      <p:sp>
        <p:nvSpPr>
          <p:cNvPr id="702" name="Google Shape;702;p49"/>
          <p:cNvSpPr txBox="1"/>
          <p:nvPr/>
        </p:nvSpPr>
        <p:spPr>
          <a:xfrm>
            <a:off x="5232350" y="49525"/>
            <a:ext cx="3709200" cy="35403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err="1"/>
              <a:t>mzMLFiles</a:t>
            </a:r>
            <a:r>
              <a:rPr lang="en" sz="1100" dirty="0"/>
              <a:t> = </a:t>
            </a:r>
            <a:r>
              <a:rPr lang="en" sz="1100" dirty="0" err="1"/>
              <a:t>Channel.fromPath</a:t>
            </a:r>
            <a:r>
              <a:rPr lang="en" sz="1100" dirty="0"/>
              <a:t>( '/some/path/*.</a:t>
            </a:r>
            <a:r>
              <a:rPr lang="en" sz="1100" dirty="0" err="1"/>
              <a:t>mzML</a:t>
            </a:r>
            <a:r>
              <a:rPr lang="en" sz="1100" dirty="0"/>
              <a:t>' )</a:t>
            </a:r>
            <a:endParaRPr sz="1100" dirty="0"/>
          </a:p>
          <a:p>
            <a:pPr marL="0" lvl="0" indent="0" algn="l" rtl="0">
              <a:spcBef>
                <a:spcPts val="0"/>
              </a:spcBef>
              <a:spcAft>
                <a:spcPts val="0"/>
              </a:spcAft>
              <a:buNone/>
            </a:pPr>
            <a:endParaRPr sz="1100" dirty="0"/>
          </a:p>
          <a:p>
            <a:pPr marL="0" lvl="0" indent="0" algn="l" rtl="0">
              <a:spcBef>
                <a:spcPts val="0"/>
              </a:spcBef>
              <a:spcAft>
                <a:spcPts val="0"/>
              </a:spcAft>
              <a:buNone/>
            </a:pPr>
            <a:r>
              <a:rPr lang="en" sz="1100" dirty="0"/>
              <a:t>process </a:t>
            </a:r>
            <a:r>
              <a:rPr lang="en" sz="1100" dirty="0" err="1"/>
              <a:t>featureFinder</a:t>
            </a:r>
            <a:r>
              <a:rPr lang="en" sz="1100" dirty="0"/>
              <a:t> {</a:t>
            </a:r>
            <a:endParaRPr sz="1100" dirty="0"/>
          </a:p>
          <a:p>
            <a:pPr marL="0" lvl="0" indent="0" algn="l" rtl="0">
              <a:spcBef>
                <a:spcPts val="0"/>
              </a:spcBef>
              <a:spcAft>
                <a:spcPts val="0"/>
              </a:spcAft>
              <a:buNone/>
            </a:pPr>
            <a:endParaRPr sz="1100" dirty="0"/>
          </a:p>
          <a:p>
            <a:pPr marL="0" lvl="0" indent="0" algn="l" rtl="0">
              <a:spcBef>
                <a:spcPts val="0"/>
              </a:spcBef>
              <a:spcAft>
                <a:spcPts val="0"/>
              </a:spcAft>
              <a:buNone/>
            </a:pPr>
            <a:r>
              <a:rPr lang="en" sz="1100" dirty="0"/>
              <a:t>input:</a:t>
            </a:r>
            <a:endParaRPr sz="1100" dirty="0"/>
          </a:p>
          <a:p>
            <a:pPr lvl="0"/>
            <a:r>
              <a:rPr lang="en" sz="1100" dirty="0">
                <a:solidFill>
                  <a:srgbClr val="0000FF"/>
                </a:solidFill>
              </a:rPr>
              <a:t>path</a:t>
            </a:r>
            <a:r>
              <a:rPr lang="en" sz="1100" dirty="0"/>
              <a:t> x </a:t>
            </a:r>
            <a:endParaRPr sz="1100" dirty="0"/>
          </a:p>
          <a:p>
            <a:pPr marL="0" lvl="0" indent="0" algn="l" rtl="0">
              <a:spcBef>
                <a:spcPts val="0"/>
              </a:spcBef>
              <a:spcAft>
                <a:spcPts val="0"/>
              </a:spcAft>
              <a:buNone/>
            </a:pPr>
            <a:endParaRPr sz="1100" dirty="0"/>
          </a:p>
          <a:p>
            <a:pPr marL="0" lvl="0" indent="0" algn="l" rtl="0">
              <a:spcBef>
                <a:spcPts val="0"/>
              </a:spcBef>
              <a:spcAft>
                <a:spcPts val="0"/>
              </a:spcAft>
              <a:buNone/>
            </a:pPr>
            <a:r>
              <a:rPr lang="en" sz="1100" dirty="0">
                <a:solidFill>
                  <a:srgbClr val="0000FF"/>
                </a:solidFill>
              </a:rPr>
              <a:t>output:</a:t>
            </a:r>
            <a:endParaRPr sz="1100" dirty="0">
              <a:solidFill>
                <a:srgbClr val="0000FF"/>
              </a:solidFill>
            </a:endParaRPr>
          </a:p>
          <a:p>
            <a:pPr lvl="0"/>
            <a:r>
              <a:rPr lang="en" sz="1100" dirty="0">
                <a:solidFill>
                  <a:srgbClr val="0000FF"/>
                </a:solidFill>
              </a:rPr>
              <a:t>path "${</a:t>
            </a:r>
            <a:r>
              <a:rPr lang="en" sz="1100" dirty="0" err="1">
                <a:solidFill>
                  <a:srgbClr val="0000FF"/>
                </a:solidFill>
              </a:rPr>
              <a:t>x.baseName</a:t>
            </a:r>
            <a:r>
              <a:rPr lang="en" sz="1100" dirty="0">
                <a:solidFill>
                  <a:srgbClr val="0000FF"/>
                </a:solidFill>
              </a:rPr>
              <a:t>}.</a:t>
            </a:r>
            <a:r>
              <a:rPr lang="en" sz="1100" dirty="0" err="1">
                <a:solidFill>
                  <a:srgbClr val="0000FF"/>
                </a:solidFill>
              </a:rPr>
              <a:t>featureXML</a:t>
            </a:r>
            <a:r>
              <a:rPr lang="en" sz="1100" dirty="0">
                <a:solidFill>
                  <a:srgbClr val="0000FF"/>
                </a:solidFill>
              </a:rPr>
              <a:t>"</a:t>
            </a:r>
            <a:endParaRPr sz="1100" dirty="0">
              <a:solidFill>
                <a:srgbClr val="0000FF"/>
              </a:solidFill>
            </a:endParaRPr>
          </a:p>
          <a:p>
            <a:pPr marL="0" lvl="0" indent="0" algn="l" rtl="0">
              <a:spcBef>
                <a:spcPts val="0"/>
              </a:spcBef>
              <a:spcAft>
                <a:spcPts val="0"/>
              </a:spcAft>
              <a:buNone/>
            </a:pPr>
            <a:endParaRPr sz="1100" dirty="0"/>
          </a:p>
          <a:p>
            <a:pPr marL="0" lvl="0" indent="0" algn="l" rtl="0">
              <a:spcBef>
                <a:spcPts val="0"/>
              </a:spcBef>
              <a:spcAft>
                <a:spcPts val="0"/>
              </a:spcAft>
              <a:buNone/>
            </a:pPr>
            <a:r>
              <a:rPr lang="en" sz="1100" dirty="0"/>
              <a:t>"""</a:t>
            </a:r>
            <a:endParaRPr sz="1100" dirty="0"/>
          </a:p>
          <a:p>
            <a:pPr marL="0" lvl="0" indent="0" algn="l" rtl="0">
              <a:spcBef>
                <a:spcPts val="0"/>
              </a:spcBef>
              <a:spcAft>
                <a:spcPts val="0"/>
              </a:spcAft>
              <a:buNone/>
            </a:pPr>
            <a:r>
              <a:rPr lang="en" sz="1100" dirty="0" err="1"/>
              <a:t>FeatureFinderMetabo</a:t>
            </a:r>
            <a:r>
              <a:rPr lang="en" sz="1100" dirty="0"/>
              <a:t> -in ${x} -out</a:t>
            </a:r>
            <a:endParaRPr sz="1100" dirty="0"/>
          </a:p>
          <a:p>
            <a:pPr marL="0" lvl="0" indent="0" algn="l" rtl="0">
              <a:spcBef>
                <a:spcPts val="0"/>
              </a:spcBef>
              <a:spcAft>
                <a:spcPts val="0"/>
              </a:spcAft>
              <a:buNone/>
            </a:pPr>
            <a:r>
              <a:rPr lang="en" sz="1100" dirty="0"/>
              <a:t>${</a:t>
            </a:r>
            <a:r>
              <a:rPr lang="en" sz="1100" dirty="0" err="1"/>
              <a:t>x.baseName</a:t>
            </a:r>
            <a:r>
              <a:rPr lang="en" sz="1100" dirty="0"/>
              <a:t>}.</a:t>
            </a:r>
            <a:r>
              <a:rPr lang="en" sz="1100" dirty="0" err="1"/>
              <a:t>featureXML</a:t>
            </a:r>
            <a:endParaRPr sz="1100" dirty="0"/>
          </a:p>
          <a:p>
            <a:pPr marL="0" lvl="0" indent="0" algn="l" rtl="0">
              <a:spcBef>
                <a:spcPts val="0"/>
              </a:spcBef>
              <a:spcAft>
                <a:spcPts val="0"/>
              </a:spcAft>
              <a:buNone/>
            </a:pPr>
            <a:r>
              <a:rPr lang="en" sz="1100" dirty="0"/>
              <a:t>"""</a:t>
            </a:r>
            <a:endParaRPr sz="1100" dirty="0"/>
          </a:p>
          <a:p>
            <a:pPr marL="0" lvl="0" indent="0" algn="l" rtl="0">
              <a:spcBef>
                <a:spcPts val="0"/>
              </a:spcBef>
              <a:spcAft>
                <a:spcPts val="0"/>
              </a:spcAft>
              <a:buNone/>
            </a:pPr>
            <a:r>
              <a:rPr lang="en" sz="1100" dirty="0"/>
              <a:t>}</a:t>
            </a:r>
            <a:endParaRPr sz="1100" dirty="0"/>
          </a:p>
          <a:p>
            <a:pPr marL="0" lvl="0" indent="0" algn="l" rtl="0">
              <a:spcBef>
                <a:spcPts val="0"/>
              </a:spcBef>
              <a:spcAft>
                <a:spcPts val="0"/>
              </a:spcAft>
              <a:buNone/>
            </a:pPr>
            <a:endParaRPr sz="1100" dirty="0"/>
          </a:p>
          <a:p>
            <a:pPr marL="0" lvl="0" indent="0" algn="l" rtl="0">
              <a:spcBef>
                <a:spcPts val="0"/>
              </a:spcBef>
              <a:spcAft>
                <a:spcPts val="0"/>
              </a:spcAft>
              <a:buNone/>
            </a:pPr>
            <a:r>
              <a:rPr lang="en" sz="1000" dirty="0"/>
              <a:t>workflow { </a:t>
            </a:r>
            <a:endParaRPr sz="1000" dirty="0"/>
          </a:p>
          <a:p>
            <a:pPr marL="0" lvl="0" indent="0" algn="l" rtl="0">
              <a:spcBef>
                <a:spcPts val="0"/>
              </a:spcBef>
              <a:spcAft>
                <a:spcPts val="0"/>
              </a:spcAft>
              <a:buNone/>
            </a:pPr>
            <a:r>
              <a:rPr lang="en" sz="1100" dirty="0" err="1"/>
              <a:t>outputChannel</a:t>
            </a:r>
            <a:r>
              <a:rPr lang="en" sz="1100" dirty="0"/>
              <a:t> = </a:t>
            </a:r>
            <a:r>
              <a:rPr lang="en" sz="1000" dirty="0" err="1"/>
              <a:t>featureFinder</a:t>
            </a:r>
            <a:r>
              <a:rPr lang="en" sz="1000" dirty="0"/>
              <a:t>(</a:t>
            </a:r>
            <a:r>
              <a:rPr lang="en" sz="1100" dirty="0" err="1"/>
              <a:t>mzMLFiles</a:t>
            </a:r>
            <a:r>
              <a:rPr lang="en" sz="1000" dirty="0"/>
              <a:t>)</a:t>
            </a:r>
            <a:endParaRPr sz="1000" dirty="0"/>
          </a:p>
          <a:p>
            <a:pPr marL="0" lvl="0" indent="0" algn="l" rtl="0">
              <a:spcBef>
                <a:spcPts val="0"/>
              </a:spcBef>
              <a:spcAft>
                <a:spcPts val="0"/>
              </a:spcAft>
              <a:buNone/>
            </a:pPr>
            <a:r>
              <a:rPr lang="en" sz="1100" dirty="0" err="1"/>
              <a:t>outputChannel.view</a:t>
            </a:r>
            <a:r>
              <a:rPr lang="en" sz="1100" dirty="0"/>
              <a:t>()</a:t>
            </a:r>
            <a:endParaRPr sz="1000" dirty="0"/>
          </a:p>
          <a:p>
            <a:pPr marL="0" lvl="0" indent="0" algn="l" rtl="0">
              <a:spcBef>
                <a:spcPts val="0"/>
              </a:spcBef>
              <a:spcAft>
                <a:spcPts val="0"/>
              </a:spcAft>
              <a:buNone/>
            </a:pPr>
            <a:r>
              <a:rPr lang="en" sz="1000" dirty="0"/>
              <a:t>}</a:t>
            </a:r>
            <a:endParaRPr sz="1100" dirty="0"/>
          </a:p>
        </p:txBody>
      </p:sp>
      <p:sp>
        <p:nvSpPr>
          <p:cNvPr id="703" name="Google Shape;703;p49"/>
          <p:cNvSpPr/>
          <p:nvPr/>
        </p:nvSpPr>
        <p:spPr>
          <a:xfrm rot="-5400000">
            <a:off x="3608050" y="264632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9"/>
          <p:cNvSpPr/>
          <p:nvPr/>
        </p:nvSpPr>
        <p:spPr>
          <a:xfrm rot="-5400000">
            <a:off x="2825100" y="264632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9"/>
          <p:cNvSpPr/>
          <p:nvPr/>
        </p:nvSpPr>
        <p:spPr>
          <a:xfrm rot="-5400000">
            <a:off x="2042150" y="264632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9"/>
          <p:cNvSpPr txBox="1"/>
          <p:nvPr/>
        </p:nvSpPr>
        <p:spPr>
          <a:xfrm>
            <a:off x="1958525" y="2973775"/>
            <a:ext cx="7317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x.mzML</a:t>
            </a:r>
            <a:endParaRPr sz="1100">
              <a:latin typeface="Nunito"/>
              <a:ea typeface="Nunito"/>
              <a:cs typeface="Nunito"/>
              <a:sym typeface="Nunito"/>
            </a:endParaRPr>
          </a:p>
        </p:txBody>
      </p:sp>
      <p:sp>
        <p:nvSpPr>
          <p:cNvPr id="707" name="Google Shape;707;p49"/>
          <p:cNvSpPr txBox="1"/>
          <p:nvPr/>
        </p:nvSpPr>
        <p:spPr>
          <a:xfrm>
            <a:off x="2752700" y="2973775"/>
            <a:ext cx="7317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y.mzML</a:t>
            </a:r>
            <a:endParaRPr sz="1100">
              <a:latin typeface="Nunito"/>
              <a:ea typeface="Nunito"/>
              <a:cs typeface="Nunito"/>
              <a:sym typeface="Nunito"/>
            </a:endParaRPr>
          </a:p>
        </p:txBody>
      </p:sp>
      <p:sp>
        <p:nvSpPr>
          <p:cNvPr id="708" name="Google Shape;708;p49"/>
          <p:cNvSpPr txBox="1"/>
          <p:nvPr/>
        </p:nvSpPr>
        <p:spPr>
          <a:xfrm>
            <a:off x="3501350" y="2973763"/>
            <a:ext cx="7317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z.mzML</a:t>
            </a:r>
            <a:endParaRPr sz="1100">
              <a:latin typeface="Nunito"/>
              <a:ea typeface="Nunito"/>
              <a:cs typeface="Nunito"/>
              <a:sym typeface="Nunito"/>
            </a:endParaRPr>
          </a:p>
        </p:txBody>
      </p:sp>
      <p:sp>
        <p:nvSpPr>
          <p:cNvPr id="709" name="Google Shape;709;p49"/>
          <p:cNvSpPr txBox="1"/>
          <p:nvPr/>
        </p:nvSpPr>
        <p:spPr>
          <a:xfrm>
            <a:off x="320975" y="2950675"/>
            <a:ext cx="11163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mzMLFiles</a:t>
            </a:r>
            <a:endParaRPr sz="1100">
              <a:latin typeface="Nunito"/>
              <a:ea typeface="Nunito"/>
              <a:cs typeface="Nunito"/>
              <a:sym typeface="Nunito"/>
            </a:endParaRPr>
          </a:p>
        </p:txBody>
      </p:sp>
      <p:sp>
        <p:nvSpPr>
          <p:cNvPr id="710" name="Google Shape;710;p49"/>
          <p:cNvSpPr/>
          <p:nvPr/>
        </p:nvSpPr>
        <p:spPr>
          <a:xfrm rot="-5400000">
            <a:off x="3868450" y="3941125"/>
            <a:ext cx="378300" cy="16212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9"/>
          <p:cNvSpPr/>
          <p:nvPr/>
        </p:nvSpPr>
        <p:spPr>
          <a:xfrm rot="-5400000">
            <a:off x="2940450" y="4086175"/>
            <a:ext cx="378300" cy="13311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9"/>
          <p:cNvSpPr/>
          <p:nvPr/>
        </p:nvSpPr>
        <p:spPr>
          <a:xfrm rot="-5400000">
            <a:off x="1864175" y="4115125"/>
            <a:ext cx="378300" cy="12732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9"/>
          <p:cNvSpPr txBox="1"/>
          <p:nvPr/>
        </p:nvSpPr>
        <p:spPr>
          <a:xfrm>
            <a:off x="2644475" y="4574725"/>
            <a:ext cx="11163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y.featureXML</a:t>
            </a:r>
            <a:endParaRPr sz="1100">
              <a:latin typeface="Nunito"/>
              <a:ea typeface="Nunito"/>
              <a:cs typeface="Nunito"/>
              <a:sym typeface="Nunito"/>
            </a:endParaRPr>
          </a:p>
        </p:txBody>
      </p:sp>
      <p:sp>
        <p:nvSpPr>
          <p:cNvPr id="714" name="Google Shape;714;p49"/>
          <p:cNvSpPr txBox="1"/>
          <p:nvPr/>
        </p:nvSpPr>
        <p:spPr>
          <a:xfrm>
            <a:off x="320975" y="4574725"/>
            <a:ext cx="12531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0000FF"/>
                </a:solidFill>
                <a:latin typeface="Nunito"/>
                <a:ea typeface="Nunito"/>
                <a:cs typeface="Nunito"/>
                <a:sym typeface="Nunito"/>
              </a:rPr>
              <a:t>outputChannel</a:t>
            </a:r>
            <a:endParaRPr sz="1100">
              <a:solidFill>
                <a:srgbClr val="0000FF"/>
              </a:solidFill>
              <a:latin typeface="Nunito"/>
              <a:ea typeface="Nunito"/>
              <a:cs typeface="Nunito"/>
              <a:sym typeface="Nunito"/>
            </a:endParaRPr>
          </a:p>
        </p:txBody>
      </p:sp>
      <p:sp>
        <p:nvSpPr>
          <p:cNvPr id="715" name="Google Shape;715;p49"/>
          <p:cNvSpPr txBox="1"/>
          <p:nvPr/>
        </p:nvSpPr>
        <p:spPr>
          <a:xfrm>
            <a:off x="3760775" y="4574725"/>
            <a:ext cx="11163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z.featureXML</a:t>
            </a:r>
            <a:endParaRPr sz="1100">
              <a:latin typeface="Nunito"/>
              <a:ea typeface="Nunito"/>
              <a:cs typeface="Nunito"/>
              <a:sym typeface="Nunito"/>
            </a:endParaRPr>
          </a:p>
        </p:txBody>
      </p:sp>
      <p:sp>
        <p:nvSpPr>
          <p:cNvPr id="716" name="Google Shape;716;p49"/>
          <p:cNvSpPr txBox="1"/>
          <p:nvPr/>
        </p:nvSpPr>
        <p:spPr>
          <a:xfrm>
            <a:off x="1573700" y="4574725"/>
            <a:ext cx="11163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x.featureXML</a:t>
            </a:r>
            <a:endParaRPr sz="1100">
              <a:latin typeface="Nunito"/>
              <a:ea typeface="Nunito"/>
              <a:cs typeface="Nunito"/>
              <a:sym typeface="Nunito"/>
            </a:endParaRPr>
          </a:p>
        </p:txBody>
      </p:sp>
      <p:sp>
        <p:nvSpPr>
          <p:cNvPr id="717" name="Google Shape;717;p49"/>
          <p:cNvSpPr txBox="1"/>
          <p:nvPr/>
        </p:nvSpPr>
        <p:spPr>
          <a:xfrm>
            <a:off x="265925" y="3726475"/>
            <a:ext cx="1692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rgbClr val="BF9000"/>
                </a:solidFill>
              </a:rPr>
              <a:t>FeatureFinderMetabox.mzML -out x.featureXML</a:t>
            </a:r>
            <a:endParaRPr sz="900">
              <a:solidFill>
                <a:srgbClr val="BF9000"/>
              </a:solidFill>
            </a:endParaRPr>
          </a:p>
        </p:txBody>
      </p:sp>
      <p:sp>
        <p:nvSpPr>
          <p:cNvPr id="718" name="Google Shape;718;p49"/>
          <p:cNvSpPr txBox="1"/>
          <p:nvPr/>
        </p:nvSpPr>
        <p:spPr>
          <a:xfrm>
            <a:off x="3795150" y="3726475"/>
            <a:ext cx="1692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rgbClr val="BF9000"/>
                </a:solidFill>
              </a:rPr>
              <a:t>FeatureFinderMetabox.mzML -out z.featureXML</a:t>
            </a:r>
            <a:endParaRPr sz="900">
              <a:solidFill>
                <a:srgbClr val="BF9000"/>
              </a:solidFill>
            </a:endParaRPr>
          </a:p>
        </p:txBody>
      </p:sp>
      <p:grpSp>
        <p:nvGrpSpPr>
          <p:cNvPr id="719" name="Google Shape;719;p49"/>
          <p:cNvGrpSpPr/>
          <p:nvPr/>
        </p:nvGrpSpPr>
        <p:grpSpPr>
          <a:xfrm>
            <a:off x="2231300" y="3416125"/>
            <a:ext cx="1565900" cy="158100"/>
            <a:chOff x="2231300" y="3339925"/>
            <a:chExt cx="1565900" cy="158100"/>
          </a:xfrm>
        </p:grpSpPr>
        <p:cxnSp>
          <p:nvCxnSpPr>
            <p:cNvPr id="720" name="Google Shape;720;p49"/>
            <p:cNvCxnSpPr/>
            <p:nvPr/>
          </p:nvCxnSpPr>
          <p:spPr>
            <a:xfrm>
              <a:off x="2231300" y="3339925"/>
              <a:ext cx="701100" cy="158100"/>
            </a:xfrm>
            <a:prstGeom prst="straightConnector1">
              <a:avLst/>
            </a:prstGeom>
            <a:noFill/>
            <a:ln w="9525" cap="flat" cmpd="sng">
              <a:solidFill>
                <a:schemeClr val="dk2"/>
              </a:solidFill>
              <a:prstDash val="solid"/>
              <a:round/>
              <a:headEnd type="none" w="med" len="med"/>
              <a:tailEnd type="none" w="med" len="med"/>
            </a:ln>
          </p:spPr>
        </p:cxnSp>
        <p:cxnSp>
          <p:nvCxnSpPr>
            <p:cNvPr id="721" name="Google Shape;721;p49"/>
            <p:cNvCxnSpPr/>
            <p:nvPr/>
          </p:nvCxnSpPr>
          <p:spPr>
            <a:xfrm flipH="1">
              <a:off x="2932300" y="3339925"/>
              <a:ext cx="864900" cy="158100"/>
            </a:xfrm>
            <a:prstGeom prst="straightConnector1">
              <a:avLst/>
            </a:prstGeom>
            <a:noFill/>
            <a:ln w="9525" cap="flat" cmpd="sng">
              <a:solidFill>
                <a:schemeClr val="dk2"/>
              </a:solidFill>
              <a:prstDash val="solid"/>
              <a:round/>
              <a:headEnd type="none" w="med" len="med"/>
              <a:tailEnd type="none" w="med" len="med"/>
            </a:ln>
          </p:spPr>
        </p:cxnSp>
      </p:grpSp>
      <p:sp>
        <p:nvSpPr>
          <p:cNvPr id="722" name="Google Shape;722;p49"/>
          <p:cNvSpPr txBox="1"/>
          <p:nvPr/>
        </p:nvSpPr>
        <p:spPr>
          <a:xfrm>
            <a:off x="2030538" y="3714325"/>
            <a:ext cx="1692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rgbClr val="BF9000"/>
                </a:solidFill>
              </a:rPr>
              <a:t>FeatureFinderMetabox.mzML -out y.featureXML</a:t>
            </a:r>
            <a:endParaRPr sz="900">
              <a:solidFill>
                <a:srgbClr val="BF9000"/>
              </a:solidFill>
            </a:endParaRPr>
          </a:p>
        </p:txBody>
      </p:sp>
      <p:grpSp>
        <p:nvGrpSpPr>
          <p:cNvPr id="723" name="Google Shape;723;p49"/>
          <p:cNvGrpSpPr/>
          <p:nvPr/>
        </p:nvGrpSpPr>
        <p:grpSpPr>
          <a:xfrm>
            <a:off x="2231300" y="4302400"/>
            <a:ext cx="1565900" cy="158100"/>
            <a:chOff x="2231300" y="3339925"/>
            <a:chExt cx="1565900" cy="158100"/>
          </a:xfrm>
        </p:grpSpPr>
        <p:cxnSp>
          <p:nvCxnSpPr>
            <p:cNvPr id="724" name="Google Shape;724;p49"/>
            <p:cNvCxnSpPr/>
            <p:nvPr/>
          </p:nvCxnSpPr>
          <p:spPr>
            <a:xfrm>
              <a:off x="2231300" y="3339925"/>
              <a:ext cx="701100" cy="158100"/>
            </a:xfrm>
            <a:prstGeom prst="straightConnector1">
              <a:avLst/>
            </a:prstGeom>
            <a:noFill/>
            <a:ln w="9525" cap="flat" cmpd="sng">
              <a:solidFill>
                <a:schemeClr val="dk2"/>
              </a:solidFill>
              <a:prstDash val="solid"/>
              <a:round/>
              <a:headEnd type="none" w="med" len="med"/>
              <a:tailEnd type="none" w="med" len="med"/>
            </a:ln>
          </p:spPr>
        </p:cxnSp>
        <p:cxnSp>
          <p:nvCxnSpPr>
            <p:cNvPr id="725" name="Google Shape;725;p49"/>
            <p:cNvCxnSpPr/>
            <p:nvPr/>
          </p:nvCxnSpPr>
          <p:spPr>
            <a:xfrm flipH="1">
              <a:off x="2932300" y="3339925"/>
              <a:ext cx="864900" cy="15810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cxnSp>
        <p:nvCxnSpPr>
          <p:cNvPr id="730" name="Google Shape;730;p50"/>
          <p:cNvCxnSpPr/>
          <p:nvPr/>
        </p:nvCxnSpPr>
        <p:spPr>
          <a:xfrm rot="10800000" flipH="1">
            <a:off x="1191275" y="988963"/>
            <a:ext cx="486600" cy="9900"/>
          </a:xfrm>
          <a:prstGeom prst="straightConnector1">
            <a:avLst/>
          </a:prstGeom>
          <a:noFill/>
          <a:ln w="28575" cap="flat" cmpd="sng">
            <a:solidFill>
              <a:schemeClr val="dk2"/>
            </a:solidFill>
            <a:prstDash val="solid"/>
            <a:round/>
            <a:headEnd type="none" w="med" len="med"/>
            <a:tailEnd type="triangle" w="med" len="med"/>
          </a:ln>
        </p:spPr>
      </p:cxnSp>
      <p:pic>
        <p:nvPicPr>
          <p:cNvPr id="731" name="Google Shape;731;p50"/>
          <p:cNvPicPr preferRelativeResize="0"/>
          <p:nvPr/>
        </p:nvPicPr>
        <p:blipFill>
          <a:blip r:embed="rId3">
            <a:alphaModFix/>
          </a:blip>
          <a:stretch>
            <a:fillRect/>
          </a:stretch>
        </p:blipFill>
        <p:spPr>
          <a:xfrm>
            <a:off x="534775" y="644562"/>
            <a:ext cx="688700" cy="688700"/>
          </a:xfrm>
          <a:prstGeom prst="rect">
            <a:avLst/>
          </a:prstGeom>
          <a:noFill/>
          <a:ln>
            <a:noFill/>
          </a:ln>
        </p:spPr>
      </p:pic>
      <p:sp>
        <p:nvSpPr>
          <p:cNvPr id="732" name="Google Shape;732;p50"/>
          <p:cNvSpPr txBox="1">
            <a:spLocks noGrp="1"/>
          </p:cNvSpPr>
          <p:nvPr>
            <p:ph type="title" idx="4294967295"/>
          </p:nvPr>
        </p:nvSpPr>
        <p:spPr>
          <a:xfrm>
            <a:off x="1680675" y="598575"/>
            <a:ext cx="2503500" cy="688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Output - val</a:t>
            </a:r>
            <a:endParaRPr/>
          </a:p>
        </p:txBody>
      </p:sp>
      <p:sp>
        <p:nvSpPr>
          <p:cNvPr id="733" name="Google Shape;733;p50"/>
          <p:cNvSpPr txBox="1"/>
          <p:nvPr/>
        </p:nvSpPr>
        <p:spPr>
          <a:xfrm>
            <a:off x="5214525" y="76200"/>
            <a:ext cx="3709200" cy="30324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values = Channel.of( 1,2,3 )</a:t>
            </a:r>
            <a:endParaRPr sz="1100"/>
          </a:p>
          <a:p>
            <a:pPr marL="0" lvl="0" indent="0" algn="l" rtl="0">
              <a:spcBef>
                <a:spcPts val="0"/>
              </a:spcBef>
              <a:spcAft>
                <a:spcPts val="0"/>
              </a:spcAft>
              <a:buNone/>
            </a:pPr>
            <a:endParaRPr sz="1100"/>
          </a:p>
          <a:p>
            <a:pPr marL="0" lvl="0" indent="0" algn="l" rtl="0">
              <a:spcBef>
                <a:spcPts val="0"/>
              </a:spcBef>
              <a:spcAft>
                <a:spcPts val="0"/>
              </a:spcAft>
              <a:buNone/>
            </a:pPr>
            <a:r>
              <a:rPr lang="en" sz="1100"/>
              <a:t>process basicExample {</a:t>
            </a:r>
            <a:endParaRPr sz="1100"/>
          </a:p>
          <a:p>
            <a:pPr marL="0" lvl="0" indent="0" algn="l" rtl="0">
              <a:spcBef>
                <a:spcPts val="0"/>
              </a:spcBef>
              <a:spcAft>
                <a:spcPts val="0"/>
              </a:spcAft>
              <a:buNone/>
            </a:pPr>
            <a:r>
              <a:rPr lang="en" sz="1100"/>
              <a:t>input:</a:t>
            </a:r>
            <a:endParaRPr sz="1100"/>
          </a:p>
          <a:p>
            <a:pPr marL="0" lvl="0" indent="0" algn="l" rtl="0">
              <a:spcBef>
                <a:spcPts val="0"/>
              </a:spcBef>
              <a:spcAft>
                <a:spcPts val="0"/>
              </a:spcAft>
              <a:buNone/>
            </a:pPr>
            <a:r>
              <a:rPr lang="en" sz="1100"/>
              <a:t> val x </a:t>
            </a:r>
            <a:endParaRPr sz="1100"/>
          </a:p>
          <a:p>
            <a:pPr marL="0" lvl="0" indent="0" algn="l" rtl="0">
              <a:spcBef>
                <a:spcPts val="0"/>
              </a:spcBef>
              <a:spcAft>
                <a:spcPts val="0"/>
              </a:spcAft>
              <a:buNone/>
            </a:pPr>
            <a:endParaRPr sz="1100"/>
          </a:p>
          <a:p>
            <a:pPr marL="0" lvl="0" indent="0" algn="l" rtl="0">
              <a:spcBef>
                <a:spcPts val="0"/>
              </a:spcBef>
              <a:spcAft>
                <a:spcPts val="0"/>
              </a:spcAft>
              <a:buNone/>
            </a:pPr>
            <a:r>
              <a:rPr lang="en" sz="1100"/>
              <a:t> output:</a:t>
            </a:r>
            <a:endParaRPr sz="1100"/>
          </a:p>
          <a:p>
            <a:pPr marL="0" lvl="0" indent="0" algn="l" rtl="0">
              <a:spcBef>
                <a:spcPts val="0"/>
              </a:spcBef>
              <a:spcAft>
                <a:spcPts val="0"/>
              </a:spcAft>
              <a:buNone/>
            </a:pPr>
            <a:r>
              <a:rPr lang="en" sz="1100">
                <a:solidFill>
                  <a:srgbClr val="0000FF"/>
                </a:solidFill>
              </a:rPr>
              <a:t> val "$x" </a:t>
            </a:r>
            <a:endParaRPr sz="1100">
              <a:solidFill>
                <a:srgbClr val="0000FF"/>
              </a:solidFill>
            </a:endParaRPr>
          </a:p>
          <a:p>
            <a:pPr marL="0" lvl="0" indent="0" algn="l" rtl="0">
              <a:spcBef>
                <a:spcPts val="0"/>
              </a:spcBef>
              <a:spcAft>
                <a:spcPts val="0"/>
              </a:spcAft>
              <a:buNone/>
            </a:pPr>
            <a:endParaRPr sz="1100"/>
          </a:p>
          <a:p>
            <a:pPr marL="0" lvl="0" indent="0" algn="l" rtl="0">
              <a:spcBef>
                <a:spcPts val="0"/>
              </a:spcBef>
              <a:spcAft>
                <a:spcPts val="0"/>
              </a:spcAft>
              <a:buNone/>
            </a:pPr>
            <a:r>
              <a:rPr lang="en" sz="1100"/>
              <a:t>"""</a:t>
            </a:r>
            <a:endParaRPr sz="1100"/>
          </a:p>
          <a:p>
            <a:pPr marL="0" lvl="0" indent="0" algn="l" rtl="0">
              <a:spcBef>
                <a:spcPts val="0"/>
              </a:spcBef>
              <a:spcAft>
                <a:spcPts val="0"/>
              </a:spcAft>
              <a:buNone/>
            </a:pPr>
            <a:r>
              <a:rPr lang="en" sz="1100"/>
              <a:t>echo output value is $x</a:t>
            </a:r>
            <a:endParaRPr sz="1100"/>
          </a:p>
          <a:p>
            <a:pPr marL="0" lvl="0" indent="0" algn="l" rtl="0">
              <a:spcBef>
                <a:spcPts val="0"/>
              </a:spcBef>
              <a:spcAft>
                <a:spcPts val="0"/>
              </a:spcAft>
              <a:buNone/>
            </a:pPr>
            <a:r>
              <a:rPr lang="en" sz="1100"/>
              <a:t>"""</a:t>
            </a:r>
            <a:endParaRPr sz="1100"/>
          </a:p>
          <a:p>
            <a:pPr marL="0" lvl="0" indent="0" algn="l" rtl="0">
              <a:spcBef>
                <a:spcPts val="0"/>
              </a:spcBef>
              <a:spcAft>
                <a:spcPts val="0"/>
              </a:spcAft>
              <a:buNone/>
            </a:pPr>
            <a:r>
              <a:rPr lang="en" sz="1100"/>
              <a:t> }</a:t>
            </a:r>
            <a:endParaRPr sz="1100"/>
          </a:p>
          <a:p>
            <a:pPr marL="0" lvl="0" indent="0" algn="l" rtl="0">
              <a:spcBef>
                <a:spcPts val="0"/>
              </a:spcBef>
              <a:spcAft>
                <a:spcPts val="0"/>
              </a:spcAft>
              <a:buNone/>
            </a:pPr>
            <a:r>
              <a:rPr lang="en" sz="1000"/>
              <a:t>workflow { </a:t>
            </a:r>
            <a:endParaRPr sz="1000"/>
          </a:p>
          <a:p>
            <a:pPr marL="0" lvl="0" indent="0" algn="l" rtl="0">
              <a:spcBef>
                <a:spcPts val="0"/>
              </a:spcBef>
              <a:spcAft>
                <a:spcPts val="0"/>
              </a:spcAft>
              <a:buNone/>
            </a:pPr>
            <a:r>
              <a:rPr lang="en" sz="1100"/>
              <a:t>outputChannel = basicExample</a:t>
            </a:r>
            <a:r>
              <a:rPr lang="en" sz="1000"/>
              <a:t>(</a:t>
            </a:r>
            <a:r>
              <a:rPr lang="en" sz="1100"/>
              <a:t>values</a:t>
            </a:r>
            <a:r>
              <a:rPr lang="en" sz="1000"/>
              <a:t>).collect()</a:t>
            </a:r>
            <a:endParaRPr sz="1000"/>
          </a:p>
          <a:p>
            <a:pPr marL="0" lvl="0" indent="0" algn="l" rtl="0">
              <a:spcBef>
                <a:spcPts val="0"/>
              </a:spcBef>
              <a:spcAft>
                <a:spcPts val="0"/>
              </a:spcAft>
              <a:buNone/>
            </a:pPr>
            <a:r>
              <a:rPr lang="en" sz="1100"/>
              <a:t>outputChannel.view()</a:t>
            </a:r>
            <a:endParaRPr sz="1000"/>
          </a:p>
          <a:p>
            <a:pPr marL="0" lvl="0" indent="0" algn="l" rtl="0">
              <a:spcBef>
                <a:spcPts val="0"/>
              </a:spcBef>
              <a:spcAft>
                <a:spcPts val="0"/>
              </a:spcAft>
              <a:buNone/>
            </a:pPr>
            <a:r>
              <a:rPr lang="en" sz="1000"/>
              <a:t>}</a:t>
            </a:r>
            <a:endParaRPr sz="1100"/>
          </a:p>
        </p:txBody>
      </p:sp>
      <p:sp>
        <p:nvSpPr>
          <p:cNvPr id="734" name="Google Shape;734;p50"/>
          <p:cNvSpPr/>
          <p:nvPr/>
        </p:nvSpPr>
        <p:spPr>
          <a:xfrm rot="-5400000">
            <a:off x="3531850" y="226532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50"/>
          <p:cNvSpPr/>
          <p:nvPr/>
        </p:nvSpPr>
        <p:spPr>
          <a:xfrm rot="-5400000">
            <a:off x="2748900" y="226532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50"/>
          <p:cNvSpPr/>
          <p:nvPr/>
        </p:nvSpPr>
        <p:spPr>
          <a:xfrm rot="-5400000">
            <a:off x="1965950" y="226532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50"/>
          <p:cNvSpPr txBox="1"/>
          <p:nvPr/>
        </p:nvSpPr>
        <p:spPr>
          <a:xfrm>
            <a:off x="1882325" y="2592775"/>
            <a:ext cx="7317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latin typeface="Nunito"/>
                <a:ea typeface="Nunito"/>
                <a:cs typeface="Nunito"/>
                <a:sym typeface="Nunito"/>
              </a:rPr>
              <a:t>1</a:t>
            </a:r>
            <a:endParaRPr sz="1100">
              <a:latin typeface="Nunito"/>
              <a:ea typeface="Nunito"/>
              <a:cs typeface="Nunito"/>
              <a:sym typeface="Nunito"/>
            </a:endParaRPr>
          </a:p>
        </p:txBody>
      </p:sp>
      <p:sp>
        <p:nvSpPr>
          <p:cNvPr id="738" name="Google Shape;738;p50"/>
          <p:cNvSpPr txBox="1"/>
          <p:nvPr/>
        </p:nvSpPr>
        <p:spPr>
          <a:xfrm>
            <a:off x="2676500" y="2592775"/>
            <a:ext cx="7317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latin typeface="Nunito"/>
                <a:ea typeface="Nunito"/>
                <a:cs typeface="Nunito"/>
                <a:sym typeface="Nunito"/>
              </a:rPr>
              <a:t>2</a:t>
            </a:r>
            <a:endParaRPr sz="1100">
              <a:latin typeface="Nunito"/>
              <a:ea typeface="Nunito"/>
              <a:cs typeface="Nunito"/>
              <a:sym typeface="Nunito"/>
            </a:endParaRPr>
          </a:p>
        </p:txBody>
      </p:sp>
      <p:sp>
        <p:nvSpPr>
          <p:cNvPr id="739" name="Google Shape;739;p50"/>
          <p:cNvSpPr txBox="1"/>
          <p:nvPr/>
        </p:nvSpPr>
        <p:spPr>
          <a:xfrm>
            <a:off x="3425150" y="2592763"/>
            <a:ext cx="7317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latin typeface="Nunito"/>
                <a:ea typeface="Nunito"/>
                <a:cs typeface="Nunito"/>
                <a:sym typeface="Nunito"/>
              </a:rPr>
              <a:t>3</a:t>
            </a:r>
            <a:endParaRPr sz="1100">
              <a:latin typeface="Nunito"/>
              <a:ea typeface="Nunito"/>
              <a:cs typeface="Nunito"/>
              <a:sym typeface="Nunito"/>
            </a:endParaRPr>
          </a:p>
        </p:txBody>
      </p:sp>
      <p:sp>
        <p:nvSpPr>
          <p:cNvPr id="740" name="Google Shape;740;p50"/>
          <p:cNvSpPr txBox="1"/>
          <p:nvPr/>
        </p:nvSpPr>
        <p:spPr>
          <a:xfrm>
            <a:off x="244775" y="2569675"/>
            <a:ext cx="11163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latin typeface="Nunito"/>
                <a:ea typeface="Nunito"/>
                <a:cs typeface="Nunito"/>
                <a:sym typeface="Nunito"/>
              </a:rPr>
              <a:t>x</a:t>
            </a:r>
            <a:endParaRPr sz="1100">
              <a:latin typeface="Nunito"/>
              <a:ea typeface="Nunito"/>
              <a:cs typeface="Nunito"/>
              <a:sym typeface="Nunito"/>
            </a:endParaRPr>
          </a:p>
        </p:txBody>
      </p:sp>
      <p:sp>
        <p:nvSpPr>
          <p:cNvPr id="741" name="Google Shape;741;p50"/>
          <p:cNvSpPr/>
          <p:nvPr/>
        </p:nvSpPr>
        <p:spPr>
          <a:xfrm rot="-5400000">
            <a:off x="2702375" y="3734125"/>
            <a:ext cx="378300" cy="12732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50"/>
          <p:cNvSpPr txBox="1"/>
          <p:nvPr/>
        </p:nvSpPr>
        <p:spPr>
          <a:xfrm>
            <a:off x="1159175" y="4193725"/>
            <a:ext cx="12531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0000FF"/>
                </a:solidFill>
                <a:latin typeface="Nunito"/>
                <a:ea typeface="Nunito"/>
                <a:cs typeface="Nunito"/>
                <a:sym typeface="Nunito"/>
              </a:rPr>
              <a:t>outputChannel</a:t>
            </a:r>
            <a:endParaRPr sz="1100">
              <a:solidFill>
                <a:srgbClr val="0000FF"/>
              </a:solidFill>
              <a:latin typeface="Nunito"/>
              <a:ea typeface="Nunito"/>
              <a:cs typeface="Nunito"/>
              <a:sym typeface="Nunito"/>
            </a:endParaRPr>
          </a:p>
        </p:txBody>
      </p:sp>
      <p:sp>
        <p:nvSpPr>
          <p:cNvPr id="743" name="Google Shape;743;p50"/>
          <p:cNvSpPr txBox="1"/>
          <p:nvPr/>
        </p:nvSpPr>
        <p:spPr>
          <a:xfrm>
            <a:off x="2411900" y="4193725"/>
            <a:ext cx="11163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latin typeface="Nunito"/>
                <a:ea typeface="Nunito"/>
                <a:cs typeface="Nunito"/>
                <a:sym typeface="Nunito"/>
              </a:rPr>
              <a:t>[1,2,3]</a:t>
            </a:r>
            <a:endParaRPr sz="1100">
              <a:latin typeface="Nunito"/>
              <a:ea typeface="Nunito"/>
              <a:cs typeface="Nunito"/>
              <a:sym typeface="Nunito"/>
            </a:endParaRPr>
          </a:p>
        </p:txBody>
      </p:sp>
      <p:sp>
        <p:nvSpPr>
          <p:cNvPr id="744" name="Google Shape;744;p50"/>
          <p:cNvSpPr txBox="1"/>
          <p:nvPr/>
        </p:nvSpPr>
        <p:spPr>
          <a:xfrm>
            <a:off x="189725" y="3345475"/>
            <a:ext cx="1692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F9000"/>
                </a:solidFill>
              </a:rPr>
              <a:t>echo output value is 1</a:t>
            </a:r>
            <a:endParaRPr sz="900">
              <a:solidFill>
                <a:srgbClr val="BF9000"/>
              </a:solidFill>
            </a:endParaRPr>
          </a:p>
        </p:txBody>
      </p:sp>
      <p:sp>
        <p:nvSpPr>
          <p:cNvPr id="745" name="Google Shape;745;p50"/>
          <p:cNvSpPr txBox="1"/>
          <p:nvPr/>
        </p:nvSpPr>
        <p:spPr>
          <a:xfrm>
            <a:off x="3718950" y="3345475"/>
            <a:ext cx="1692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F9000"/>
                </a:solidFill>
              </a:rPr>
              <a:t>echo output value is 3</a:t>
            </a:r>
            <a:endParaRPr sz="900">
              <a:solidFill>
                <a:srgbClr val="BF9000"/>
              </a:solidFill>
            </a:endParaRPr>
          </a:p>
        </p:txBody>
      </p:sp>
      <p:grpSp>
        <p:nvGrpSpPr>
          <p:cNvPr id="746" name="Google Shape;746;p50"/>
          <p:cNvGrpSpPr/>
          <p:nvPr/>
        </p:nvGrpSpPr>
        <p:grpSpPr>
          <a:xfrm>
            <a:off x="2155100" y="3035125"/>
            <a:ext cx="1565900" cy="158100"/>
            <a:chOff x="2231300" y="3339925"/>
            <a:chExt cx="1565900" cy="158100"/>
          </a:xfrm>
        </p:grpSpPr>
        <p:cxnSp>
          <p:nvCxnSpPr>
            <p:cNvPr id="747" name="Google Shape;747;p50"/>
            <p:cNvCxnSpPr/>
            <p:nvPr/>
          </p:nvCxnSpPr>
          <p:spPr>
            <a:xfrm>
              <a:off x="2231300" y="3339925"/>
              <a:ext cx="701100" cy="158100"/>
            </a:xfrm>
            <a:prstGeom prst="straightConnector1">
              <a:avLst/>
            </a:prstGeom>
            <a:noFill/>
            <a:ln w="9525" cap="flat" cmpd="sng">
              <a:solidFill>
                <a:schemeClr val="dk2"/>
              </a:solidFill>
              <a:prstDash val="solid"/>
              <a:round/>
              <a:headEnd type="none" w="med" len="med"/>
              <a:tailEnd type="none" w="med" len="med"/>
            </a:ln>
          </p:spPr>
        </p:cxnSp>
        <p:cxnSp>
          <p:nvCxnSpPr>
            <p:cNvPr id="748" name="Google Shape;748;p50"/>
            <p:cNvCxnSpPr/>
            <p:nvPr/>
          </p:nvCxnSpPr>
          <p:spPr>
            <a:xfrm flipH="1">
              <a:off x="2932300" y="3339925"/>
              <a:ext cx="864900" cy="158100"/>
            </a:xfrm>
            <a:prstGeom prst="straightConnector1">
              <a:avLst/>
            </a:prstGeom>
            <a:noFill/>
            <a:ln w="9525" cap="flat" cmpd="sng">
              <a:solidFill>
                <a:schemeClr val="dk2"/>
              </a:solidFill>
              <a:prstDash val="solid"/>
              <a:round/>
              <a:headEnd type="none" w="med" len="med"/>
              <a:tailEnd type="none" w="med" len="med"/>
            </a:ln>
          </p:spPr>
        </p:cxnSp>
      </p:grpSp>
      <p:sp>
        <p:nvSpPr>
          <p:cNvPr id="749" name="Google Shape;749;p50"/>
          <p:cNvSpPr txBox="1"/>
          <p:nvPr/>
        </p:nvSpPr>
        <p:spPr>
          <a:xfrm>
            <a:off x="1954338" y="3333325"/>
            <a:ext cx="1692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F9000"/>
                </a:solidFill>
              </a:rPr>
              <a:t>echo output value is 2</a:t>
            </a:r>
            <a:endParaRPr sz="900">
              <a:solidFill>
                <a:srgbClr val="BF9000"/>
              </a:solidFill>
            </a:endParaRPr>
          </a:p>
        </p:txBody>
      </p:sp>
      <p:grpSp>
        <p:nvGrpSpPr>
          <p:cNvPr id="750" name="Google Shape;750;p50"/>
          <p:cNvGrpSpPr/>
          <p:nvPr/>
        </p:nvGrpSpPr>
        <p:grpSpPr>
          <a:xfrm>
            <a:off x="2155100" y="3921400"/>
            <a:ext cx="1565900" cy="158100"/>
            <a:chOff x="2231300" y="3339925"/>
            <a:chExt cx="1565900" cy="158100"/>
          </a:xfrm>
        </p:grpSpPr>
        <p:cxnSp>
          <p:nvCxnSpPr>
            <p:cNvPr id="751" name="Google Shape;751;p50"/>
            <p:cNvCxnSpPr/>
            <p:nvPr/>
          </p:nvCxnSpPr>
          <p:spPr>
            <a:xfrm>
              <a:off x="2231300" y="3339925"/>
              <a:ext cx="701100" cy="158100"/>
            </a:xfrm>
            <a:prstGeom prst="straightConnector1">
              <a:avLst/>
            </a:prstGeom>
            <a:noFill/>
            <a:ln w="9525" cap="flat" cmpd="sng">
              <a:solidFill>
                <a:schemeClr val="dk2"/>
              </a:solidFill>
              <a:prstDash val="solid"/>
              <a:round/>
              <a:headEnd type="none" w="med" len="med"/>
              <a:tailEnd type="none" w="med" len="med"/>
            </a:ln>
          </p:spPr>
        </p:cxnSp>
        <p:cxnSp>
          <p:nvCxnSpPr>
            <p:cNvPr id="752" name="Google Shape;752;p50"/>
            <p:cNvCxnSpPr/>
            <p:nvPr/>
          </p:nvCxnSpPr>
          <p:spPr>
            <a:xfrm flipH="1">
              <a:off x="2932300" y="3339925"/>
              <a:ext cx="864900" cy="158100"/>
            </a:xfrm>
            <a:prstGeom prst="straightConnector1">
              <a:avLst/>
            </a:prstGeom>
            <a:noFill/>
            <a:ln w="9525" cap="flat" cmpd="sng">
              <a:solidFill>
                <a:schemeClr val="dk2"/>
              </a:solidFill>
              <a:prstDash val="solid"/>
              <a:round/>
              <a:headEnd type="none" w="med" len="med"/>
              <a:tailEnd type="none" w="med" len="med"/>
            </a:ln>
          </p:spPr>
        </p:cxnSp>
      </p:grpSp>
      <p:pic>
        <p:nvPicPr>
          <p:cNvPr id="753" name="Google Shape;753;p50"/>
          <p:cNvPicPr preferRelativeResize="0"/>
          <p:nvPr/>
        </p:nvPicPr>
        <p:blipFill>
          <a:blip r:embed="rId4">
            <a:alphaModFix/>
          </a:blip>
          <a:stretch>
            <a:fillRect/>
          </a:stretch>
        </p:blipFill>
        <p:spPr>
          <a:xfrm>
            <a:off x="5725670" y="3304665"/>
            <a:ext cx="2929200" cy="110576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p60"/>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Workflow</a:t>
            </a:r>
            <a:endParaRPr/>
          </a:p>
        </p:txBody>
      </p:sp>
      <p:sp>
        <p:nvSpPr>
          <p:cNvPr id="898" name="Google Shape;898;p60"/>
          <p:cNvSpPr txBox="1">
            <a:spLocks noGrp="1"/>
          </p:cNvSpPr>
          <p:nvPr>
            <p:ph type="body" idx="1"/>
          </p:nvPr>
        </p:nvSpPr>
        <p:spPr>
          <a:xfrm>
            <a:off x="638575" y="1936600"/>
            <a:ext cx="3989100" cy="25416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sz="1200">
                <a:solidFill>
                  <a:srgbClr val="404040"/>
                </a:solidFill>
                <a:highlight>
                  <a:srgbClr val="FCFCFC"/>
                </a:highlight>
                <a:latin typeface="Arial"/>
                <a:ea typeface="Arial"/>
                <a:cs typeface="Arial"/>
                <a:sym typeface="Arial"/>
              </a:rPr>
              <a:t>The workflow definition starts with the keyword </a:t>
            </a:r>
            <a:r>
              <a:rPr lang="en" sz="900">
                <a:solidFill>
                  <a:srgbClr val="C3514D"/>
                </a:solidFill>
                <a:highlight>
                  <a:srgbClr val="FFFFFF"/>
                </a:highlight>
                <a:latin typeface="Courier New"/>
                <a:ea typeface="Courier New"/>
                <a:cs typeface="Courier New"/>
                <a:sym typeface="Courier New"/>
              </a:rPr>
              <a:t>workflow</a:t>
            </a:r>
            <a:r>
              <a:rPr lang="en" sz="1200">
                <a:solidFill>
                  <a:srgbClr val="404040"/>
                </a:solidFill>
                <a:highlight>
                  <a:srgbClr val="FCFCFC"/>
                </a:highlight>
                <a:latin typeface="Arial"/>
                <a:ea typeface="Arial"/>
                <a:cs typeface="Arial"/>
                <a:sym typeface="Arial"/>
              </a:rPr>
              <a:t>, followed by an optional name, and finally the workflow body delimited by curly braces.</a:t>
            </a:r>
            <a:endParaRPr sz="1200">
              <a:solidFill>
                <a:srgbClr val="404040"/>
              </a:solidFill>
              <a:highlight>
                <a:srgbClr val="FCFCFC"/>
              </a:highlight>
              <a:latin typeface="Arial"/>
              <a:ea typeface="Arial"/>
              <a:cs typeface="Arial"/>
              <a:sym typeface="Arial"/>
            </a:endParaRPr>
          </a:p>
          <a:p>
            <a:pPr marL="457200" lvl="0" indent="0" algn="l" rtl="0">
              <a:spcBef>
                <a:spcPts val="1200"/>
              </a:spcBef>
              <a:spcAft>
                <a:spcPts val="0"/>
              </a:spcAft>
              <a:buNone/>
            </a:pPr>
            <a:endParaRPr sz="1200">
              <a:solidFill>
                <a:srgbClr val="404040"/>
              </a:solidFill>
              <a:highlight>
                <a:srgbClr val="FCFCFC"/>
              </a:highlight>
              <a:latin typeface="Arial"/>
              <a:ea typeface="Arial"/>
              <a:cs typeface="Arial"/>
              <a:sym typeface="Arial"/>
            </a:endParaRPr>
          </a:p>
          <a:p>
            <a:pPr marL="457200" lvl="0" indent="-304800" algn="l" rtl="0">
              <a:spcBef>
                <a:spcPts val="1200"/>
              </a:spcBef>
              <a:spcAft>
                <a:spcPts val="0"/>
              </a:spcAft>
              <a:buClr>
                <a:srgbClr val="404040"/>
              </a:buClr>
              <a:buSzPts val="1200"/>
              <a:buFont typeface="Arial"/>
              <a:buChar char="●"/>
            </a:pPr>
            <a:r>
              <a:rPr lang="en" sz="1200">
                <a:solidFill>
                  <a:srgbClr val="404040"/>
                </a:solidFill>
                <a:highlight>
                  <a:srgbClr val="FCFCFC"/>
                </a:highlight>
                <a:latin typeface="Arial"/>
                <a:ea typeface="Arial"/>
                <a:cs typeface="Arial"/>
                <a:sym typeface="Arial"/>
              </a:rPr>
              <a:t>The order in which a task is executed is determined only by its dependencies, so a task will be executed as soon as all of its required inputs are available.</a:t>
            </a:r>
            <a:endParaRPr sz="1200">
              <a:solidFill>
                <a:srgbClr val="404040"/>
              </a:solidFill>
              <a:highlight>
                <a:srgbClr val="FCFCFC"/>
              </a:highlight>
              <a:latin typeface="Arial"/>
              <a:ea typeface="Arial"/>
              <a:cs typeface="Arial"/>
              <a:sym typeface="Arial"/>
            </a:endParaRPr>
          </a:p>
        </p:txBody>
      </p:sp>
      <p:sp>
        <p:nvSpPr>
          <p:cNvPr id="899" name="Google Shape;899;p60"/>
          <p:cNvSpPr txBox="1"/>
          <p:nvPr/>
        </p:nvSpPr>
        <p:spPr>
          <a:xfrm>
            <a:off x="5257250" y="421725"/>
            <a:ext cx="3851100" cy="40020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rgbClr val="212121"/>
                </a:solidFill>
              </a:rPr>
              <a:t>workflow workflow_name{</a:t>
            </a:r>
            <a:endParaRPr sz="1000">
              <a:solidFill>
                <a:srgbClr val="212121"/>
              </a:solidFill>
            </a:endParaRPr>
          </a:p>
          <a:p>
            <a:pPr marL="0" lvl="0" indent="0" algn="l" rtl="0">
              <a:lnSpc>
                <a:spcPct val="115000"/>
              </a:lnSpc>
              <a:spcBef>
                <a:spcPts val="0"/>
              </a:spcBef>
              <a:spcAft>
                <a:spcPts val="0"/>
              </a:spcAft>
              <a:buNone/>
            </a:pPr>
            <a:r>
              <a:rPr lang="en" sz="1000">
                <a:solidFill>
                  <a:srgbClr val="212121"/>
                </a:solidFill>
              </a:rPr>
              <a:t>    foo() </a:t>
            </a:r>
            <a:r>
              <a:rPr lang="en" sz="1000">
                <a:solidFill>
                  <a:srgbClr val="0000FF"/>
                </a:solidFill>
              </a:rPr>
              <a:t>→ process</a:t>
            </a:r>
            <a:endParaRPr sz="1000">
              <a:solidFill>
                <a:srgbClr val="0000FF"/>
              </a:solidFill>
            </a:endParaRPr>
          </a:p>
          <a:p>
            <a:pPr marL="114300" marR="114300" lvl="0" indent="0" algn="l" rtl="0">
              <a:lnSpc>
                <a:spcPct val="140000"/>
              </a:lnSpc>
              <a:spcBef>
                <a:spcPts val="0"/>
              </a:spcBef>
              <a:spcAft>
                <a:spcPts val="0"/>
              </a:spcAft>
              <a:buNone/>
            </a:pPr>
            <a:r>
              <a:rPr lang="en" sz="1000">
                <a:solidFill>
                  <a:srgbClr val="212121"/>
                </a:solidFill>
              </a:rPr>
              <a:t>}</a:t>
            </a:r>
            <a:endParaRPr sz="1000">
              <a:solidFill>
                <a:srgbClr val="212121"/>
              </a:solidFill>
            </a:endParaRPr>
          </a:p>
          <a:p>
            <a:pPr marL="0" marR="114300" lvl="0" indent="0" algn="l" rtl="0">
              <a:lnSpc>
                <a:spcPct val="140000"/>
              </a:lnSpc>
              <a:spcBef>
                <a:spcPts val="0"/>
              </a:spcBef>
              <a:spcAft>
                <a:spcPts val="0"/>
              </a:spcAft>
              <a:buNone/>
            </a:pPr>
            <a:endParaRPr sz="1000">
              <a:solidFill>
                <a:srgbClr val="212121"/>
              </a:solidFill>
            </a:endParaRPr>
          </a:p>
          <a:p>
            <a:pPr marL="0" lvl="0" indent="0" algn="l" rtl="0">
              <a:lnSpc>
                <a:spcPct val="115000"/>
              </a:lnSpc>
              <a:spcBef>
                <a:spcPts val="0"/>
              </a:spcBef>
              <a:spcAft>
                <a:spcPts val="0"/>
              </a:spcAft>
              <a:buNone/>
            </a:pPr>
            <a:r>
              <a:rPr lang="en" sz="1000">
                <a:solidFill>
                  <a:srgbClr val="212121"/>
                </a:solidFill>
              </a:rPr>
              <a:t>workflow {</a:t>
            </a:r>
            <a:endParaRPr sz="1000">
              <a:solidFill>
                <a:srgbClr val="212121"/>
              </a:solidFill>
            </a:endParaRPr>
          </a:p>
          <a:p>
            <a:pPr marL="0" lvl="0" indent="0" algn="l" rtl="0">
              <a:lnSpc>
                <a:spcPct val="115000"/>
              </a:lnSpc>
              <a:spcBef>
                <a:spcPts val="0"/>
              </a:spcBef>
              <a:spcAft>
                <a:spcPts val="0"/>
              </a:spcAft>
              <a:buNone/>
            </a:pPr>
            <a:r>
              <a:rPr lang="en" sz="1000">
                <a:solidFill>
                  <a:srgbClr val="212121"/>
                </a:solidFill>
              </a:rPr>
              <a:t>    Output_channel = foo1(input_channel)</a:t>
            </a:r>
            <a:endParaRPr sz="1000">
              <a:solidFill>
                <a:srgbClr val="212121"/>
              </a:solidFill>
            </a:endParaRPr>
          </a:p>
          <a:p>
            <a:pPr marL="0" lvl="0" indent="0" algn="l" rtl="0">
              <a:lnSpc>
                <a:spcPct val="115000"/>
              </a:lnSpc>
              <a:spcBef>
                <a:spcPts val="0"/>
              </a:spcBef>
              <a:spcAft>
                <a:spcPts val="0"/>
              </a:spcAft>
              <a:buNone/>
            </a:pPr>
            <a:r>
              <a:rPr lang="en" sz="1000">
                <a:solidFill>
                  <a:srgbClr val="212121"/>
                </a:solidFill>
              </a:rPr>
              <a:t>    Output_channel2 = foo2(Output_channel)</a:t>
            </a:r>
            <a:endParaRPr sz="1000">
              <a:solidFill>
                <a:srgbClr val="212121"/>
              </a:solidFill>
            </a:endParaRPr>
          </a:p>
          <a:p>
            <a:pPr marL="0" lvl="0" indent="0" algn="l" rtl="0">
              <a:lnSpc>
                <a:spcPct val="115000"/>
              </a:lnSpc>
              <a:spcBef>
                <a:spcPts val="0"/>
              </a:spcBef>
              <a:spcAft>
                <a:spcPts val="0"/>
              </a:spcAft>
              <a:buNone/>
            </a:pPr>
            <a:r>
              <a:rPr lang="en" sz="1000">
                <a:solidFill>
                  <a:srgbClr val="212121"/>
                </a:solidFill>
              </a:rPr>
              <a:t>    Output_channel2.collect().view()</a:t>
            </a:r>
            <a:endParaRPr sz="1000">
              <a:solidFill>
                <a:srgbClr val="212121"/>
              </a:solidFill>
            </a:endParaRPr>
          </a:p>
          <a:p>
            <a:pPr marL="114300" marR="114300" lvl="0" indent="0" algn="l" rtl="0">
              <a:lnSpc>
                <a:spcPct val="140000"/>
              </a:lnSpc>
              <a:spcBef>
                <a:spcPts val="0"/>
              </a:spcBef>
              <a:spcAft>
                <a:spcPts val="0"/>
              </a:spcAft>
              <a:buNone/>
            </a:pPr>
            <a:r>
              <a:rPr lang="en" sz="1000">
                <a:solidFill>
                  <a:srgbClr val="212121"/>
                </a:solidFill>
              </a:rPr>
              <a:t>}</a:t>
            </a:r>
            <a:endParaRPr sz="1000">
              <a:solidFill>
                <a:srgbClr val="212121"/>
              </a:solidFill>
            </a:endParaRPr>
          </a:p>
          <a:p>
            <a:pPr marL="114300" marR="114300" lvl="0" indent="0" algn="l" rtl="0">
              <a:lnSpc>
                <a:spcPct val="140000"/>
              </a:lnSpc>
              <a:spcBef>
                <a:spcPts val="0"/>
              </a:spcBef>
              <a:spcAft>
                <a:spcPts val="0"/>
              </a:spcAft>
              <a:buNone/>
            </a:pPr>
            <a:endParaRPr sz="1000">
              <a:solidFill>
                <a:srgbClr val="212121"/>
              </a:solidFill>
            </a:endParaRPr>
          </a:p>
          <a:p>
            <a:pPr marL="0" lvl="0" indent="0" algn="l" rtl="0">
              <a:lnSpc>
                <a:spcPct val="115000"/>
              </a:lnSpc>
              <a:spcBef>
                <a:spcPts val="0"/>
              </a:spcBef>
              <a:spcAft>
                <a:spcPts val="0"/>
              </a:spcAft>
              <a:buNone/>
            </a:pPr>
            <a:r>
              <a:rPr lang="en" sz="1000">
                <a:solidFill>
                  <a:srgbClr val="212121"/>
                </a:solidFill>
              </a:rPr>
              <a:t>// When there is two input and output channels</a:t>
            </a:r>
            <a:endParaRPr sz="1000">
              <a:solidFill>
                <a:srgbClr val="212121"/>
              </a:solidFill>
            </a:endParaRPr>
          </a:p>
          <a:p>
            <a:pPr marL="0" lvl="0" indent="0" algn="l" rtl="0">
              <a:lnSpc>
                <a:spcPct val="115000"/>
              </a:lnSpc>
              <a:spcBef>
                <a:spcPts val="0"/>
              </a:spcBef>
              <a:spcAft>
                <a:spcPts val="0"/>
              </a:spcAft>
              <a:buNone/>
            </a:pPr>
            <a:r>
              <a:rPr lang="en" sz="1000">
                <a:solidFill>
                  <a:srgbClr val="212121"/>
                </a:solidFill>
              </a:rPr>
              <a:t>workflow {</a:t>
            </a:r>
            <a:endParaRPr sz="1000">
              <a:solidFill>
                <a:srgbClr val="212121"/>
              </a:solidFill>
            </a:endParaRPr>
          </a:p>
          <a:p>
            <a:pPr marL="0" lvl="0" indent="0" algn="l" rtl="0">
              <a:lnSpc>
                <a:spcPct val="115000"/>
              </a:lnSpc>
              <a:spcBef>
                <a:spcPts val="0"/>
              </a:spcBef>
              <a:spcAft>
                <a:spcPts val="0"/>
              </a:spcAft>
              <a:buNone/>
            </a:pPr>
            <a:r>
              <a:rPr lang="en" sz="1000">
                <a:solidFill>
                  <a:srgbClr val="212121"/>
                </a:solidFill>
              </a:rPr>
              <a:t>    (output_channel1,output_channel2) = foo(input_channel1,input_channel2)</a:t>
            </a:r>
            <a:endParaRPr sz="1000">
              <a:solidFill>
                <a:srgbClr val="212121"/>
              </a:solidFill>
            </a:endParaRPr>
          </a:p>
          <a:p>
            <a:pPr marL="114300" marR="114300" lvl="0" indent="0" algn="l" rtl="0">
              <a:lnSpc>
                <a:spcPct val="140000"/>
              </a:lnSpc>
              <a:spcBef>
                <a:spcPts val="0"/>
              </a:spcBef>
              <a:spcAft>
                <a:spcPts val="0"/>
              </a:spcAft>
              <a:buNone/>
            </a:pPr>
            <a:r>
              <a:rPr lang="en" sz="1000">
                <a:solidFill>
                  <a:srgbClr val="212121"/>
                </a:solidFill>
              </a:rPr>
              <a:t>}</a:t>
            </a:r>
            <a:endParaRPr sz="1000">
              <a:solidFill>
                <a:srgbClr val="212121"/>
              </a:solidFill>
            </a:endParaRPr>
          </a:p>
          <a:p>
            <a:pPr marL="0" lvl="0" indent="0" algn="l" rtl="0">
              <a:spcBef>
                <a:spcPts val="0"/>
              </a:spcBef>
              <a:spcAft>
                <a:spcPts val="0"/>
              </a:spcAft>
              <a:buNone/>
            </a:pPr>
            <a:endParaRPr sz="1000">
              <a:solidFill>
                <a:srgbClr val="212121"/>
              </a:solidFill>
            </a:endParaRPr>
          </a:p>
          <a:p>
            <a:pPr marL="0" lvl="0" indent="0" algn="l" rtl="0">
              <a:spcBef>
                <a:spcPts val="0"/>
              </a:spcBef>
              <a:spcAft>
                <a:spcPts val="0"/>
              </a:spcAft>
              <a:buNone/>
            </a:pPr>
            <a:r>
              <a:rPr lang="en" sz="1000">
                <a:solidFill>
                  <a:srgbClr val="212121"/>
                </a:solidFill>
              </a:rPr>
              <a:t>// When there is only one input and output channel, another way to write (similar to bash pipe)</a:t>
            </a:r>
            <a:endParaRPr sz="1000">
              <a:solidFill>
                <a:srgbClr val="212121"/>
              </a:solidFill>
            </a:endParaRPr>
          </a:p>
          <a:p>
            <a:pPr marL="0" lvl="0" indent="0" algn="l" rtl="0">
              <a:lnSpc>
                <a:spcPct val="115000"/>
              </a:lnSpc>
              <a:spcBef>
                <a:spcPts val="0"/>
              </a:spcBef>
              <a:spcAft>
                <a:spcPts val="0"/>
              </a:spcAft>
              <a:buNone/>
            </a:pPr>
            <a:r>
              <a:rPr lang="en" sz="1000">
                <a:solidFill>
                  <a:srgbClr val="212121"/>
                </a:solidFill>
              </a:rPr>
              <a:t>workflow {</a:t>
            </a:r>
            <a:endParaRPr sz="1000">
              <a:solidFill>
                <a:srgbClr val="212121"/>
              </a:solidFill>
            </a:endParaRPr>
          </a:p>
          <a:p>
            <a:pPr marL="0" lvl="0" indent="0" algn="l" rtl="0">
              <a:lnSpc>
                <a:spcPct val="115000"/>
              </a:lnSpc>
              <a:spcBef>
                <a:spcPts val="0"/>
              </a:spcBef>
              <a:spcAft>
                <a:spcPts val="0"/>
              </a:spcAft>
              <a:buNone/>
            </a:pPr>
            <a:r>
              <a:rPr lang="en" sz="1000">
                <a:solidFill>
                  <a:srgbClr val="212121"/>
                </a:solidFill>
              </a:rPr>
              <a:t>    foo1 | foo</a:t>
            </a:r>
            <a:endParaRPr sz="1000">
              <a:solidFill>
                <a:srgbClr val="212121"/>
              </a:solidFill>
            </a:endParaRPr>
          </a:p>
          <a:p>
            <a:pPr marL="114300" marR="114300" lvl="0" indent="0" algn="l" rtl="0">
              <a:lnSpc>
                <a:spcPct val="140000"/>
              </a:lnSpc>
              <a:spcBef>
                <a:spcPts val="0"/>
              </a:spcBef>
              <a:spcAft>
                <a:spcPts val="0"/>
              </a:spcAft>
              <a:buNone/>
            </a:pPr>
            <a:r>
              <a:rPr lang="en" sz="1000">
                <a:solidFill>
                  <a:srgbClr val="212121"/>
                </a:solidFill>
              </a:rPr>
              <a:t>}</a:t>
            </a:r>
            <a:endParaRPr sz="1000">
              <a:solidFill>
                <a:srgbClr val="21212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5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Operators - view, print, println</a:t>
            </a:r>
            <a:endParaRPr/>
          </a:p>
        </p:txBody>
      </p:sp>
      <p:sp>
        <p:nvSpPr>
          <p:cNvPr id="793" name="Google Shape;793;p54"/>
          <p:cNvSpPr txBox="1">
            <a:spLocks noGrp="1"/>
          </p:cNvSpPr>
          <p:nvPr>
            <p:ph type="body" idx="1"/>
          </p:nvPr>
        </p:nvSpPr>
        <p:spPr>
          <a:xfrm>
            <a:off x="894775" y="1990050"/>
            <a:ext cx="3549000" cy="2871300"/>
          </a:xfrm>
          <a:prstGeom prst="rect">
            <a:avLst/>
          </a:prstGeom>
        </p:spPr>
        <p:txBody>
          <a:bodyPr spcFirstLastPara="1" wrap="square" lIns="91425" tIns="91425" rIns="91425" bIns="91425" anchor="t" anchorCtr="0">
            <a:normAutofit fontScale="92500"/>
          </a:bodyPr>
          <a:lstStyle/>
          <a:p>
            <a:pPr marL="457200" lvl="0" indent="-311150" algn="l" rtl="0">
              <a:lnSpc>
                <a:spcPct val="150000"/>
              </a:lnSpc>
              <a:spcBef>
                <a:spcPts val="0"/>
              </a:spcBef>
              <a:spcAft>
                <a:spcPts val="0"/>
              </a:spcAft>
              <a:buSzPts val="1300"/>
              <a:buChar char="●"/>
            </a:pPr>
            <a:r>
              <a:rPr lang="en" dirty="0"/>
              <a:t>These operators print the items emitted by a channel to the console standard output</a:t>
            </a:r>
            <a:endParaRPr dirty="0"/>
          </a:p>
          <a:p>
            <a:pPr marL="457200" lvl="0" indent="-311150" algn="l" rtl="0">
              <a:lnSpc>
                <a:spcPct val="150000"/>
              </a:lnSpc>
              <a:spcBef>
                <a:spcPts val="0"/>
              </a:spcBef>
              <a:spcAft>
                <a:spcPts val="0"/>
              </a:spcAft>
              <a:buSzPts val="1300"/>
              <a:buChar char="●"/>
            </a:pPr>
            <a:r>
              <a:rPr lang="en" dirty="0"/>
              <a:t>The </a:t>
            </a:r>
            <a:r>
              <a:rPr lang="en" dirty="0" err="1"/>
              <a:t>println</a:t>
            </a:r>
            <a:r>
              <a:rPr lang="en" dirty="0"/>
              <a:t> operator prints the items emitted by a channel to the console standard output appending a new line character to each of them</a:t>
            </a:r>
            <a:endParaRPr dirty="0"/>
          </a:p>
          <a:p>
            <a:pPr marL="457200" lvl="0" indent="-311150" algn="l" rtl="0">
              <a:lnSpc>
                <a:spcPct val="150000"/>
              </a:lnSpc>
              <a:spcBef>
                <a:spcPts val="0"/>
              </a:spcBef>
              <a:spcAft>
                <a:spcPts val="0"/>
              </a:spcAft>
              <a:buSzPts val="1300"/>
              <a:buChar char="●"/>
            </a:pPr>
            <a:r>
              <a:rPr lang="en" dirty="0"/>
              <a:t>Each operators have additional options, read more in the documentation</a:t>
            </a:r>
            <a:endParaRPr dirty="0"/>
          </a:p>
        </p:txBody>
      </p:sp>
      <p:sp>
        <p:nvSpPr>
          <p:cNvPr id="794" name="Google Shape;794;p54"/>
          <p:cNvSpPr txBox="1"/>
          <p:nvPr/>
        </p:nvSpPr>
        <p:spPr>
          <a:xfrm>
            <a:off x="5756025" y="1459275"/>
            <a:ext cx="3000000" cy="1336489"/>
          </a:xfrm>
          <a:prstGeom prst="rect">
            <a:avLst/>
          </a:prstGeom>
          <a:solidFill>
            <a:srgbClr val="D0E0E3"/>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300" b="1" dirty="0" err="1">
                <a:solidFill>
                  <a:schemeClr val="dk2"/>
                </a:solidFill>
                <a:latin typeface="Nunito"/>
                <a:ea typeface="Nunito"/>
                <a:cs typeface="Nunito"/>
                <a:sym typeface="Nunito"/>
              </a:rPr>
              <a:t>Channel.of</a:t>
            </a:r>
            <a:r>
              <a:rPr lang="en" sz="1300" b="1" dirty="0">
                <a:solidFill>
                  <a:schemeClr val="dk2"/>
                </a:solidFill>
                <a:latin typeface="Nunito"/>
                <a:ea typeface="Nunito"/>
                <a:cs typeface="Nunito"/>
                <a:sym typeface="Nunito"/>
              </a:rPr>
              <a:t>(1,2,3).view()</a:t>
            </a:r>
            <a:endParaRPr sz="1300" b="1" dirty="0">
              <a:solidFill>
                <a:schemeClr val="dk2"/>
              </a:solidFill>
              <a:latin typeface="Nunito"/>
              <a:ea typeface="Nunito"/>
              <a:cs typeface="Nunito"/>
              <a:sym typeface="Nunito"/>
            </a:endParaRPr>
          </a:p>
          <a:p>
            <a:pPr marL="0" lvl="0" indent="0" algn="l" rtl="0">
              <a:lnSpc>
                <a:spcPct val="115000"/>
              </a:lnSpc>
              <a:spcBef>
                <a:spcPts val="1200"/>
              </a:spcBef>
              <a:spcAft>
                <a:spcPts val="0"/>
              </a:spcAft>
              <a:buNone/>
            </a:pPr>
            <a:r>
              <a:rPr lang="en" sz="1300" dirty="0" err="1">
                <a:solidFill>
                  <a:schemeClr val="dk2"/>
                </a:solidFill>
                <a:latin typeface="Nunito"/>
                <a:ea typeface="Nunito"/>
                <a:cs typeface="Nunito"/>
                <a:sym typeface="Nunito"/>
              </a:rPr>
              <a:t>Channel.of</a:t>
            </a:r>
            <a:r>
              <a:rPr lang="en" sz="1300" dirty="0">
                <a:solidFill>
                  <a:schemeClr val="dk2"/>
                </a:solidFill>
                <a:latin typeface="Nunito"/>
                <a:ea typeface="Nunito"/>
                <a:cs typeface="Nunito"/>
                <a:sym typeface="Nunito"/>
              </a:rPr>
              <a:t>(1,2,3).print()</a:t>
            </a:r>
            <a:endParaRPr sz="1300" dirty="0">
              <a:solidFill>
                <a:schemeClr val="dk2"/>
              </a:solidFill>
              <a:latin typeface="Nunito"/>
              <a:ea typeface="Nunito"/>
              <a:cs typeface="Nunito"/>
              <a:sym typeface="Nunito"/>
            </a:endParaRPr>
          </a:p>
          <a:p>
            <a:pPr marL="0" lvl="0" indent="0" algn="l" rtl="0">
              <a:lnSpc>
                <a:spcPct val="115000"/>
              </a:lnSpc>
              <a:spcBef>
                <a:spcPts val="1200"/>
              </a:spcBef>
              <a:spcAft>
                <a:spcPts val="1200"/>
              </a:spcAft>
              <a:buNone/>
            </a:pPr>
            <a:r>
              <a:rPr lang="en" sz="1300" dirty="0" err="1">
                <a:solidFill>
                  <a:schemeClr val="dk2"/>
                </a:solidFill>
                <a:latin typeface="Nunito"/>
                <a:ea typeface="Nunito"/>
                <a:cs typeface="Nunito"/>
                <a:sym typeface="Nunito"/>
              </a:rPr>
              <a:t>Channel.of</a:t>
            </a:r>
            <a:r>
              <a:rPr lang="en" sz="1300" dirty="0">
                <a:solidFill>
                  <a:schemeClr val="dk2"/>
                </a:solidFill>
                <a:latin typeface="Nunito"/>
                <a:ea typeface="Nunito"/>
                <a:cs typeface="Nunito"/>
                <a:sym typeface="Nunito"/>
              </a:rPr>
              <a:t>(1,2,3).</a:t>
            </a:r>
            <a:r>
              <a:rPr lang="en" sz="1300" dirty="0" err="1">
                <a:solidFill>
                  <a:schemeClr val="dk2"/>
                </a:solidFill>
                <a:latin typeface="Nunito"/>
                <a:ea typeface="Nunito"/>
                <a:cs typeface="Nunito"/>
                <a:sym typeface="Nunito"/>
              </a:rPr>
              <a:t>println</a:t>
            </a:r>
            <a:r>
              <a:rPr lang="en" sz="1300" dirty="0">
                <a:solidFill>
                  <a:schemeClr val="dk2"/>
                </a:solidFill>
                <a:latin typeface="Nunito"/>
                <a:ea typeface="Nunito"/>
                <a:cs typeface="Nunito"/>
                <a:sym typeface="Nunito"/>
              </a:rPr>
              <a:t>()</a:t>
            </a:r>
            <a:endParaRPr dirty="0"/>
          </a:p>
        </p:txBody>
      </p:sp>
      <p:pic>
        <p:nvPicPr>
          <p:cNvPr id="795" name="Google Shape;795;p54"/>
          <p:cNvPicPr preferRelativeResize="0"/>
          <p:nvPr/>
        </p:nvPicPr>
        <p:blipFill>
          <a:blip r:embed="rId3">
            <a:alphaModFix/>
          </a:blip>
          <a:stretch>
            <a:fillRect/>
          </a:stretch>
        </p:blipFill>
        <p:spPr>
          <a:xfrm>
            <a:off x="5214920" y="3117731"/>
            <a:ext cx="3252001" cy="115768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55"/>
          <p:cNvSpPr txBox="1"/>
          <p:nvPr/>
        </p:nvSpPr>
        <p:spPr>
          <a:xfrm>
            <a:off x="4572000" y="1720500"/>
            <a:ext cx="4231800" cy="1538853"/>
          </a:xfrm>
          <a:prstGeom prst="rect">
            <a:avLst/>
          </a:prstGeom>
          <a:solidFill>
            <a:srgbClr val="D0E0E3"/>
          </a:solid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00" dirty="0" err="1"/>
              <a:t>Channel.of</a:t>
            </a:r>
            <a:r>
              <a:rPr lang="en" sz="1100" dirty="0"/>
              <a:t>(10,20,30).set { </a:t>
            </a:r>
            <a:r>
              <a:rPr lang="en" sz="1100" dirty="0" err="1"/>
              <a:t>my_channel</a:t>
            </a:r>
            <a:r>
              <a:rPr lang="en" sz="1100" dirty="0"/>
              <a:t> }</a:t>
            </a:r>
            <a:endParaRPr sz="1100" dirty="0"/>
          </a:p>
          <a:p>
            <a:pPr marL="0" lvl="0" indent="0" algn="l" rtl="0">
              <a:lnSpc>
                <a:spcPct val="150000"/>
              </a:lnSpc>
              <a:spcBef>
                <a:spcPts val="0"/>
              </a:spcBef>
              <a:spcAft>
                <a:spcPts val="0"/>
              </a:spcAft>
              <a:buNone/>
            </a:pPr>
            <a:r>
              <a:rPr lang="en" sz="1100" dirty="0" err="1"/>
              <a:t>my_channel</a:t>
            </a:r>
            <a:r>
              <a:rPr lang="en" sz="1100" dirty="0"/>
              <a:t> = </a:t>
            </a:r>
            <a:r>
              <a:rPr lang="en" sz="1100" dirty="0" err="1"/>
              <a:t>Channel.of</a:t>
            </a:r>
            <a:r>
              <a:rPr lang="en" sz="1100" dirty="0"/>
              <a:t>(10,20,30)</a:t>
            </a:r>
            <a:endParaRPr sz="1100" dirty="0"/>
          </a:p>
          <a:p>
            <a:pPr marL="0" lvl="0" indent="0" algn="l" rtl="0">
              <a:spcBef>
                <a:spcPts val="0"/>
              </a:spcBef>
              <a:spcAft>
                <a:spcPts val="0"/>
              </a:spcAft>
              <a:buNone/>
            </a:pPr>
            <a:endParaRPr sz="1100" dirty="0"/>
          </a:p>
          <a:p>
            <a:pPr marL="0" lvl="0" indent="0" algn="l" rtl="0">
              <a:spcBef>
                <a:spcPts val="0"/>
              </a:spcBef>
              <a:spcAft>
                <a:spcPts val="0"/>
              </a:spcAft>
              <a:buNone/>
            </a:pPr>
            <a:endParaRPr sz="1100" dirty="0"/>
          </a:p>
          <a:p>
            <a:pPr marL="0" lvl="0" indent="0" algn="l" rtl="0">
              <a:lnSpc>
                <a:spcPct val="150000"/>
              </a:lnSpc>
              <a:spcBef>
                <a:spcPts val="0"/>
              </a:spcBef>
              <a:spcAft>
                <a:spcPts val="0"/>
              </a:spcAft>
              <a:buNone/>
            </a:pPr>
            <a:r>
              <a:rPr lang="en" sz="1100" dirty="0" err="1"/>
              <a:t>Channel.of</a:t>
            </a:r>
            <a:r>
              <a:rPr lang="en" sz="1100" dirty="0"/>
              <a:t>(10,20,30).into { my_channel1; my_channel2 }</a:t>
            </a:r>
            <a:endParaRPr sz="1100" dirty="0"/>
          </a:p>
          <a:p>
            <a:pPr marL="0" lvl="0" indent="0" algn="l" rtl="0">
              <a:lnSpc>
                <a:spcPct val="150000"/>
              </a:lnSpc>
              <a:spcBef>
                <a:spcPts val="0"/>
              </a:spcBef>
              <a:spcAft>
                <a:spcPts val="0"/>
              </a:spcAft>
              <a:buNone/>
            </a:pPr>
            <a:r>
              <a:rPr lang="en" sz="1100" dirty="0"/>
              <a:t>( my_channel1, my_channel2)=</a:t>
            </a:r>
            <a:r>
              <a:rPr lang="en" sz="1100" dirty="0" err="1"/>
              <a:t>Channel.of</a:t>
            </a:r>
            <a:r>
              <a:rPr lang="en" sz="1100" dirty="0"/>
              <a:t>(10,20,30).into(2)</a:t>
            </a:r>
            <a:endParaRPr sz="1100" dirty="0"/>
          </a:p>
        </p:txBody>
      </p:sp>
      <p:sp>
        <p:nvSpPr>
          <p:cNvPr id="801" name="Google Shape;801;p55"/>
          <p:cNvSpPr txBox="1"/>
          <p:nvPr/>
        </p:nvSpPr>
        <p:spPr>
          <a:xfrm>
            <a:off x="558500" y="1597875"/>
            <a:ext cx="3552000" cy="2893800"/>
          </a:xfrm>
          <a:prstGeom prst="rect">
            <a:avLst/>
          </a:prstGeom>
          <a:noFill/>
          <a:ln>
            <a:noFill/>
          </a:ln>
        </p:spPr>
        <p:txBody>
          <a:bodyPr spcFirstLastPara="1" wrap="square" lIns="91425" tIns="91425" rIns="91425" bIns="91425" anchor="t" anchorCtr="0">
            <a:spAutoFit/>
          </a:bodyPr>
          <a:lstStyle/>
          <a:p>
            <a:pPr marL="457200" lvl="0" indent="-298450" algn="l" rtl="0">
              <a:lnSpc>
                <a:spcPct val="150000"/>
              </a:lnSpc>
              <a:spcBef>
                <a:spcPts val="0"/>
              </a:spcBef>
              <a:spcAft>
                <a:spcPts val="0"/>
              </a:spcAft>
              <a:buSzPts val="1100"/>
              <a:buChar char="●"/>
            </a:pPr>
            <a:r>
              <a:rPr lang="en" sz="1100"/>
              <a:t>The set operator assigns the channel to a variable whose name is specified as a closure parameter</a:t>
            </a:r>
            <a:endParaRPr sz="1100"/>
          </a:p>
          <a:p>
            <a:pPr marL="457200" lvl="0" indent="-298450" algn="l" rtl="0">
              <a:lnSpc>
                <a:spcPct val="150000"/>
              </a:lnSpc>
              <a:spcBef>
                <a:spcPts val="0"/>
              </a:spcBef>
              <a:spcAft>
                <a:spcPts val="0"/>
              </a:spcAft>
              <a:buSzPts val="1100"/>
              <a:buChar char="●"/>
            </a:pPr>
            <a:r>
              <a:rPr lang="en" sz="1100"/>
              <a:t>The into operator connects a source channel to two or more target channels in such a way the values emitted by the source channel are copied to the target channels</a:t>
            </a:r>
            <a:endParaRPr sz="1100"/>
          </a:p>
          <a:p>
            <a:pPr marL="457200" lvl="0" indent="-298450" algn="l" rtl="0">
              <a:lnSpc>
                <a:spcPct val="150000"/>
              </a:lnSpc>
              <a:spcBef>
                <a:spcPts val="0"/>
              </a:spcBef>
              <a:spcAft>
                <a:spcPts val="0"/>
              </a:spcAft>
              <a:buSzPts val="1100"/>
              <a:buChar char="●"/>
            </a:pPr>
            <a:r>
              <a:rPr lang="en" sz="1100"/>
              <a:t>A second version of the into operator takes an integer n as an argument and returns a list of n channels, each of which emits a copy of the items that were emitted by the source channel.</a:t>
            </a:r>
            <a:endParaRPr sz="1100"/>
          </a:p>
        </p:txBody>
      </p:sp>
      <p:sp>
        <p:nvSpPr>
          <p:cNvPr id="802" name="Google Shape;802;p5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Operators - set, into</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56"/>
          <p:cNvSpPr txBox="1"/>
          <p:nvPr/>
        </p:nvSpPr>
        <p:spPr>
          <a:xfrm>
            <a:off x="4572000" y="1339500"/>
            <a:ext cx="4231800" cy="946383"/>
          </a:xfrm>
          <a:prstGeom prst="rect">
            <a:avLst/>
          </a:prstGeom>
          <a:solidFill>
            <a:srgbClr val="D0E0E3"/>
          </a:solid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00" dirty="0" err="1"/>
              <a:t>Channel.of</a:t>
            </a:r>
            <a:r>
              <a:rPr lang="en" sz="1100" dirty="0"/>
              <a:t>( 1, 2, 3, 4, 5 ).collect()</a:t>
            </a:r>
            <a:endParaRPr sz="1100" dirty="0"/>
          </a:p>
          <a:p>
            <a:pPr marL="0" lvl="0" indent="0" algn="l" rtl="0">
              <a:lnSpc>
                <a:spcPct val="150000"/>
              </a:lnSpc>
              <a:spcBef>
                <a:spcPts val="0"/>
              </a:spcBef>
              <a:spcAft>
                <a:spcPts val="0"/>
              </a:spcAft>
              <a:buNone/>
            </a:pPr>
            <a:r>
              <a:rPr lang="en" sz="1100" dirty="0"/>
              <a:t>.view()</a:t>
            </a:r>
            <a:endParaRPr sz="1100" dirty="0"/>
          </a:p>
          <a:p>
            <a:pPr marL="0" lvl="0" indent="0" algn="l" rtl="0">
              <a:lnSpc>
                <a:spcPct val="150000"/>
              </a:lnSpc>
              <a:spcBef>
                <a:spcPts val="0"/>
              </a:spcBef>
              <a:spcAft>
                <a:spcPts val="0"/>
              </a:spcAft>
              <a:buNone/>
            </a:pPr>
            <a:endParaRPr sz="1100" dirty="0"/>
          </a:p>
        </p:txBody>
      </p:sp>
      <p:sp>
        <p:nvSpPr>
          <p:cNvPr id="808" name="Google Shape;808;p56"/>
          <p:cNvSpPr txBox="1"/>
          <p:nvPr/>
        </p:nvSpPr>
        <p:spPr>
          <a:xfrm>
            <a:off x="558500" y="1597875"/>
            <a:ext cx="3552000" cy="861900"/>
          </a:xfrm>
          <a:prstGeom prst="rect">
            <a:avLst/>
          </a:prstGeom>
          <a:noFill/>
          <a:ln>
            <a:noFill/>
          </a:ln>
        </p:spPr>
        <p:txBody>
          <a:bodyPr spcFirstLastPara="1" wrap="square" lIns="91425" tIns="91425" rIns="91425" bIns="91425" anchor="t" anchorCtr="0">
            <a:spAutoFit/>
          </a:bodyPr>
          <a:lstStyle/>
          <a:p>
            <a:pPr marL="457200" lvl="0" indent="-298450" algn="l" rtl="0">
              <a:lnSpc>
                <a:spcPct val="150000"/>
              </a:lnSpc>
              <a:spcBef>
                <a:spcPts val="0"/>
              </a:spcBef>
              <a:spcAft>
                <a:spcPts val="0"/>
              </a:spcAft>
              <a:buSzPts val="1100"/>
              <a:buChar char="●"/>
            </a:pPr>
            <a:r>
              <a:rPr lang="en" sz="1100"/>
              <a:t>The collect operator collects all the items emitted by a channel to a List and return the resulting object as a sole emission</a:t>
            </a:r>
            <a:endParaRPr sz="1100"/>
          </a:p>
        </p:txBody>
      </p:sp>
      <p:sp>
        <p:nvSpPr>
          <p:cNvPr id="809" name="Google Shape;809;p56"/>
          <p:cNvSpPr txBox="1">
            <a:spLocks noGrp="1"/>
          </p:cNvSpPr>
          <p:nvPr>
            <p:ph type="title"/>
          </p:nvPr>
        </p:nvSpPr>
        <p:spPr>
          <a:xfrm>
            <a:off x="1303800" y="598575"/>
            <a:ext cx="7030500" cy="551749"/>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Operators - collect</a:t>
            </a:r>
            <a:endParaRPr dirty="0"/>
          </a:p>
        </p:txBody>
      </p:sp>
      <p:sp>
        <p:nvSpPr>
          <p:cNvPr id="810" name="Google Shape;810;p56"/>
          <p:cNvSpPr/>
          <p:nvPr/>
        </p:nvSpPr>
        <p:spPr>
          <a:xfrm rot="-5400000">
            <a:off x="2748200" y="3629800"/>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56"/>
          <p:cNvSpPr/>
          <p:nvPr/>
        </p:nvSpPr>
        <p:spPr>
          <a:xfrm rot="-5400000">
            <a:off x="1965250" y="3629800"/>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56"/>
          <p:cNvSpPr/>
          <p:nvPr/>
        </p:nvSpPr>
        <p:spPr>
          <a:xfrm rot="-5400000">
            <a:off x="1182300" y="3629800"/>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56"/>
          <p:cNvSpPr/>
          <p:nvPr/>
        </p:nvSpPr>
        <p:spPr>
          <a:xfrm rot="-5400000">
            <a:off x="399350" y="3629800"/>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56"/>
          <p:cNvSpPr txBox="1"/>
          <p:nvPr/>
        </p:nvSpPr>
        <p:spPr>
          <a:xfrm>
            <a:off x="489100" y="3945125"/>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1</a:t>
            </a:r>
            <a:endParaRPr>
              <a:latin typeface="Nunito"/>
              <a:ea typeface="Nunito"/>
              <a:cs typeface="Nunito"/>
              <a:sym typeface="Nunito"/>
            </a:endParaRPr>
          </a:p>
        </p:txBody>
      </p:sp>
      <p:sp>
        <p:nvSpPr>
          <p:cNvPr id="815" name="Google Shape;815;p56"/>
          <p:cNvSpPr txBox="1"/>
          <p:nvPr/>
        </p:nvSpPr>
        <p:spPr>
          <a:xfrm>
            <a:off x="1299075" y="3945125"/>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3</a:t>
            </a:r>
            <a:endParaRPr>
              <a:latin typeface="Nunito"/>
              <a:ea typeface="Nunito"/>
              <a:cs typeface="Nunito"/>
              <a:sym typeface="Nunito"/>
            </a:endParaRPr>
          </a:p>
        </p:txBody>
      </p:sp>
      <p:sp>
        <p:nvSpPr>
          <p:cNvPr id="816" name="Google Shape;816;p56"/>
          <p:cNvSpPr txBox="1"/>
          <p:nvPr/>
        </p:nvSpPr>
        <p:spPr>
          <a:xfrm>
            <a:off x="2064000" y="3945125"/>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5</a:t>
            </a:r>
            <a:endParaRPr>
              <a:latin typeface="Nunito"/>
              <a:ea typeface="Nunito"/>
              <a:cs typeface="Nunito"/>
              <a:sym typeface="Nunito"/>
            </a:endParaRPr>
          </a:p>
        </p:txBody>
      </p:sp>
      <p:sp>
        <p:nvSpPr>
          <p:cNvPr id="817" name="Google Shape;817;p56"/>
          <p:cNvSpPr txBox="1"/>
          <p:nvPr/>
        </p:nvSpPr>
        <p:spPr>
          <a:xfrm>
            <a:off x="2828925" y="3945125"/>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7</a:t>
            </a:r>
            <a:endParaRPr>
              <a:latin typeface="Nunito"/>
              <a:ea typeface="Nunito"/>
              <a:cs typeface="Nunito"/>
              <a:sym typeface="Nunito"/>
            </a:endParaRPr>
          </a:p>
        </p:txBody>
      </p:sp>
      <p:cxnSp>
        <p:nvCxnSpPr>
          <p:cNvPr id="818" name="Google Shape;818;p56"/>
          <p:cNvCxnSpPr>
            <a:stCxn id="810" idx="3"/>
          </p:cNvCxnSpPr>
          <p:nvPr/>
        </p:nvCxnSpPr>
        <p:spPr>
          <a:xfrm>
            <a:off x="3441800" y="4134250"/>
            <a:ext cx="1659600" cy="0"/>
          </a:xfrm>
          <a:prstGeom prst="straightConnector1">
            <a:avLst/>
          </a:prstGeom>
          <a:noFill/>
          <a:ln w="9525" cap="flat" cmpd="sng">
            <a:solidFill>
              <a:schemeClr val="dk2"/>
            </a:solidFill>
            <a:prstDash val="solid"/>
            <a:round/>
            <a:headEnd type="none" w="med" len="med"/>
            <a:tailEnd type="triangle" w="med" len="med"/>
          </a:ln>
        </p:spPr>
      </p:cxnSp>
      <p:sp>
        <p:nvSpPr>
          <p:cNvPr id="819" name="Google Shape;819;p56"/>
          <p:cNvSpPr/>
          <p:nvPr/>
        </p:nvSpPr>
        <p:spPr>
          <a:xfrm rot="-5400000">
            <a:off x="5563350" y="3488075"/>
            <a:ext cx="378300" cy="12924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56"/>
          <p:cNvSpPr txBox="1"/>
          <p:nvPr/>
        </p:nvSpPr>
        <p:spPr>
          <a:xfrm>
            <a:off x="5358950" y="3945150"/>
            <a:ext cx="959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[1,3,5,7]</a:t>
            </a:r>
            <a:endParaRPr>
              <a:latin typeface="Nunito"/>
              <a:ea typeface="Nunito"/>
              <a:cs typeface="Nunito"/>
              <a:sym typeface="Nunito"/>
            </a:endParaRPr>
          </a:p>
        </p:txBody>
      </p:sp>
      <p:sp>
        <p:nvSpPr>
          <p:cNvPr id="821" name="Google Shape;821;p56"/>
          <p:cNvSpPr txBox="1"/>
          <p:nvPr/>
        </p:nvSpPr>
        <p:spPr>
          <a:xfrm>
            <a:off x="255225" y="2978600"/>
            <a:ext cx="4316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Eg: Collect all the output from the previous process</a:t>
            </a:r>
            <a:endParaRPr>
              <a:latin typeface="Nunito"/>
              <a:ea typeface="Nunito"/>
              <a:cs typeface="Nunito"/>
              <a:sym typeface="Nunito"/>
            </a:endParaRPr>
          </a:p>
        </p:txBody>
      </p:sp>
      <p:sp>
        <p:nvSpPr>
          <p:cNvPr id="822" name="Google Shape;822;p56"/>
          <p:cNvSpPr txBox="1"/>
          <p:nvPr/>
        </p:nvSpPr>
        <p:spPr>
          <a:xfrm>
            <a:off x="768400" y="4573000"/>
            <a:ext cx="1846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Output of process 1</a:t>
            </a:r>
            <a:endParaRPr>
              <a:latin typeface="Nunito"/>
              <a:ea typeface="Nunito"/>
              <a:cs typeface="Nunito"/>
              <a:sym typeface="Nunito"/>
            </a:endParaRPr>
          </a:p>
        </p:txBody>
      </p:sp>
      <p:sp>
        <p:nvSpPr>
          <p:cNvPr id="823" name="Google Shape;823;p56"/>
          <p:cNvSpPr txBox="1"/>
          <p:nvPr/>
        </p:nvSpPr>
        <p:spPr>
          <a:xfrm>
            <a:off x="4915250" y="4573000"/>
            <a:ext cx="2059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Collect to get as a list</a:t>
            </a:r>
            <a:endParaRPr>
              <a:latin typeface="Nunito"/>
              <a:ea typeface="Nunito"/>
              <a:cs typeface="Nunito"/>
              <a:sym typeface="Nunito"/>
            </a:endParaRPr>
          </a:p>
        </p:txBody>
      </p:sp>
      <p:pic>
        <p:nvPicPr>
          <p:cNvPr id="824" name="Google Shape;824;p56"/>
          <p:cNvPicPr preferRelativeResize="0"/>
          <p:nvPr/>
        </p:nvPicPr>
        <p:blipFill>
          <a:blip r:embed="rId3">
            <a:alphaModFix/>
          </a:blip>
          <a:stretch>
            <a:fillRect/>
          </a:stretch>
        </p:blipFill>
        <p:spPr>
          <a:xfrm>
            <a:off x="4899278" y="2382600"/>
            <a:ext cx="3577254" cy="3783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p57"/>
          <p:cNvSpPr txBox="1"/>
          <p:nvPr/>
        </p:nvSpPr>
        <p:spPr>
          <a:xfrm>
            <a:off x="4572000" y="1294475"/>
            <a:ext cx="4231800" cy="8619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00"/>
              <a:t>Channel.of( [1, 2, 3, 4, 5] )</a:t>
            </a:r>
            <a:endParaRPr sz="1100"/>
          </a:p>
          <a:p>
            <a:pPr marL="0" lvl="0" indent="0" algn="l" rtl="0">
              <a:lnSpc>
                <a:spcPct val="150000"/>
              </a:lnSpc>
              <a:spcBef>
                <a:spcPts val="0"/>
              </a:spcBef>
              <a:spcAft>
                <a:spcPts val="0"/>
              </a:spcAft>
              <a:buNone/>
            </a:pPr>
            <a:r>
              <a:rPr lang="en" sz="1100"/>
              <a:t>.flatten()</a:t>
            </a:r>
            <a:endParaRPr sz="1100"/>
          </a:p>
          <a:p>
            <a:pPr marL="0" lvl="0" indent="0" algn="l" rtl="0">
              <a:lnSpc>
                <a:spcPct val="150000"/>
              </a:lnSpc>
              <a:spcBef>
                <a:spcPts val="0"/>
              </a:spcBef>
              <a:spcAft>
                <a:spcPts val="0"/>
              </a:spcAft>
              <a:buNone/>
            </a:pPr>
            <a:r>
              <a:rPr lang="en" sz="1100"/>
              <a:t>.view()</a:t>
            </a:r>
            <a:endParaRPr sz="1100"/>
          </a:p>
        </p:txBody>
      </p:sp>
      <p:sp>
        <p:nvSpPr>
          <p:cNvPr id="830" name="Google Shape;830;p57"/>
          <p:cNvSpPr txBox="1"/>
          <p:nvPr/>
        </p:nvSpPr>
        <p:spPr>
          <a:xfrm>
            <a:off x="558500" y="1552850"/>
            <a:ext cx="3552000" cy="1623900"/>
          </a:xfrm>
          <a:prstGeom prst="rect">
            <a:avLst/>
          </a:prstGeom>
          <a:noFill/>
          <a:ln>
            <a:noFill/>
          </a:ln>
        </p:spPr>
        <p:txBody>
          <a:bodyPr spcFirstLastPara="1" wrap="square" lIns="91425" tIns="91425" rIns="91425" bIns="91425" anchor="t" anchorCtr="0">
            <a:spAutoFit/>
          </a:bodyPr>
          <a:lstStyle/>
          <a:p>
            <a:pPr marL="457200" lvl="0" indent="-298450" algn="l" rtl="0">
              <a:lnSpc>
                <a:spcPct val="150000"/>
              </a:lnSpc>
              <a:spcBef>
                <a:spcPts val="0"/>
              </a:spcBef>
              <a:spcAft>
                <a:spcPts val="0"/>
              </a:spcAft>
              <a:buSzPts val="1100"/>
              <a:buChar char="●"/>
            </a:pPr>
            <a:r>
              <a:rPr lang="en" sz="1100"/>
              <a:t>The flatten operator transforms a channel in such a way that every item of type Collection or Array is flattened so that each single entry is emitted separately by the resulting channel</a:t>
            </a:r>
            <a:endParaRPr sz="1100"/>
          </a:p>
          <a:p>
            <a:pPr marL="0" lvl="0" indent="0" algn="l" rtl="0">
              <a:lnSpc>
                <a:spcPct val="150000"/>
              </a:lnSpc>
              <a:spcBef>
                <a:spcPts val="0"/>
              </a:spcBef>
              <a:spcAft>
                <a:spcPts val="0"/>
              </a:spcAft>
              <a:buNone/>
            </a:pPr>
            <a:endParaRPr sz="1100"/>
          </a:p>
          <a:p>
            <a:pPr marL="457200" lvl="0" indent="-298450" algn="l" rtl="0">
              <a:lnSpc>
                <a:spcPct val="150000"/>
              </a:lnSpc>
              <a:spcBef>
                <a:spcPts val="0"/>
              </a:spcBef>
              <a:spcAft>
                <a:spcPts val="0"/>
              </a:spcAft>
              <a:buSzPts val="1100"/>
              <a:buChar char="●"/>
            </a:pPr>
            <a:r>
              <a:rPr lang="en" sz="1100"/>
              <a:t>This is opposite to collect</a:t>
            </a:r>
            <a:endParaRPr sz="1100"/>
          </a:p>
        </p:txBody>
      </p:sp>
      <p:sp>
        <p:nvSpPr>
          <p:cNvPr id="831" name="Google Shape;831;p57"/>
          <p:cNvSpPr txBox="1">
            <a:spLocks noGrp="1"/>
          </p:cNvSpPr>
          <p:nvPr>
            <p:ph type="title"/>
          </p:nvPr>
        </p:nvSpPr>
        <p:spPr>
          <a:xfrm>
            <a:off x="1303800" y="553550"/>
            <a:ext cx="3653400" cy="659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Operators - flatten</a:t>
            </a:r>
            <a:endParaRPr/>
          </a:p>
        </p:txBody>
      </p:sp>
      <p:sp>
        <p:nvSpPr>
          <p:cNvPr id="832" name="Google Shape;832;p57"/>
          <p:cNvSpPr/>
          <p:nvPr/>
        </p:nvSpPr>
        <p:spPr>
          <a:xfrm rot="-5400000">
            <a:off x="6675625" y="358477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57"/>
          <p:cNvSpPr/>
          <p:nvPr/>
        </p:nvSpPr>
        <p:spPr>
          <a:xfrm rot="-5400000">
            <a:off x="5892675" y="358477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57"/>
          <p:cNvSpPr/>
          <p:nvPr/>
        </p:nvSpPr>
        <p:spPr>
          <a:xfrm rot="-5400000">
            <a:off x="5109725" y="358477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57"/>
          <p:cNvSpPr/>
          <p:nvPr/>
        </p:nvSpPr>
        <p:spPr>
          <a:xfrm rot="-5400000">
            <a:off x="4326775" y="3584775"/>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57"/>
          <p:cNvSpPr txBox="1"/>
          <p:nvPr/>
        </p:nvSpPr>
        <p:spPr>
          <a:xfrm>
            <a:off x="4416525" y="3900100"/>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1</a:t>
            </a:r>
            <a:endParaRPr>
              <a:latin typeface="Nunito"/>
              <a:ea typeface="Nunito"/>
              <a:cs typeface="Nunito"/>
              <a:sym typeface="Nunito"/>
            </a:endParaRPr>
          </a:p>
        </p:txBody>
      </p:sp>
      <p:sp>
        <p:nvSpPr>
          <p:cNvPr id="837" name="Google Shape;837;p57"/>
          <p:cNvSpPr txBox="1"/>
          <p:nvPr/>
        </p:nvSpPr>
        <p:spPr>
          <a:xfrm>
            <a:off x="5226500" y="3900100"/>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3</a:t>
            </a:r>
            <a:endParaRPr>
              <a:latin typeface="Nunito"/>
              <a:ea typeface="Nunito"/>
              <a:cs typeface="Nunito"/>
              <a:sym typeface="Nunito"/>
            </a:endParaRPr>
          </a:p>
        </p:txBody>
      </p:sp>
      <p:sp>
        <p:nvSpPr>
          <p:cNvPr id="838" name="Google Shape;838;p57"/>
          <p:cNvSpPr txBox="1"/>
          <p:nvPr/>
        </p:nvSpPr>
        <p:spPr>
          <a:xfrm>
            <a:off x="5991425" y="3900100"/>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5</a:t>
            </a:r>
            <a:endParaRPr>
              <a:latin typeface="Nunito"/>
              <a:ea typeface="Nunito"/>
              <a:cs typeface="Nunito"/>
              <a:sym typeface="Nunito"/>
            </a:endParaRPr>
          </a:p>
        </p:txBody>
      </p:sp>
      <p:sp>
        <p:nvSpPr>
          <p:cNvPr id="839" name="Google Shape;839;p57"/>
          <p:cNvSpPr txBox="1"/>
          <p:nvPr/>
        </p:nvSpPr>
        <p:spPr>
          <a:xfrm>
            <a:off x="6756350" y="3900100"/>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7</a:t>
            </a:r>
            <a:endParaRPr>
              <a:latin typeface="Nunito"/>
              <a:ea typeface="Nunito"/>
              <a:cs typeface="Nunito"/>
              <a:sym typeface="Nunito"/>
            </a:endParaRPr>
          </a:p>
        </p:txBody>
      </p:sp>
      <p:cxnSp>
        <p:nvCxnSpPr>
          <p:cNvPr id="840" name="Google Shape;840;p57"/>
          <p:cNvCxnSpPr>
            <a:endCxn id="835" idx="1"/>
          </p:cNvCxnSpPr>
          <p:nvPr/>
        </p:nvCxnSpPr>
        <p:spPr>
          <a:xfrm>
            <a:off x="2060875" y="4078125"/>
            <a:ext cx="1950600" cy="11100"/>
          </a:xfrm>
          <a:prstGeom prst="straightConnector1">
            <a:avLst/>
          </a:prstGeom>
          <a:noFill/>
          <a:ln w="9525" cap="flat" cmpd="sng">
            <a:solidFill>
              <a:schemeClr val="dk2"/>
            </a:solidFill>
            <a:prstDash val="solid"/>
            <a:round/>
            <a:headEnd type="none" w="med" len="med"/>
            <a:tailEnd type="triangle" w="med" len="med"/>
          </a:ln>
        </p:spPr>
      </p:cxnSp>
      <p:sp>
        <p:nvSpPr>
          <p:cNvPr id="841" name="Google Shape;841;p57"/>
          <p:cNvSpPr/>
          <p:nvPr/>
        </p:nvSpPr>
        <p:spPr>
          <a:xfrm rot="-5400000">
            <a:off x="1225450" y="3432063"/>
            <a:ext cx="378300" cy="12924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57"/>
          <p:cNvSpPr txBox="1"/>
          <p:nvPr/>
        </p:nvSpPr>
        <p:spPr>
          <a:xfrm>
            <a:off x="1021050" y="3889138"/>
            <a:ext cx="959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[1,3,5,7]</a:t>
            </a:r>
            <a:endParaRPr>
              <a:latin typeface="Nunito"/>
              <a:ea typeface="Nunito"/>
              <a:cs typeface="Nunito"/>
              <a:sym typeface="Nunito"/>
            </a:endParaRPr>
          </a:p>
        </p:txBody>
      </p:sp>
      <p:sp>
        <p:nvSpPr>
          <p:cNvPr id="843" name="Google Shape;843;p57"/>
          <p:cNvSpPr txBox="1"/>
          <p:nvPr/>
        </p:nvSpPr>
        <p:spPr>
          <a:xfrm>
            <a:off x="577350" y="4428900"/>
            <a:ext cx="1846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Output of process 1</a:t>
            </a:r>
            <a:endParaRPr>
              <a:latin typeface="Nunito"/>
              <a:ea typeface="Nunito"/>
              <a:cs typeface="Nunito"/>
              <a:sym typeface="Nunito"/>
            </a:endParaRPr>
          </a:p>
        </p:txBody>
      </p:sp>
      <p:sp>
        <p:nvSpPr>
          <p:cNvPr id="844" name="Google Shape;844;p57"/>
          <p:cNvSpPr txBox="1"/>
          <p:nvPr/>
        </p:nvSpPr>
        <p:spPr>
          <a:xfrm>
            <a:off x="4572000" y="4473925"/>
            <a:ext cx="2195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Flatten to four emission</a:t>
            </a:r>
            <a:endParaRPr>
              <a:latin typeface="Nunito"/>
              <a:ea typeface="Nunito"/>
              <a:cs typeface="Nunito"/>
              <a:sym typeface="Nunito"/>
            </a:endParaRPr>
          </a:p>
        </p:txBody>
      </p:sp>
      <p:pic>
        <p:nvPicPr>
          <p:cNvPr id="845" name="Google Shape;845;p57"/>
          <p:cNvPicPr preferRelativeResize="0"/>
          <p:nvPr/>
        </p:nvPicPr>
        <p:blipFill>
          <a:blip r:embed="rId3">
            <a:alphaModFix/>
          </a:blip>
          <a:stretch>
            <a:fillRect/>
          </a:stretch>
        </p:blipFill>
        <p:spPr>
          <a:xfrm>
            <a:off x="4859471" y="2429987"/>
            <a:ext cx="3743825" cy="82689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58"/>
          <p:cNvSpPr txBox="1"/>
          <p:nvPr/>
        </p:nvSpPr>
        <p:spPr>
          <a:xfrm>
            <a:off x="4572000" y="1294475"/>
            <a:ext cx="4231800" cy="692467"/>
          </a:xfrm>
          <a:prstGeom prst="rect">
            <a:avLst/>
          </a:prstGeom>
          <a:solidFill>
            <a:srgbClr val="D0E0E3"/>
          </a:solid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00" dirty="0" err="1"/>
              <a:t>Channel.of</a:t>
            </a:r>
            <a:r>
              <a:rPr lang="en" sz="1100" dirty="0"/>
              <a:t>( 1, 3, 5, 7 )</a:t>
            </a:r>
            <a:endParaRPr sz="1100" dirty="0"/>
          </a:p>
          <a:p>
            <a:pPr marL="0" lvl="0" indent="0" algn="l" rtl="0">
              <a:lnSpc>
                <a:spcPct val="150000"/>
              </a:lnSpc>
              <a:spcBef>
                <a:spcPts val="0"/>
              </a:spcBef>
              <a:spcAft>
                <a:spcPts val="0"/>
              </a:spcAft>
              <a:buNone/>
            </a:pPr>
            <a:r>
              <a:rPr lang="en" sz="1100" dirty="0"/>
              <a:t>.map { it * it }.view()</a:t>
            </a:r>
            <a:endParaRPr sz="1100" dirty="0"/>
          </a:p>
        </p:txBody>
      </p:sp>
      <p:sp>
        <p:nvSpPr>
          <p:cNvPr id="851" name="Google Shape;851;p58"/>
          <p:cNvSpPr txBox="1"/>
          <p:nvPr/>
        </p:nvSpPr>
        <p:spPr>
          <a:xfrm>
            <a:off x="558500" y="1552850"/>
            <a:ext cx="3552000" cy="1623900"/>
          </a:xfrm>
          <a:prstGeom prst="rect">
            <a:avLst/>
          </a:prstGeom>
          <a:noFill/>
          <a:ln>
            <a:noFill/>
          </a:ln>
        </p:spPr>
        <p:txBody>
          <a:bodyPr spcFirstLastPara="1" wrap="square" lIns="91425" tIns="91425" rIns="91425" bIns="91425" anchor="t" anchorCtr="0">
            <a:spAutoFit/>
          </a:bodyPr>
          <a:lstStyle/>
          <a:p>
            <a:pPr marL="457200" lvl="0" indent="-298450" algn="l" rtl="0">
              <a:lnSpc>
                <a:spcPct val="150000"/>
              </a:lnSpc>
              <a:spcBef>
                <a:spcPts val="0"/>
              </a:spcBef>
              <a:spcAft>
                <a:spcPts val="0"/>
              </a:spcAft>
              <a:buSzPts val="1100"/>
              <a:buChar char="●"/>
            </a:pPr>
            <a:r>
              <a:rPr lang="en" sz="1100"/>
              <a:t>The map operator applies a function of your choosing to every item emitted by a channel, and returns the items so obtained as a new channel. The function applied is called the mapping function and is expressed with a closure</a:t>
            </a:r>
            <a:endParaRPr sz="1100"/>
          </a:p>
        </p:txBody>
      </p:sp>
      <p:sp>
        <p:nvSpPr>
          <p:cNvPr id="852" name="Google Shape;852;p58"/>
          <p:cNvSpPr/>
          <p:nvPr/>
        </p:nvSpPr>
        <p:spPr>
          <a:xfrm rot="-5400000">
            <a:off x="8396125" y="3700400"/>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58"/>
          <p:cNvSpPr/>
          <p:nvPr/>
        </p:nvSpPr>
        <p:spPr>
          <a:xfrm rot="-5400000">
            <a:off x="7613175" y="3700400"/>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58"/>
          <p:cNvSpPr/>
          <p:nvPr/>
        </p:nvSpPr>
        <p:spPr>
          <a:xfrm rot="-5400000">
            <a:off x="6830225" y="3700400"/>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58"/>
          <p:cNvSpPr/>
          <p:nvPr/>
        </p:nvSpPr>
        <p:spPr>
          <a:xfrm rot="-5400000">
            <a:off x="6047275" y="3700400"/>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58"/>
          <p:cNvSpPr txBox="1"/>
          <p:nvPr/>
        </p:nvSpPr>
        <p:spPr>
          <a:xfrm>
            <a:off x="6137025" y="4015725"/>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1</a:t>
            </a:r>
            <a:endParaRPr>
              <a:latin typeface="Nunito"/>
              <a:ea typeface="Nunito"/>
              <a:cs typeface="Nunito"/>
              <a:sym typeface="Nunito"/>
            </a:endParaRPr>
          </a:p>
        </p:txBody>
      </p:sp>
      <p:sp>
        <p:nvSpPr>
          <p:cNvPr id="857" name="Google Shape;857;p58"/>
          <p:cNvSpPr txBox="1"/>
          <p:nvPr/>
        </p:nvSpPr>
        <p:spPr>
          <a:xfrm>
            <a:off x="6947000" y="4015725"/>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9</a:t>
            </a:r>
            <a:endParaRPr>
              <a:latin typeface="Nunito"/>
              <a:ea typeface="Nunito"/>
              <a:cs typeface="Nunito"/>
              <a:sym typeface="Nunito"/>
            </a:endParaRPr>
          </a:p>
        </p:txBody>
      </p:sp>
      <p:sp>
        <p:nvSpPr>
          <p:cNvPr id="858" name="Google Shape;858;p58"/>
          <p:cNvSpPr txBox="1"/>
          <p:nvPr/>
        </p:nvSpPr>
        <p:spPr>
          <a:xfrm>
            <a:off x="7711925" y="4015725"/>
            <a:ext cx="407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25</a:t>
            </a:r>
            <a:endParaRPr>
              <a:latin typeface="Nunito"/>
              <a:ea typeface="Nunito"/>
              <a:cs typeface="Nunito"/>
              <a:sym typeface="Nunito"/>
            </a:endParaRPr>
          </a:p>
        </p:txBody>
      </p:sp>
      <p:sp>
        <p:nvSpPr>
          <p:cNvPr id="859" name="Google Shape;859;p58"/>
          <p:cNvSpPr txBox="1"/>
          <p:nvPr/>
        </p:nvSpPr>
        <p:spPr>
          <a:xfrm>
            <a:off x="8476850" y="4015725"/>
            <a:ext cx="407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49</a:t>
            </a:r>
            <a:endParaRPr>
              <a:latin typeface="Nunito"/>
              <a:ea typeface="Nunito"/>
              <a:cs typeface="Nunito"/>
              <a:sym typeface="Nunito"/>
            </a:endParaRPr>
          </a:p>
        </p:txBody>
      </p:sp>
      <p:cxnSp>
        <p:nvCxnSpPr>
          <p:cNvPr id="860" name="Google Shape;860;p58"/>
          <p:cNvCxnSpPr>
            <a:endCxn id="855" idx="1"/>
          </p:cNvCxnSpPr>
          <p:nvPr/>
        </p:nvCxnSpPr>
        <p:spPr>
          <a:xfrm>
            <a:off x="3781375" y="4193750"/>
            <a:ext cx="1950600" cy="11100"/>
          </a:xfrm>
          <a:prstGeom prst="straightConnector1">
            <a:avLst/>
          </a:prstGeom>
          <a:noFill/>
          <a:ln w="9525" cap="flat" cmpd="sng">
            <a:solidFill>
              <a:schemeClr val="dk2"/>
            </a:solidFill>
            <a:prstDash val="solid"/>
            <a:round/>
            <a:headEnd type="none" w="med" len="med"/>
            <a:tailEnd type="triangle" w="med" len="med"/>
          </a:ln>
        </p:spPr>
      </p:cxnSp>
      <p:sp>
        <p:nvSpPr>
          <p:cNvPr id="861" name="Google Shape;861;p58"/>
          <p:cNvSpPr txBox="1">
            <a:spLocks noGrp="1"/>
          </p:cNvSpPr>
          <p:nvPr>
            <p:ph type="title"/>
          </p:nvPr>
        </p:nvSpPr>
        <p:spPr>
          <a:xfrm>
            <a:off x="1303800" y="553550"/>
            <a:ext cx="3653400" cy="659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Operators - map</a:t>
            </a:r>
            <a:endParaRPr/>
          </a:p>
        </p:txBody>
      </p:sp>
      <p:sp>
        <p:nvSpPr>
          <p:cNvPr id="862" name="Google Shape;862;p58"/>
          <p:cNvSpPr/>
          <p:nvPr/>
        </p:nvSpPr>
        <p:spPr>
          <a:xfrm rot="-5400000">
            <a:off x="3125775" y="3700413"/>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58"/>
          <p:cNvSpPr/>
          <p:nvPr/>
        </p:nvSpPr>
        <p:spPr>
          <a:xfrm rot="-5400000">
            <a:off x="2342825" y="3700413"/>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58"/>
          <p:cNvSpPr/>
          <p:nvPr/>
        </p:nvSpPr>
        <p:spPr>
          <a:xfrm rot="-5400000">
            <a:off x="1559875" y="3700413"/>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58"/>
          <p:cNvSpPr/>
          <p:nvPr/>
        </p:nvSpPr>
        <p:spPr>
          <a:xfrm rot="-5400000">
            <a:off x="776925" y="3700413"/>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58"/>
          <p:cNvSpPr txBox="1"/>
          <p:nvPr/>
        </p:nvSpPr>
        <p:spPr>
          <a:xfrm>
            <a:off x="866675" y="4015738"/>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1</a:t>
            </a:r>
            <a:endParaRPr>
              <a:latin typeface="Nunito"/>
              <a:ea typeface="Nunito"/>
              <a:cs typeface="Nunito"/>
              <a:sym typeface="Nunito"/>
            </a:endParaRPr>
          </a:p>
        </p:txBody>
      </p:sp>
      <p:sp>
        <p:nvSpPr>
          <p:cNvPr id="867" name="Google Shape;867;p58"/>
          <p:cNvSpPr txBox="1"/>
          <p:nvPr/>
        </p:nvSpPr>
        <p:spPr>
          <a:xfrm>
            <a:off x="1676650" y="4015738"/>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3</a:t>
            </a:r>
            <a:endParaRPr>
              <a:latin typeface="Nunito"/>
              <a:ea typeface="Nunito"/>
              <a:cs typeface="Nunito"/>
              <a:sym typeface="Nunito"/>
            </a:endParaRPr>
          </a:p>
        </p:txBody>
      </p:sp>
      <p:sp>
        <p:nvSpPr>
          <p:cNvPr id="868" name="Google Shape;868;p58"/>
          <p:cNvSpPr txBox="1"/>
          <p:nvPr/>
        </p:nvSpPr>
        <p:spPr>
          <a:xfrm>
            <a:off x="2441575" y="4015738"/>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5</a:t>
            </a:r>
            <a:endParaRPr>
              <a:latin typeface="Nunito"/>
              <a:ea typeface="Nunito"/>
              <a:cs typeface="Nunito"/>
              <a:sym typeface="Nunito"/>
            </a:endParaRPr>
          </a:p>
        </p:txBody>
      </p:sp>
      <p:sp>
        <p:nvSpPr>
          <p:cNvPr id="869" name="Google Shape;869;p58"/>
          <p:cNvSpPr txBox="1"/>
          <p:nvPr/>
        </p:nvSpPr>
        <p:spPr>
          <a:xfrm>
            <a:off x="3206500" y="4015738"/>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7</a:t>
            </a:r>
            <a:endParaRPr>
              <a:latin typeface="Nunito"/>
              <a:ea typeface="Nunito"/>
              <a:cs typeface="Nunito"/>
              <a:sym typeface="Nunito"/>
            </a:endParaRPr>
          </a:p>
        </p:txBody>
      </p:sp>
      <p:pic>
        <p:nvPicPr>
          <p:cNvPr id="870" name="Google Shape;870;p58"/>
          <p:cNvPicPr preferRelativeResize="0"/>
          <p:nvPr/>
        </p:nvPicPr>
        <p:blipFill>
          <a:blip r:embed="rId3">
            <a:alphaModFix/>
          </a:blip>
          <a:stretch>
            <a:fillRect/>
          </a:stretch>
        </p:blipFill>
        <p:spPr>
          <a:xfrm>
            <a:off x="4571998" y="2241952"/>
            <a:ext cx="4231800" cy="897173"/>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p59"/>
          <p:cNvSpPr txBox="1">
            <a:spLocks noGrp="1"/>
          </p:cNvSpPr>
          <p:nvPr>
            <p:ph type="title"/>
          </p:nvPr>
        </p:nvSpPr>
        <p:spPr>
          <a:xfrm>
            <a:off x="1303800" y="553550"/>
            <a:ext cx="3653400" cy="659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Operators - until</a:t>
            </a:r>
            <a:endParaRPr/>
          </a:p>
        </p:txBody>
      </p:sp>
      <p:sp>
        <p:nvSpPr>
          <p:cNvPr id="876" name="Google Shape;876;p59"/>
          <p:cNvSpPr txBox="1"/>
          <p:nvPr/>
        </p:nvSpPr>
        <p:spPr>
          <a:xfrm>
            <a:off x="450400" y="1709850"/>
            <a:ext cx="3867300" cy="861900"/>
          </a:xfrm>
          <a:prstGeom prst="rect">
            <a:avLst/>
          </a:prstGeom>
          <a:noFill/>
          <a:ln>
            <a:noFill/>
          </a:ln>
        </p:spPr>
        <p:txBody>
          <a:bodyPr spcFirstLastPara="1" wrap="square" lIns="91425" tIns="91425" rIns="91425" bIns="91425" anchor="t" anchorCtr="0">
            <a:spAutoFit/>
          </a:bodyPr>
          <a:lstStyle/>
          <a:p>
            <a:pPr marL="457200" lvl="0" indent="-298450" algn="l" rtl="0">
              <a:lnSpc>
                <a:spcPct val="150000"/>
              </a:lnSpc>
              <a:spcBef>
                <a:spcPts val="0"/>
              </a:spcBef>
              <a:spcAft>
                <a:spcPts val="0"/>
              </a:spcAft>
              <a:buSzPts val="1100"/>
              <a:buChar char="●"/>
            </a:pPr>
            <a:r>
              <a:rPr lang="en" sz="1100"/>
              <a:t>The until operator creates a channel that returns the items emitted by the source channel and stop when the condition specified is verified</a:t>
            </a:r>
            <a:endParaRPr sz="1100"/>
          </a:p>
        </p:txBody>
      </p:sp>
      <p:sp>
        <p:nvSpPr>
          <p:cNvPr id="877" name="Google Shape;877;p59"/>
          <p:cNvSpPr txBox="1"/>
          <p:nvPr/>
        </p:nvSpPr>
        <p:spPr>
          <a:xfrm>
            <a:off x="4572000" y="1294475"/>
            <a:ext cx="4231800" cy="6081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00" dirty="0" err="1"/>
              <a:t>Channel.from</a:t>
            </a:r>
            <a:r>
              <a:rPr lang="en" sz="1100" dirty="0"/>
              <a:t>( 1, 3, 5, 7 )</a:t>
            </a:r>
            <a:endParaRPr sz="1100" dirty="0"/>
          </a:p>
          <a:p>
            <a:pPr marL="0" lvl="0" indent="0" algn="l" rtl="0">
              <a:lnSpc>
                <a:spcPct val="150000"/>
              </a:lnSpc>
              <a:spcBef>
                <a:spcPts val="0"/>
              </a:spcBef>
              <a:spcAft>
                <a:spcPts val="0"/>
              </a:spcAft>
              <a:buNone/>
            </a:pPr>
            <a:r>
              <a:rPr lang="en" sz="1100" dirty="0"/>
              <a:t>.until { it==5}.view()</a:t>
            </a:r>
            <a:endParaRPr sz="1100" dirty="0"/>
          </a:p>
        </p:txBody>
      </p:sp>
      <p:pic>
        <p:nvPicPr>
          <p:cNvPr id="878" name="Google Shape;878;p59"/>
          <p:cNvPicPr preferRelativeResize="0"/>
          <p:nvPr/>
        </p:nvPicPr>
        <p:blipFill>
          <a:blip r:embed="rId3">
            <a:alphaModFix/>
          </a:blip>
          <a:stretch>
            <a:fillRect/>
          </a:stretch>
        </p:blipFill>
        <p:spPr>
          <a:xfrm>
            <a:off x="4572000" y="2418339"/>
            <a:ext cx="4231801" cy="569812"/>
          </a:xfrm>
          <a:prstGeom prst="rect">
            <a:avLst/>
          </a:prstGeom>
          <a:noFill/>
          <a:ln>
            <a:noFill/>
          </a:ln>
        </p:spPr>
      </p:pic>
      <p:sp>
        <p:nvSpPr>
          <p:cNvPr id="879" name="Google Shape;879;p59"/>
          <p:cNvSpPr/>
          <p:nvPr/>
        </p:nvSpPr>
        <p:spPr>
          <a:xfrm rot="-5400000">
            <a:off x="6830225" y="3700400"/>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59"/>
          <p:cNvSpPr/>
          <p:nvPr/>
        </p:nvSpPr>
        <p:spPr>
          <a:xfrm rot="-5400000">
            <a:off x="6047275" y="3700400"/>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59"/>
          <p:cNvSpPr txBox="1"/>
          <p:nvPr/>
        </p:nvSpPr>
        <p:spPr>
          <a:xfrm>
            <a:off x="6137025" y="4015725"/>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1</a:t>
            </a:r>
            <a:endParaRPr>
              <a:latin typeface="Nunito"/>
              <a:ea typeface="Nunito"/>
              <a:cs typeface="Nunito"/>
              <a:sym typeface="Nunito"/>
            </a:endParaRPr>
          </a:p>
        </p:txBody>
      </p:sp>
      <p:sp>
        <p:nvSpPr>
          <p:cNvPr id="882" name="Google Shape;882;p59"/>
          <p:cNvSpPr txBox="1"/>
          <p:nvPr/>
        </p:nvSpPr>
        <p:spPr>
          <a:xfrm>
            <a:off x="6947000" y="4015725"/>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3</a:t>
            </a:r>
            <a:endParaRPr>
              <a:latin typeface="Nunito"/>
              <a:ea typeface="Nunito"/>
              <a:cs typeface="Nunito"/>
              <a:sym typeface="Nunito"/>
            </a:endParaRPr>
          </a:p>
        </p:txBody>
      </p:sp>
      <p:cxnSp>
        <p:nvCxnSpPr>
          <p:cNvPr id="883" name="Google Shape;883;p59"/>
          <p:cNvCxnSpPr>
            <a:endCxn id="880" idx="1"/>
          </p:cNvCxnSpPr>
          <p:nvPr/>
        </p:nvCxnSpPr>
        <p:spPr>
          <a:xfrm>
            <a:off x="3781375" y="4193750"/>
            <a:ext cx="1950600" cy="11100"/>
          </a:xfrm>
          <a:prstGeom prst="straightConnector1">
            <a:avLst/>
          </a:prstGeom>
          <a:noFill/>
          <a:ln w="9525" cap="flat" cmpd="sng">
            <a:solidFill>
              <a:schemeClr val="dk2"/>
            </a:solidFill>
            <a:prstDash val="solid"/>
            <a:round/>
            <a:headEnd type="none" w="med" len="med"/>
            <a:tailEnd type="triangle" w="med" len="med"/>
          </a:ln>
        </p:spPr>
      </p:cxnSp>
      <p:sp>
        <p:nvSpPr>
          <p:cNvPr id="884" name="Google Shape;884;p59"/>
          <p:cNvSpPr/>
          <p:nvPr/>
        </p:nvSpPr>
        <p:spPr>
          <a:xfrm rot="-5400000">
            <a:off x="3125775" y="3700413"/>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59"/>
          <p:cNvSpPr/>
          <p:nvPr/>
        </p:nvSpPr>
        <p:spPr>
          <a:xfrm rot="-5400000">
            <a:off x="2342825" y="3700413"/>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59"/>
          <p:cNvSpPr/>
          <p:nvPr/>
        </p:nvSpPr>
        <p:spPr>
          <a:xfrm rot="-5400000">
            <a:off x="1559875" y="3700413"/>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59"/>
          <p:cNvSpPr/>
          <p:nvPr/>
        </p:nvSpPr>
        <p:spPr>
          <a:xfrm rot="-5400000">
            <a:off x="776925" y="3700413"/>
            <a:ext cx="378300" cy="1008900"/>
          </a:xfrm>
          <a:prstGeom prst="can">
            <a:avLst>
              <a:gd name="adj" fmla="val 5953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59"/>
          <p:cNvSpPr txBox="1"/>
          <p:nvPr/>
        </p:nvSpPr>
        <p:spPr>
          <a:xfrm>
            <a:off x="866675" y="4015738"/>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1</a:t>
            </a:r>
            <a:endParaRPr>
              <a:latin typeface="Nunito"/>
              <a:ea typeface="Nunito"/>
              <a:cs typeface="Nunito"/>
              <a:sym typeface="Nunito"/>
            </a:endParaRPr>
          </a:p>
        </p:txBody>
      </p:sp>
      <p:sp>
        <p:nvSpPr>
          <p:cNvPr id="889" name="Google Shape;889;p59"/>
          <p:cNvSpPr txBox="1"/>
          <p:nvPr/>
        </p:nvSpPr>
        <p:spPr>
          <a:xfrm>
            <a:off x="1676650" y="4015738"/>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3</a:t>
            </a:r>
            <a:endParaRPr>
              <a:latin typeface="Nunito"/>
              <a:ea typeface="Nunito"/>
              <a:cs typeface="Nunito"/>
              <a:sym typeface="Nunito"/>
            </a:endParaRPr>
          </a:p>
        </p:txBody>
      </p:sp>
      <p:sp>
        <p:nvSpPr>
          <p:cNvPr id="890" name="Google Shape;890;p59"/>
          <p:cNvSpPr txBox="1"/>
          <p:nvPr/>
        </p:nvSpPr>
        <p:spPr>
          <a:xfrm>
            <a:off x="2441575" y="4015738"/>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5</a:t>
            </a:r>
            <a:endParaRPr>
              <a:latin typeface="Nunito"/>
              <a:ea typeface="Nunito"/>
              <a:cs typeface="Nunito"/>
              <a:sym typeface="Nunito"/>
            </a:endParaRPr>
          </a:p>
        </p:txBody>
      </p:sp>
      <p:sp>
        <p:nvSpPr>
          <p:cNvPr id="891" name="Google Shape;891;p59"/>
          <p:cNvSpPr txBox="1"/>
          <p:nvPr/>
        </p:nvSpPr>
        <p:spPr>
          <a:xfrm>
            <a:off x="3206500" y="4015738"/>
            <a:ext cx="27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7</a:t>
            </a:r>
            <a:endParaRPr>
              <a:latin typeface="Nunito"/>
              <a:ea typeface="Nunito"/>
              <a:cs typeface="Nunito"/>
              <a:sym typeface="Nunito"/>
            </a:endParaRPr>
          </a:p>
        </p:txBody>
      </p:sp>
      <p:sp>
        <p:nvSpPr>
          <p:cNvPr id="892" name="Google Shape;892;p59"/>
          <p:cNvSpPr txBox="1"/>
          <p:nvPr/>
        </p:nvSpPr>
        <p:spPr>
          <a:xfrm>
            <a:off x="4104425" y="3681225"/>
            <a:ext cx="1008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Until X=5</a:t>
            </a:r>
            <a:endParaRPr>
              <a:latin typeface="Nunito"/>
              <a:ea typeface="Nunito"/>
              <a:cs typeface="Nunito"/>
              <a:sym typeface="Nunito"/>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p6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Configuration file</a:t>
            </a:r>
            <a:endParaRPr/>
          </a:p>
        </p:txBody>
      </p:sp>
      <p:sp>
        <p:nvSpPr>
          <p:cNvPr id="905" name="Google Shape;905;p61"/>
          <p:cNvSpPr txBox="1">
            <a:spLocks noGrp="1"/>
          </p:cNvSpPr>
          <p:nvPr>
            <p:ph type="body" idx="1"/>
          </p:nvPr>
        </p:nvSpPr>
        <p:spPr>
          <a:xfrm>
            <a:off x="732650" y="1597875"/>
            <a:ext cx="3839400" cy="3130200"/>
          </a:xfrm>
          <a:prstGeom prst="rect">
            <a:avLst/>
          </a:prstGeom>
        </p:spPr>
        <p:txBody>
          <a:bodyPr spcFirstLastPara="1" wrap="square" lIns="91425" tIns="91425" rIns="91425" bIns="91425" anchor="t" anchorCtr="0">
            <a:normAutofit/>
          </a:bodyPr>
          <a:lstStyle/>
          <a:p>
            <a:pPr marL="457200" lvl="0" indent="-298450" algn="l" rtl="0">
              <a:lnSpc>
                <a:spcPct val="150000"/>
              </a:lnSpc>
              <a:spcBef>
                <a:spcPts val="0"/>
              </a:spcBef>
              <a:spcAft>
                <a:spcPts val="0"/>
              </a:spcAft>
              <a:buSzPts val="1100"/>
              <a:buChar char="●"/>
            </a:pPr>
            <a:r>
              <a:rPr lang="en" sz="1100" dirty="0" err="1"/>
              <a:t>Nextflow</a:t>
            </a:r>
            <a:r>
              <a:rPr lang="en" sz="1100" dirty="0"/>
              <a:t> supports a wide range of execution platforms, from running locally, to running on HPC clusters or cloud infrastructures</a:t>
            </a:r>
            <a:endParaRPr sz="1100" dirty="0"/>
          </a:p>
          <a:p>
            <a:pPr marL="457200" lvl="0" indent="-298450" algn="l" rtl="0">
              <a:lnSpc>
                <a:spcPct val="150000"/>
              </a:lnSpc>
              <a:spcBef>
                <a:spcPts val="0"/>
              </a:spcBef>
              <a:spcAft>
                <a:spcPts val="0"/>
              </a:spcAft>
              <a:buSzPts val="1100"/>
              <a:buChar char="●"/>
            </a:pPr>
            <a:r>
              <a:rPr lang="en" sz="1100" dirty="0"/>
              <a:t>Many of these settings are set in the configuration file</a:t>
            </a:r>
            <a:endParaRPr sz="1100" dirty="0"/>
          </a:p>
          <a:p>
            <a:pPr marL="457200" lvl="0" indent="-298450" algn="l" rtl="0">
              <a:lnSpc>
                <a:spcPct val="150000"/>
              </a:lnSpc>
              <a:spcBef>
                <a:spcPts val="0"/>
              </a:spcBef>
              <a:spcAft>
                <a:spcPts val="0"/>
              </a:spcAft>
              <a:buSzPts val="1100"/>
              <a:buChar char="●"/>
            </a:pPr>
            <a:r>
              <a:rPr lang="en" sz="1100" dirty="0"/>
              <a:t>When a pipeline script is launched. </a:t>
            </a:r>
            <a:r>
              <a:rPr lang="en" sz="1100" dirty="0" err="1"/>
              <a:t>Nextflow</a:t>
            </a:r>
            <a:r>
              <a:rPr lang="en" sz="1100" dirty="0"/>
              <a:t> looks for a file named </a:t>
            </a:r>
            <a:r>
              <a:rPr lang="en" sz="1100" dirty="0" err="1"/>
              <a:t>nextflow.config</a:t>
            </a:r>
            <a:r>
              <a:rPr lang="en" sz="1100" dirty="0"/>
              <a:t> in the current directory and in the script base directory (if it is not the same as the current directory). Finally it checks for the file $HOME/.</a:t>
            </a:r>
            <a:r>
              <a:rPr lang="en" sz="1100" dirty="0" err="1"/>
              <a:t>nextflow</a:t>
            </a:r>
            <a:r>
              <a:rPr lang="en" sz="1100" dirty="0"/>
              <a:t>/config </a:t>
            </a:r>
            <a:endParaRPr sz="1100" dirty="0"/>
          </a:p>
        </p:txBody>
      </p:sp>
      <p:sp>
        <p:nvSpPr>
          <p:cNvPr id="906" name="Google Shape;906;p61"/>
          <p:cNvSpPr txBox="1"/>
          <p:nvPr/>
        </p:nvSpPr>
        <p:spPr>
          <a:xfrm>
            <a:off x="5313600" y="1863900"/>
            <a:ext cx="3317100" cy="2216400"/>
          </a:xfrm>
          <a:prstGeom prst="rect">
            <a:avLst/>
          </a:prstGeom>
          <a:solidFill>
            <a:srgbClr val="D0E0E3"/>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 This is the configuration file e.g nextflow.config</a:t>
            </a:r>
            <a:endParaRPr sz="1100"/>
          </a:p>
          <a:p>
            <a:pPr marL="0" lvl="0" indent="0" algn="l" rtl="0">
              <a:spcBef>
                <a:spcPts val="0"/>
              </a:spcBef>
              <a:spcAft>
                <a:spcPts val="0"/>
              </a:spcAft>
              <a:buNone/>
            </a:pPr>
            <a:endParaRPr sz="1100"/>
          </a:p>
          <a:p>
            <a:pPr marL="0" lvl="0" indent="0" algn="l" rtl="0">
              <a:spcBef>
                <a:spcPts val="0"/>
              </a:spcBef>
              <a:spcAft>
                <a:spcPts val="0"/>
              </a:spcAft>
              <a:buNone/>
            </a:pPr>
            <a:r>
              <a:rPr lang="en" sz="1100"/>
              <a:t>executor {</a:t>
            </a:r>
            <a:endParaRPr sz="1100"/>
          </a:p>
          <a:p>
            <a:pPr marL="457200" lvl="0" indent="0" algn="l" rtl="0">
              <a:spcBef>
                <a:spcPts val="0"/>
              </a:spcBef>
              <a:spcAft>
                <a:spcPts val="0"/>
              </a:spcAft>
              <a:buNone/>
            </a:pPr>
            <a:r>
              <a:rPr lang="en" sz="1100"/>
              <a:t> $slurm{</a:t>
            </a:r>
            <a:endParaRPr sz="1100"/>
          </a:p>
          <a:p>
            <a:pPr marL="914400" lvl="0" indent="0" algn="l" rtl="0">
              <a:spcBef>
                <a:spcPts val="0"/>
              </a:spcBef>
              <a:spcAft>
                <a:spcPts val="0"/>
              </a:spcAft>
              <a:buNone/>
            </a:pPr>
            <a:r>
              <a:rPr lang="en" sz="1100"/>
              <a:t>queueSize = 200</a:t>
            </a:r>
            <a:endParaRPr sz="1100"/>
          </a:p>
          <a:p>
            <a:pPr marL="914400" lvl="0" indent="0" algn="l" rtl="0">
              <a:spcBef>
                <a:spcPts val="0"/>
              </a:spcBef>
              <a:spcAft>
                <a:spcPts val="0"/>
              </a:spcAft>
              <a:buNone/>
            </a:pPr>
            <a:r>
              <a:rPr lang="en" sz="1100"/>
              <a:t>pollInterval = '30 sec'</a:t>
            </a:r>
            <a:endParaRPr sz="1100"/>
          </a:p>
          <a:p>
            <a:pPr marL="914400" lvl="0" indent="0" algn="l" rtl="0">
              <a:spcBef>
                <a:spcPts val="0"/>
              </a:spcBef>
              <a:spcAft>
                <a:spcPts val="0"/>
              </a:spcAft>
              <a:buNone/>
            </a:pPr>
            <a:r>
              <a:rPr lang="en" sz="1100"/>
              <a:t>clusterOptions = { "-A $params.project</a:t>
            </a:r>
            <a:endParaRPr sz="1100"/>
          </a:p>
          <a:p>
            <a:pPr marL="914400" lvl="0" indent="0" algn="l" rtl="0">
              <a:spcBef>
                <a:spcPts val="0"/>
              </a:spcBef>
              <a:spcAft>
                <a:spcPts val="0"/>
              </a:spcAft>
              <a:buNone/>
            </a:pPr>
            <a:r>
              <a:rPr lang="en" sz="1100"/>
              <a:t>${params.clusterOptions ?: ''}" }</a:t>
            </a:r>
            <a:endParaRPr sz="1100"/>
          </a:p>
          <a:p>
            <a:pPr marL="0" lvl="0" indent="457200" algn="l" rtl="0">
              <a:spcBef>
                <a:spcPts val="0"/>
              </a:spcBef>
              <a:spcAft>
                <a:spcPts val="0"/>
              </a:spcAft>
              <a:buNone/>
            </a:pPr>
            <a:r>
              <a:rPr lang="en" sz="1100"/>
              <a:t>}</a:t>
            </a:r>
            <a:endParaRPr sz="1100"/>
          </a:p>
          <a:p>
            <a:pPr marL="0" lvl="0" indent="0" algn="l" rtl="0">
              <a:spcBef>
                <a:spcPts val="0"/>
              </a:spcBef>
              <a:spcAft>
                <a:spcPts val="0"/>
              </a:spcAft>
              <a:buNone/>
            </a:pPr>
            <a:r>
              <a:rPr lang="en" sz="1100"/>
              <a:t>$local {cpus = 8}</a:t>
            </a:r>
            <a:endParaRPr sz="1100"/>
          </a:p>
          <a:p>
            <a:pPr marL="0" lvl="0" indent="0" algn="l" rtl="0">
              <a:spcBef>
                <a:spcPts val="0"/>
              </a:spcBef>
              <a:spcAft>
                <a:spcPts val="0"/>
              </a:spcAft>
              <a:buNone/>
            </a:pPr>
            <a:r>
              <a:rPr lang="en" sz="1100"/>
              <a:t>}</a:t>
            </a:r>
            <a:endParaRPr sz="11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p6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Nextflow - how to write a pipeline</a:t>
            </a:r>
            <a:endParaRPr/>
          </a:p>
        </p:txBody>
      </p:sp>
      <p:sp>
        <p:nvSpPr>
          <p:cNvPr id="912" name="Google Shape;912;p62"/>
          <p:cNvSpPr txBox="1">
            <a:spLocks noGrp="1"/>
          </p:cNvSpPr>
          <p:nvPr>
            <p:ph type="body" idx="1"/>
          </p:nvPr>
        </p:nvSpPr>
        <p:spPr>
          <a:xfrm>
            <a:off x="626875" y="1597875"/>
            <a:ext cx="3773400" cy="3301800"/>
          </a:xfrm>
          <a:prstGeom prst="rect">
            <a:avLst/>
          </a:prstGeom>
        </p:spPr>
        <p:txBody>
          <a:bodyPr spcFirstLastPara="1" wrap="square" lIns="91425" tIns="91425" rIns="91425" bIns="91425" anchor="t" anchorCtr="0">
            <a:normAutofit lnSpcReduction="10000"/>
          </a:bodyPr>
          <a:lstStyle/>
          <a:p>
            <a:pPr marL="457200" lvl="0" indent="-298450" algn="l" rtl="0">
              <a:lnSpc>
                <a:spcPct val="150000"/>
              </a:lnSpc>
              <a:spcBef>
                <a:spcPts val="0"/>
              </a:spcBef>
              <a:spcAft>
                <a:spcPts val="0"/>
              </a:spcAft>
              <a:buSzPts val="1100"/>
              <a:buChar char="●"/>
            </a:pPr>
            <a:r>
              <a:rPr lang="en" sz="1100"/>
              <a:t>Think first before start coding!</a:t>
            </a:r>
            <a:endParaRPr sz="1100"/>
          </a:p>
          <a:p>
            <a:pPr marL="457200" lvl="0" indent="-298450" algn="l" rtl="0">
              <a:lnSpc>
                <a:spcPct val="150000"/>
              </a:lnSpc>
              <a:spcBef>
                <a:spcPts val="0"/>
              </a:spcBef>
              <a:spcAft>
                <a:spcPts val="0"/>
              </a:spcAft>
              <a:buSzPts val="1100"/>
              <a:buChar char="●"/>
            </a:pPr>
            <a:r>
              <a:rPr lang="en" sz="1100"/>
              <a:t>Decide on the parameters (inputs, outputs, other arguments etc)</a:t>
            </a:r>
            <a:endParaRPr sz="1100"/>
          </a:p>
          <a:p>
            <a:pPr marL="457200" lvl="0" indent="-298450" algn="l" rtl="0">
              <a:lnSpc>
                <a:spcPct val="150000"/>
              </a:lnSpc>
              <a:spcBef>
                <a:spcPts val="0"/>
              </a:spcBef>
              <a:spcAft>
                <a:spcPts val="0"/>
              </a:spcAft>
              <a:buSzPts val="1100"/>
              <a:buChar char="●"/>
            </a:pPr>
            <a:r>
              <a:rPr lang="en" sz="1100"/>
              <a:t>Choose what platforms you are supporting (Containers, cloud etc)</a:t>
            </a:r>
            <a:endParaRPr sz="1100"/>
          </a:p>
          <a:p>
            <a:pPr marL="457200" lvl="0" indent="-298450" algn="l" rtl="0">
              <a:lnSpc>
                <a:spcPct val="150000"/>
              </a:lnSpc>
              <a:spcBef>
                <a:spcPts val="0"/>
              </a:spcBef>
              <a:spcAft>
                <a:spcPts val="0"/>
              </a:spcAft>
              <a:buSzPts val="1100"/>
              <a:buChar char="●"/>
            </a:pPr>
            <a:r>
              <a:rPr lang="en" sz="1100"/>
              <a:t>Open your favorite text editor</a:t>
            </a:r>
            <a:endParaRPr sz="1100"/>
          </a:p>
          <a:p>
            <a:pPr marL="457200" lvl="0" indent="-298450" algn="l" rtl="0">
              <a:lnSpc>
                <a:spcPct val="150000"/>
              </a:lnSpc>
              <a:spcBef>
                <a:spcPts val="0"/>
              </a:spcBef>
              <a:spcAft>
                <a:spcPts val="0"/>
              </a:spcAft>
              <a:buSzPts val="1100"/>
              <a:buChar char="●"/>
            </a:pPr>
            <a:r>
              <a:rPr lang="en" sz="1100"/>
              <a:t>Make two files (main.nf and nextflow.config)</a:t>
            </a:r>
            <a:endParaRPr sz="1100"/>
          </a:p>
          <a:p>
            <a:pPr marL="457200" lvl="0" indent="-298450" algn="l" rtl="0">
              <a:lnSpc>
                <a:spcPct val="150000"/>
              </a:lnSpc>
              <a:spcBef>
                <a:spcPts val="0"/>
              </a:spcBef>
              <a:spcAft>
                <a:spcPts val="0"/>
              </a:spcAft>
              <a:buSzPts val="1100"/>
              <a:buChar char="●"/>
            </a:pPr>
            <a:r>
              <a:rPr lang="en" sz="1100"/>
              <a:t>Define parameters both for the executors and the pipeline environment in the nextflow.config</a:t>
            </a:r>
            <a:endParaRPr sz="1100"/>
          </a:p>
          <a:p>
            <a:pPr marL="457200" lvl="0" indent="-298450" algn="l" rtl="0">
              <a:lnSpc>
                <a:spcPct val="150000"/>
              </a:lnSpc>
              <a:spcBef>
                <a:spcPts val="0"/>
              </a:spcBef>
              <a:spcAft>
                <a:spcPts val="0"/>
              </a:spcAft>
              <a:buSzPts val="1100"/>
              <a:buChar char="●"/>
            </a:pPr>
            <a:r>
              <a:rPr lang="en" sz="1100"/>
              <a:t>Write the actual workflow in the main.nf</a:t>
            </a:r>
            <a:endParaRPr sz="1100"/>
          </a:p>
          <a:p>
            <a:pPr marL="457200" lvl="0" indent="-298450" algn="l" rtl="0">
              <a:lnSpc>
                <a:spcPct val="150000"/>
              </a:lnSpc>
              <a:spcBef>
                <a:spcPts val="0"/>
              </a:spcBef>
              <a:spcAft>
                <a:spcPts val="0"/>
              </a:spcAft>
              <a:buSzPts val="1100"/>
              <a:buChar char="●"/>
            </a:pPr>
            <a:r>
              <a:rPr lang="en" sz="1100"/>
              <a:t>Test and test and test!</a:t>
            </a:r>
            <a:endParaRPr sz="1100"/>
          </a:p>
          <a:p>
            <a:pPr marL="457200" lvl="0" indent="-298450" algn="l" rtl="0">
              <a:lnSpc>
                <a:spcPct val="150000"/>
              </a:lnSpc>
              <a:spcBef>
                <a:spcPts val="0"/>
              </a:spcBef>
              <a:spcAft>
                <a:spcPts val="0"/>
              </a:spcAft>
              <a:buSzPts val="1100"/>
              <a:buChar char="●"/>
            </a:pPr>
            <a:r>
              <a:rPr lang="en" sz="1100"/>
              <a:t>Publish on Github + Dockerhub (for the tools part of the workflow)</a:t>
            </a:r>
            <a:endParaRPr sz="1100"/>
          </a:p>
        </p:txBody>
      </p:sp>
      <p:pic>
        <p:nvPicPr>
          <p:cNvPr id="913" name="Google Shape;913;p62"/>
          <p:cNvPicPr preferRelativeResize="0"/>
          <p:nvPr/>
        </p:nvPicPr>
        <p:blipFill>
          <a:blip r:embed="rId3">
            <a:alphaModFix/>
          </a:blip>
          <a:stretch>
            <a:fillRect/>
          </a:stretch>
        </p:blipFill>
        <p:spPr>
          <a:xfrm>
            <a:off x="5153675" y="1561375"/>
            <a:ext cx="3407367" cy="324082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63"/>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More tutorials</a:t>
            </a:r>
            <a:endParaRPr/>
          </a:p>
        </p:txBody>
      </p:sp>
      <p:sp>
        <p:nvSpPr>
          <p:cNvPr id="919" name="Google Shape;919;p63"/>
          <p:cNvSpPr txBox="1">
            <a:spLocks noGrp="1"/>
          </p:cNvSpPr>
          <p:nvPr>
            <p:ph type="body" idx="1"/>
          </p:nvPr>
        </p:nvSpPr>
        <p:spPr>
          <a:xfrm>
            <a:off x="586700" y="1685250"/>
            <a:ext cx="7747500" cy="2541600"/>
          </a:xfrm>
          <a:prstGeom prst="rect">
            <a:avLst/>
          </a:prstGeom>
        </p:spPr>
        <p:txBody>
          <a:bodyPr spcFirstLastPara="1" wrap="square" lIns="91425" tIns="91425" rIns="91425" bIns="91425" anchor="t" anchorCtr="0">
            <a:normAutofit fontScale="92500" lnSpcReduction="10000"/>
          </a:bodyPr>
          <a:lstStyle/>
          <a:p>
            <a:pPr marL="457200" lvl="0" indent="-311150" algn="l" rtl="0">
              <a:lnSpc>
                <a:spcPct val="100000"/>
              </a:lnSpc>
              <a:spcBef>
                <a:spcPts val="0"/>
              </a:spcBef>
              <a:spcAft>
                <a:spcPts val="0"/>
              </a:spcAft>
              <a:buSzPts val="1300"/>
              <a:buChar char="●"/>
            </a:pPr>
            <a:r>
              <a:rPr lang="en"/>
              <a:t>Most text in this presentation have been copied from here:</a:t>
            </a:r>
            <a:endParaRPr/>
          </a:p>
          <a:p>
            <a:pPr marL="0" lvl="0" indent="457200" algn="l" rtl="0">
              <a:lnSpc>
                <a:spcPct val="100000"/>
              </a:lnSpc>
              <a:spcBef>
                <a:spcPts val="1200"/>
              </a:spcBef>
              <a:spcAft>
                <a:spcPts val="0"/>
              </a:spcAft>
              <a:buNone/>
            </a:pPr>
            <a:r>
              <a:rPr lang="en">
                <a:solidFill>
                  <a:srgbClr val="6AA84F"/>
                </a:solidFill>
              </a:rPr>
              <a:t>https://www.nextflow.io/docs/latest/</a:t>
            </a:r>
            <a:endParaRPr>
              <a:solidFill>
                <a:srgbClr val="6AA84F"/>
              </a:solidFill>
            </a:endParaRPr>
          </a:p>
          <a:p>
            <a:pPr marL="457200" lvl="0" indent="-311150" algn="l" rtl="0">
              <a:lnSpc>
                <a:spcPct val="150000"/>
              </a:lnSpc>
              <a:spcBef>
                <a:spcPts val="1200"/>
              </a:spcBef>
              <a:spcAft>
                <a:spcPts val="0"/>
              </a:spcAft>
              <a:buSzPts val="1300"/>
              <a:buChar char="●"/>
            </a:pPr>
            <a:r>
              <a:rPr lang="en"/>
              <a:t>Nextflow google group: </a:t>
            </a:r>
            <a:r>
              <a:rPr lang="en">
                <a:solidFill>
                  <a:srgbClr val="6AA84F"/>
                </a:solidFill>
              </a:rPr>
              <a:t>https://groups.google.com/g/nextflow</a:t>
            </a:r>
            <a:endParaRPr>
              <a:solidFill>
                <a:srgbClr val="6AA84F"/>
              </a:solidFill>
            </a:endParaRPr>
          </a:p>
          <a:p>
            <a:pPr marL="457200" lvl="0" indent="-311150" algn="l" rtl="0">
              <a:lnSpc>
                <a:spcPct val="150000"/>
              </a:lnSpc>
              <a:spcBef>
                <a:spcPts val="0"/>
              </a:spcBef>
              <a:spcAft>
                <a:spcPts val="0"/>
              </a:spcAft>
              <a:buSzPts val="1300"/>
              <a:buChar char="●"/>
            </a:pPr>
            <a:r>
              <a:rPr lang="en"/>
              <a:t>And of course google!</a:t>
            </a:r>
            <a:endParaRPr/>
          </a:p>
          <a:p>
            <a:pPr marL="457200" lvl="0" indent="-311150" algn="l" rtl="0">
              <a:lnSpc>
                <a:spcPct val="150000"/>
              </a:lnSpc>
              <a:spcBef>
                <a:spcPts val="0"/>
              </a:spcBef>
              <a:spcAft>
                <a:spcPts val="0"/>
              </a:spcAft>
              <a:buSzPts val="1300"/>
              <a:buChar char="●"/>
            </a:pPr>
            <a:r>
              <a:rPr lang="en"/>
              <a:t>More tutorials:</a:t>
            </a:r>
            <a:endParaRPr/>
          </a:p>
          <a:p>
            <a:pPr marL="914400" lvl="1" indent="-298450" algn="l" rtl="0">
              <a:lnSpc>
                <a:spcPct val="150000"/>
              </a:lnSpc>
              <a:spcBef>
                <a:spcPts val="0"/>
              </a:spcBef>
              <a:spcAft>
                <a:spcPts val="0"/>
              </a:spcAft>
              <a:buClr>
                <a:srgbClr val="6AA84F"/>
              </a:buClr>
              <a:buSzPts val="1100"/>
              <a:buChar char="○"/>
            </a:pPr>
            <a:r>
              <a:rPr lang="en">
                <a:solidFill>
                  <a:srgbClr val="6AA84F"/>
                </a:solidFill>
              </a:rPr>
              <a:t>https://nf-co.re/usage/nextflow</a:t>
            </a:r>
            <a:endParaRPr>
              <a:solidFill>
                <a:srgbClr val="6AA84F"/>
              </a:solidFill>
            </a:endParaRPr>
          </a:p>
          <a:p>
            <a:pPr marL="914400" lvl="1" indent="-298450" algn="l" rtl="0">
              <a:lnSpc>
                <a:spcPct val="150000"/>
              </a:lnSpc>
              <a:spcBef>
                <a:spcPts val="0"/>
              </a:spcBef>
              <a:spcAft>
                <a:spcPts val="0"/>
              </a:spcAft>
              <a:buClr>
                <a:srgbClr val="6AA84F"/>
              </a:buClr>
              <a:buSzPts val="1100"/>
              <a:buChar char="○"/>
            </a:pPr>
            <a:r>
              <a:rPr lang="en">
                <a:solidFill>
                  <a:srgbClr val="6AA84F"/>
                </a:solidFill>
              </a:rPr>
              <a:t>https://training.seqera.io</a:t>
            </a:r>
            <a:endParaRPr>
              <a:solidFill>
                <a:srgbClr val="6AA84F"/>
              </a:solidFill>
            </a:endParaRPr>
          </a:p>
          <a:p>
            <a:pPr marL="914400" lvl="1" indent="-298450" algn="l" rtl="0">
              <a:lnSpc>
                <a:spcPct val="150000"/>
              </a:lnSpc>
              <a:spcBef>
                <a:spcPts val="0"/>
              </a:spcBef>
              <a:spcAft>
                <a:spcPts val="0"/>
              </a:spcAft>
              <a:buClr>
                <a:srgbClr val="6AA84F"/>
              </a:buClr>
              <a:buSzPts val="1100"/>
              <a:buChar char="○"/>
            </a:pPr>
            <a:r>
              <a:rPr lang="en">
                <a:solidFill>
                  <a:srgbClr val="6AA84F"/>
                </a:solidFill>
              </a:rPr>
              <a:t>https://carpentries-incubator.github.io/workflows-nextflow</a:t>
            </a:r>
            <a:endParaRPr>
              <a:solidFill>
                <a:srgbClr val="6AA84F"/>
              </a:solidFill>
            </a:endParaRPr>
          </a:p>
          <a:p>
            <a:pPr marL="457200" lvl="0" indent="-311150" algn="l" rtl="0">
              <a:lnSpc>
                <a:spcPct val="150000"/>
              </a:lnSpc>
              <a:spcBef>
                <a:spcPts val="0"/>
              </a:spcBef>
              <a:spcAft>
                <a:spcPts val="0"/>
              </a:spcAft>
              <a:buSzPts val="1300"/>
              <a:buChar char="●"/>
            </a:pPr>
            <a:r>
              <a:rPr lang="en"/>
              <a:t>Standardization of Nextflow workflows</a:t>
            </a:r>
            <a:endParaRPr/>
          </a:p>
        </p:txBody>
      </p:sp>
      <p:pic>
        <p:nvPicPr>
          <p:cNvPr id="920" name="Google Shape;920;p63"/>
          <p:cNvPicPr preferRelativeResize="0"/>
          <p:nvPr/>
        </p:nvPicPr>
        <p:blipFill>
          <a:blip r:embed="rId3">
            <a:alphaModFix/>
          </a:blip>
          <a:stretch>
            <a:fillRect/>
          </a:stretch>
        </p:blipFill>
        <p:spPr>
          <a:xfrm>
            <a:off x="1957600" y="4065905"/>
            <a:ext cx="1865999" cy="485626"/>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64"/>
          <p:cNvSpPr txBox="1">
            <a:spLocks noGrp="1"/>
          </p:cNvSpPr>
          <p:nvPr>
            <p:ph type="title"/>
          </p:nvPr>
        </p:nvSpPr>
        <p:spPr>
          <a:xfrm>
            <a:off x="1388625" y="772725"/>
            <a:ext cx="6366900" cy="18633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Questions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65"/>
          <p:cNvSpPr txBox="1">
            <a:spLocks noGrp="1"/>
          </p:cNvSpPr>
          <p:nvPr>
            <p:ph type="title"/>
          </p:nvPr>
        </p:nvSpPr>
        <p:spPr>
          <a:xfrm>
            <a:off x="1471800" y="1687400"/>
            <a:ext cx="6366900" cy="18633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Demo session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p66"/>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Mass spectrometry and data analysis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p6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 snapshots</a:t>
            </a:r>
            <a:endParaRPr/>
          </a:p>
        </p:txBody>
      </p:sp>
      <p:pic>
        <p:nvPicPr>
          <p:cNvPr id="941" name="Google Shape;941;p67"/>
          <p:cNvPicPr preferRelativeResize="0"/>
          <p:nvPr/>
        </p:nvPicPr>
        <p:blipFill>
          <a:blip r:embed="rId3">
            <a:alphaModFix/>
          </a:blip>
          <a:stretch>
            <a:fillRect/>
          </a:stretch>
        </p:blipFill>
        <p:spPr>
          <a:xfrm>
            <a:off x="781725" y="1456625"/>
            <a:ext cx="7761145" cy="3240825"/>
          </a:xfrm>
          <a:prstGeom prst="rect">
            <a:avLst/>
          </a:prstGeom>
          <a:noFill/>
          <a:ln>
            <a:noFill/>
          </a:ln>
        </p:spPr>
      </p:pic>
      <p:sp>
        <p:nvSpPr>
          <p:cNvPr id="942" name="Google Shape;942;p67"/>
          <p:cNvSpPr txBox="1"/>
          <p:nvPr/>
        </p:nvSpPr>
        <p:spPr>
          <a:xfrm>
            <a:off x="1062150" y="4881000"/>
            <a:ext cx="73614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00">
                <a:solidFill>
                  <a:srgbClr val="212121"/>
                </a:solidFill>
                <a:highlight>
                  <a:srgbClr val="FFFFFF"/>
                </a:highlight>
              </a:rPr>
              <a:t>McHugh L, Arthur JW. Computational methods for protein identification from mass spectrometry data. PLoS Comput Biol. 2008 Feb;4(2):e12. doi: 10.1371/journal.pcbi.0040012. PMID: 18463710; PMCID: PMC2323404.McHugh L, Arthur JW. Computational methods for protein identification from mass spectrometry data. PLoS Comput Biol. 2008 Feb;4(2):e12. doi: 10.1371/journal.pcbi.0040012. PMID: 18463710; PMCID: PMC2323404.</a:t>
            </a:r>
            <a:endParaRPr sz="5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p6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Data</a:t>
            </a:r>
            <a:endParaRPr dirty="0"/>
          </a:p>
        </p:txBody>
      </p:sp>
      <p:pic>
        <p:nvPicPr>
          <p:cNvPr id="948" name="Google Shape;948;p68"/>
          <p:cNvPicPr preferRelativeResize="0"/>
          <p:nvPr/>
        </p:nvPicPr>
        <p:blipFill>
          <a:blip r:embed="rId3">
            <a:alphaModFix/>
          </a:blip>
          <a:stretch>
            <a:fillRect/>
          </a:stretch>
        </p:blipFill>
        <p:spPr>
          <a:xfrm>
            <a:off x="1184375" y="1654900"/>
            <a:ext cx="6775245" cy="3240826"/>
          </a:xfrm>
          <a:prstGeom prst="rect">
            <a:avLst/>
          </a:prstGeom>
          <a:noFill/>
          <a:ln>
            <a:noFill/>
          </a:ln>
        </p:spPr>
      </p:pic>
      <p:sp>
        <p:nvSpPr>
          <p:cNvPr id="949" name="Google Shape;949;p68"/>
          <p:cNvSpPr/>
          <p:nvPr/>
        </p:nvSpPr>
        <p:spPr>
          <a:xfrm>
            <a:off x="4697150" y="1622450"/>
            <a:ext cx="3289800" cy="32958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sp>
        <p:nvSpPr>
          <p:cNvPr id="950" name="Google Shape;950;p68"/>
          <p:cNvSpPr txBox="1"/>
          <p:nvPr/>
        </p:nvSpPr>
        <p:spPr>
          <a:xfrm>
            <a:off x="1303800" y="4971925"/>
            <a:ext cx="7194300" cy="26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00">
                <a:solidFill>
                  <a:srgbClr val="333333"/>
                </a:solidFill>
                <a:highlight>
                  <a:srgbClr val="FFFFFF"/>
                </a:highlight>
                <a:latin typeface="Roboto"/>
                <a:ea typeface="Roboto"/>
                <a:cs typeface="Roboto"/>
                <a:sym typeface="Roboto"/>
              </a:rPr>
              <a:t>Smith, R., Mathis, A.D., Ventura, D. </a:t>
            </a:r>
            <a:r>
              <a:rPr lang="en" sz="500" i="1">
                <a:solidFill>
                  <a:srgbClr val="333333"/>
                </a:solidFill>
                <a:highlight>
                  <a:srgbClr val="FFFFFF"/>
                </a:highlight>
                <a:latin typeface="Roboto"/>
                <a:ea typeface="Roboto"/>
                <a:cs typeface="Roboto"/>
                <a:sym typeface="Roboto"/>
              </a:rPr>
              <a:t>et al.</a:t>
            </a:r>
            <a:r>
              <a:rPr lang="en" sz="500">
                <a:solidFill>
                  <a:srgbClr val="333333"/>
                </a:solidFill>
                <a:highlight>
                  <a:srgbClr val="FFFFFF"/>
                </a:highlight>
                <a:latin typeface="Roboto"/>
                <a:ea typeface="Roboto"/>
                <a:cs typeface="Roboto"/>
                <a:sym typeface="Roboto"/>
              </a:rPr>
              <a:t> Proteomics, lipidomics, metabolomics: a mass spectrometry tutorial from a computer scientist's point of view. </a:t>
            </a:r>
            <a:r>
              <a:rPr lang="en" sz="500" i="1">
                <a:solidFill>
                  <a:srgbClr val="333333"/>
                </a:solidFill>
                <a:highlight>
                  <a:srgbClr val="FFFFFF"/>
                </a:highlight>
                <a:latin typeface="Roboto"/>
                <a:ea typeface="Roboto"/>
                <a:cs typeface="Roboto"/>
                <a:sym typeface="Roboto"/>
              </a:rPr>
              <a:t>BMC Bioinformatics</a:t>
            </a:r>
            <a:r>
              <a:rPr lang="en" sz="500">
                <a:solidFill>
                  <a:srgbClr val="333333"/>
                </a:solidFill>
                <a:highlight>
                  <a:srgbClr val="FFFFFF"/>
                </a:highlight>
                <a:latin typeface="Roboto"/>
                <a:ea typeface="Roboto"/>
                <a:cs typeface="Roboto"/>
                <a:sym typeface="Roboto"/>
              </a:rPr>
              <a:t> 15 (Suppl 7), S9 (2014). https://doi.org/10.1186/1471-2105-15-S7-S9</a:t>
            </a:r>
            <a:endParaRPr sz="7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p6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 centroiding</a:t>
            </a:r>
            <a:endParaRPr/>
          </a:p>
        </p:txBody>
      </p:sp>
      <p:pic>
        <p:nvPicPr>
          <p:cNvPr id="956" name="Google Shape;956;p69"/>
          <p:cNvPicPr preferRelativeResize="0"/>
          <p:nvPr/>
        </p:nvPicPr>
        <p:blipFill>
          <a:blip r:embed="rId3">
            <a:alphaModFix/>
          </a:blip>
          <a:stretch>
            <a:fillRect/>
          </a:stretch>
        </p:blipFill>
        <p:spPr>
          <a:xfrm>
            <a:off x="1184375" y="1654900"/>
            <a:ext cx="6775245" cy="3240826"/>
          </a:xfrm>
          <a:prstGeom prst="rect">
            <a:avLst/>
          </a:prstGeom>
          <a:noFill/>
          <a:ln>
            <a:noFill/>
          </a:ln>
        </p:spPr>
      </p:pic>
      <p:sp>
        <p:nvSpPr>
          <p:cNvPr id="957" name="Google Shape;957;p69"/>
          <p:cNvSpPr txBox="1"/>
          <p:nvPr/>
        </p:nvSpPr>
        <p:spPr>
          <a:xfrm>
            <a:off x="1303800" y="4971925"/>
            <a:ext cx="7194300" cy="26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00">
                <a:solidFill>
                  <a:srgbClr val="333333"/>
                </a:solidFill>
                <a:highlight>
                  <a:srgbClr val="FFFFFF"/>
                </a:highlight>
                <a:latin typeface="Roboto"/>
                <a:ea typeface="Roboto"/>
                <a:cs typeface="Roboto"/>
                <a:sym typeface="Roboto"/>
              </a:rPr>
              <a:t>Smith, R., Mathis, A.D., Ventura, D. </a:t>
            </a:r>
            <a:r>
              <a:rPr lang="en" sz="500" i="1">
                <a:solidFill>
                  <a:srgbClr val="333333"/>
                </a:solidFill>
                <a:highlight>
                  <a:srgbClr val="FFFFFF"/>
                </a:highlight>
                <a:latin typeface="Roboto"/>
                <a:ea typeface="Roboto"/>
                <a:cs typeface="Roboto"/>
                <a:sym typeface="Roboto"/>
              </a:rPr>
              <a:t>et al.</a:t>
            </a:r>
            <a:r>
              <a:rPr lang="en" sz="500">
                <a:solidFill>
                  <a:srgbClr val="333333"/>
                </a:solidFill>
                <a:highlight>
                  <a:srgbClr val="FFFFFF"/>
                </a:highlight>
                <a:latin typeface="Roboto"/>
                <a:ea typeface="Roboto"/>
                <a:cs typeface="Roboto"/>
                <a:sym typeface="Roboto"/>
              </a:rPr>
              <a:t> Proteomics, lipidomics, metabolomics: a mass spectrometry tutorial from a computer scientist's point of view. </a:t>
            </a:r>
            <a:r>
              <a:rPr lang="en" sz="500" i="1">
                <a:solidFill>
                  <a:srgbClr val="333333"/>
                </a:solidFill>
                <a:highlight>
                  <a:srgbClr val="FFFFFF"/>
                </a:highlight>
                <a:latin typeface="Roboto"/>
                <a:ea typeface="Roboto"/>
                <a:cs typeface="Roboto"/>
                <a:sym typeface="Roboto"/>
              </a:rPr>
              <a:t>BMC Bioinformatics</a:t>
            </a:r>
            <a:r>
              <a:rPr lang="en" sz="500">
                <a:solidFill>
                  <a:srgbClr val="333333"/>
                </a:solidFill>
                <a:highlight>
                  <a:srgbClr val="FFFFFF"/>
                </a:highlight>
                <a:latin typeface="Roboto"/>
                <a:ea typeface="Roboto"/>
                <a:cs typeface="Roboto"/>
                <a:sym typeface="Roboto"/>
              </a:rPr>
              <a:t> 15 (Suppl 7), S9 (2014). https://doi.org/10.1186/1471-2105-15-S7-S9</a:t>
            </a:r>
            <a:endParaRPr sz="7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70"/>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 over time</a:t>
            </a:r>
            <a:endParaRPr/>
          </a:p>
        </p:txBody>
      </p:sp>
      <p:sp>
        <p:nvSpPr>
          <p:cNvPr id="963" name="Google Shape;963;p70"/>
          <p:cNvSpPr txBox="1"/>
          <p:nvPr/>
        </p:nvSpPr>
        <p:spPr>
          <a:xfrm>
            <a:off x="0" y="4881900"/>
            <a:ext cx="9144000" cy="26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00">
                <a:solidFill>
                  <a:srgbClr val="212121"/>
                </a:solidFill>
                <a:highlight>
                  <a:srgbClr val="FFFFFF"/>
                </a:highlight>
              </a:rPr>
              <a:t>Bielow C, Aiche S, Andreotti S, Reinert K. MSSimulator: Simulation of mass spectrometry data. J Proteome Res. 2011 Jul 1;10(7):2922-9. doi: 10.1021/pr200155f. Epub 2011 Apr 28. PMID: 21526843.</a:t>
            </a:r>
            <a:endParaRPr sz="500"/>
          </a:p>
        </p:txBody>
      </p:sp>
      <p:sp>
        <p:nvSpPr>
          <p:cNvPr id="964" name="Google Shape;964;p70"/>
          <p:cNvSpPr/>
          <p:nvPr/>
        </p:nvSpPr>
        <p:spPr>
          <a:xfrm>
            <a:off x="741175" y="2044525"/>
            <a:ext cx="352500" cy="4278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70"/>
          <p:cNvSpPr/>
          <p:nvPr/>
        </p:nvSpPr>
        <p:spPr>
          <a:xfrm>
            <a:off x="5264400" y="4133825"/>
            <a:ext cx="292200" cy="370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66" name="Google Shape;966;p70"/>
          <p:cNvPicPr preferRelativeResize="0"/>
          <p:nvPr/>
        </p:nvPicPr>
        <p:blipFill rotWithShape="1">
          <a:blip r:embed="rId3">
            <a:alphaModFix/>
          </a:blip>
          <a:srcRect t="43794" r="49758"/>
          <a:stretch/>
        </p:blipFill>
        <p:spPr>
          <a:xfrm>
            <a:off x="2304000" y="1622475"/>
            <a:ext cx="3890726" cy="28488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p7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 over time</a:t>
            </a:r>
            <a:endParaRPr/>
          </a:p>
        </p:txBody>
      </p:sp>
      <p:sp>
        <p:nvSpPr>
          <p:cNvPr id="972" name="Google Shape;972;p71"/>
          <p:cNvSpPr txBox="1"/>
          <p:nvPr/>
        </p:nvSpPr>
        <p:spPr>
          <a:xfrm>
            <a:off x="0" y="4881900"/>
            <a:ext cx="9144000" cy="26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00">
                <a:solidFill>
                  <a:srgbClr val="212121"/>
                </a:solidFill>
                <a:highlight>
                  <a:srgbClr val="FFFFFF"/>
                </a:highlight>
              </a:rPr>
              <a:t>Bielow C, Aiche S, Andreotti S, Reinert K. MSSimulator: Simulation of mass spectrometry data. J Proteome Res. 2011 Jul 1;10(7):2922-9. doi: 10.1021/pr200155f. Epub 2011 Apr 28. PMID: 21526843.</a:t>
            </a:r>
            <a:endParaRPr sz="500"/>
          </a:p>
        </p:txBody>
      </p:sp>
      <p:sp>
        <p:nvSpPr>
          <p:cNvPr id="973" name="Google Shape;973;p71"/>
          <p:cNvSpPr/>
          <p:nvPr/>
        </p:nvSpPr>
        <p:spPr>
          <a:xfrm>
            <a:off x="741175" y="2044525"/>
            <a:ext cx="352500" cy="4278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71"/>
          <p:cNvSpPr/>
          <p:nvPr/>
        </p:nvSpPr>
        <p:spPr>
          <a:xfrm>
            <a:off x="5264400" y="4133825"/>
            <a:ext cx="292200" cy="370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75" name="Google Shape;975;p71"/>
          <p:cNvPicPr preferRelativeResize="0"/>
          <p:nvPr/>
        </p:nvPicPr>
        <p:blipFill rotWithShape="1">
          <a:blip r:embed="rId3">
            <a:alphaModFix/>
          </a:blip>
          <a:srcRect t="43794" r="50548"/>
          <a:stretch/>
        </p:blipFill>
        <p:spPr>
          <a:xfrm>
            <a:off x="277575" y="1739925"/>
            <a:ext cx="3829550" cy="2848875"/>
          </a:xfrm>
          <a:prstGeom prst="rect">
            <a:avLst/>
          </a:prstGeom>
          <a:noFill/>
          <a:ln>
            <a:noFill/>
          </a:ln>
        </p:spPr>
      </p:pic>
      <p:pic>
        <p:nvPicPr>
          <p:cNvPr id="976" name="Google Shape;976;p71"/>
          <p:cNvPicPr preferRelativeResize="0"/>
          <p:nvPr/>
        </p:nvPicPr>
        <p:blipFill>
          <a:blip r:embed="rId4">
            <a:alphaModFix/>
          </a:blip>
          <a:stretch>
            <a:fillRect/>
          </a:stretch>
        </p:blipFill>
        <p:spPr>
          <a:xfrm>
            <a:off x="4546775" y="1528075"/>
            <a:ext cx="4323442" cy="31073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p7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- 2D-View</a:t>
            </a:r>
            <a:endParaRPr/>
          </a:p>
        </p:txBody>
      </p:sp>
      <p:pic>
        <p:nvPicPr>
          <p:cNvPr id="982" name="Google Shape;982;p72"/>
          <p:cNvPicPr preferRelativeResize="0"/>
          <p:nvPr/>
        </p:nvPicPr>
        <p:blipFill rotWithShape="1">
          <a:blip r:embed="rId3">
            <a:alphaModFix/>
          </a:blip>
          <a:srcRect r="23826" b="36269"/>
          <a:stretch/>
        </p:blipFill>
        <p:spPr>
          <a:xfrm>
            <a:off x="2436550" y="1279025"/>
            <a:ext cx="3918001" cy="3277975"/>
          </a:xfrm>
          <a:prstGeom prst="rect">
            <a:avLst/>
          </a:prstGeom>
          <a:noFill/>
          <a:ln w="9525" cap="flat" cmpd="sng">
            <a:solidFill>
              <a:srgbClr val="404040"/>
            </a:solidFill>
            <a:prstDash val="solid"/>
            <a:round/>
            <a:headEnd type="none" w="sm" len="sm"/>
            <a:tailEnd type="none" w="sm" len="sm"/>
          </a:ln>
        </p:spPr>
      </p:pic>
      <p:sp>
        <p:nvSpPr>
          <p:cNvPr id="983" name="Google Shape;983;p72"/>
          <p:cNvSpPr txBox="1"/>
          <p:nvPr/>
        </p:nvSpPr>
        <p:spPr>
          <a:xfrm>
            <a:off x="3476550" y="4612125"/>
            <a:ext cx="1997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Retention time →</a:t>
            </a:r>
            <a:endParaRPr>
              <a:latin typeface="Nunito"/>
              <a:ea typeface="Nunito"/>
              <a:cs typeface="Nunito"/>
              <a:sym typeface="Nunito"/>
            </a:endParaRPr>
          </a:p>
        </p:txBody>
      </p:sp>
      <p:sp>
        <p:nvSpPr>
          <p:cNvPr id="984" name="Google Shape;984;p72"/>
          <p:cNvSpPr txBox="1"/>
          <p:nvPr/>
        </p:nvSpPr>
        <p:spPr>
          <a:xfrm rot="-5400000">
            <a:off x="1527525" y="2717913"/>
            <a:ext cx="985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m/z →</a:t>
            </a:r>
            <a:endParaRPr>
              <a:latin typeface="Nunito"/>
              <a:ea typeface="Nunito"/>
              <a:cs typeface="Nunito"/>
              <a:sym typeface="Nunito"/>
            </a:endParaRPr>
          </a:p>
        </p:txBody>
      </p:sp>
      <p:sp>
        <p:nvSpPr>
          <p:cNvPr id="985" name="Google Shape;985;p72"/>
          <p:cNvSpPr txBox="1"/>
          <p:nvPr/>
        </p:nvSpPr>
        <p:spPr>
          <a:xfrm flipH="1">
            <a:off x="7126550" y="2610213"/>
            <a:ext cx="13257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Color signifies intensity</a:t>
            </a:r>
            <a:endParaRPr>
              <a:latin typeface="Nunito"/>
              <a:ea typeface="Nunito"/>
              <a:cs typeface="Nunito"/>
              <a:sym typeface="Nunito"/>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p73"/>
          <p:cNvSpPr/>
          <p:nvPr/>
        </p:nvSpPr>
        <p:spPr>
          <a:xfrm>
            <a:off x="497150" y="1628800"/>
            <a:ext cx="1784700" cy="769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73"/>
          <p:cNvSpPr txBox="1">
            <a:spLocks noGrp="1"/>
          </p:cNvSpPr>
          <p:nvPr>
            <p:ph type="title"/>
          </p:nvPr>
        </p:nvSpPr>
        <p:spPr>
          <a:xfrm>
            <a:off x="1303800" y="598575"/>
            <a:ext cx="35391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 features</a:t>
            </a:r>
            <a:endParaRPr/>
          </a:p>
        </p:txBody>
      </p:sp>
      <p:sp>
        <p:nvSpPr>
          <p:cNvPr id="999" name="Google Shape;999;p73"/>
          <p:cNvSpPr/>
          <p:nvPr/>
        </p:nvSpPr>
        <p:spPr>
          <a:xfrm>
            <a:off x="2017825" y="2211975"/>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73"/>
          <p:cNvSpPr/>
          <p:nvPr/>
        </p:nvSpPr>
        <p:spPr>
          <a:xfrm>
            <a:off x="541700" y="2211975"/>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73"/>
          <p:cNvSpPr/>
          <p:nvPr/>
        </p:nvSpPr>
        <p:spPr>
          <a:xfrm>
            <a:off x="752575" y="2211975"/>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73"/>
          <p:cNvSpPr/>
          <p:nvPr/>
        </p:nvSpPr>
        <p:spPr>
          <a:xfrm>
            <a:off x="963450" y="2211975"/>
            <a:ext cx="158700" cy="1422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73"/>
          <p:cNvSpPr/>
          <p:nvPr/>
        </p:nvSpPr>
        <p:spPr>
          <a:xfrm>
            <a:off x="1174325" y="2211975"/>
            <a:ext cx="158700" cy="1422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73"/>
          <p:cNvSpPr/>
          <p:nvPr/>
        </p:nvSpPr>
        <p:spPr>
          <a:xfrm>
            <a:off x="1385200" y="2211975"/>
            <a:ext cx="158700" cy="1422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73"/>
          <p:cNvSpPr/>
          <p:nvPr/>
        </p:nvSpPr>
        <p:spPr>
          <a:xfrm>
            <a:off x="1596075" y="2211975"/>
            <a:ext cx="158700" cy="1422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73"/>
          <p:cNvSpPr/>
          <p:nvPr/>
        </p:nvSpPr>
        <p:spPr>
          <a:xfrm>
            <a:off x="1806950" y="2211975"/>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73"/>
          <p:cNvSpPr/>
          <p:nvPr/>
        </p:nvSpPr>
        <p:spPr>
          <a:xfrm>
            <a:off x="752575" y="1942600"/>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73"/>
          <p:cNvSpPr/>
          <p:nvPr/>
        </p:nvSpPr>
        <p:spPr>
          <a:xfrm>
            <a:off x="963450" y="1942600"/>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73"/>
          <p:cNvSpPr/>
          <p:nvPr/>
        </p:nvSpPr>
        <p:spPr>
          <a:xfrm>
            <a:off x="1174325" y="1942600"/>
            <a:ext cx="158700" cy="1422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73"/>
          <p:cNvSpPr/>
          <p:nvPr/>
        </p:nvSpPr>
        <p:spPr>
          <a:xfrm>
            <a:off x="1385200" y="1942600"/>
            <a:ext cx="158700" cy="1422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73"/>
          <p:cNvSpPr/>
          <p:nvPr/>
        </p:nvSpPr>
        <p:spPr>
          <a:xfrm>
            <a:off x="1596075" y="1942600"/>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73"/>
          <p:cNvSpPr/>
          <p:nvPr/>
        </p:nvSpPr>
        <p:spPr>
          <a:xfrm>
            <a:off x="1806950" y="1942600"/>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73"/>
          <p:cNvSpPr/>
          <p:nvPr/>
        </p:nvSpPr>
        <p:spPr>
          <a:xfrm>
            <a:off x="963450" y="1673225"/>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73"/>
          <p:cNvSpPr/>
          <p:nvPr/>
        </p:nvSpPr>
        <p:spPr>
          <a:xfrm>
            <a:off x="1174325" y="1673225"/>
            <a:ext cx="158700" cy="1422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73"/>
          <p:cNvSpPr/>
          <p:nvPr/>
        </p:nvSpPr>
        <p:spPr>
          <a:xfrm>
            <a:off x="1385200" y="1673225"/>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73"/>
          <p:cNvSpPr/>
          <p:nvPr/>
        </p:nvSpPr>
        <p:spPr>
          <a:xfrm>
            <a:off x="1596075" y="1673225"/>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73"/>
          <p:cNvSpPr/>
          <p:nvPr/>
        </p:nvSpPr>
        <p:spPr>
          <a:xfrm>
            <a:off x="1806950" y="1673225"/>
            <a:ext cx="158700" cy="142200"/>
          </a:xfrm>
          <a:prstGeom prst="rect">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8" name="Google Shape;1018;p73"/>
          <p:cNvGrpSpPr/>
          <p:nvPr/>
        </p:nvGrpSpPr>
        <p:grpSpPr>
          <a:xfrm>
            <a:off x="497150" y="2741425"/>
            <a:ext cx="1784700" cy="769800"/>
            <a:chOff x="3281500" y="3075625"/>
            <a:chExt cx="1784700" cy="769800"/>
          </a:xfrm>
        </p:grpSpPr>
        <p:sp>
          <p:nvSpPr>
            <p:cNvPr id="1019" name="Google Shape;1019;p73"/>
            <p:cNvSpPr/>
            <p:nvPr/>
          </p:nvSpPr>
          <p:spPr>
            <a:xfrm>
              <a:off x="3366763" y="3658800"/>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73"/>
            <p:cNvSpPr/>
            <p:nvPr/>
          </p:nvSpPr>
          <p:spPr>
            <a:xfrm>
              <a:off x="3577638" y="3658800"/>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73"/>
            <p:cNvSpPr/>
            <p:nvPr/>
          </p:nvSpPr>
          <p:spPr>
            <a:xfrm>
              <a:off x="3788513" y="3658800"/>
              <a:ext cx="158700" cy="1422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73"/>
            <p:cNvSpPr/>
            <p:nvPr/>
          </p:nvSpPr>
          <p:spPr>
            <a:xfrm>
              <a:off x="3999388" y="3658800"/>
              <a:ext cx="158700" cy="1422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73"/>
            <p:cNvSpPr/>
            <p:nvPr/>
          </p:nvSpPr>
          <p:spPr>
            <a:xfrm>
              <a:off x="4421138" y="3658800"/>
              <a:ext cx="158700" cy="1422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73"/>
            <p:cNvSpPr/>
            <p:nvPr/>
          </p:nvSpPr>
          <p:spPr>
            <a:xfrm>
              <a:off x="4632013" y="3658800"/>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73"/>
            <p:cNvSpPr/>
            <p:nvPr/>
          </p:nvSpPr>
          <p:spPr>
            <a:xfrm>
              <a:off x="4842888" y="3658800"/>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73"/>
            <p:cNvSpPr/>
            <p:nvPr/>
          </p:nvSpPr>
          <p:spPr>
            <a:xfrm>
              <a:off x="3577638" y="3389425"/>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73"/>
            <p:cNvSpPr/>
            <p:nvPr/>
          </p:nvSpPr>
          <p:spPr>
            <a:xfrm>
              <a:off x="4210263" y="3389425"/>
              <a:ext cx="158700" cy="1422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73"/>
            <p:cNvSpPr/>
            <p:nvPr/>
          </p:nvSpPr>
          <p:spPr>
            <a:xfrm>
              <a:off x="4632013" y="3389425"/>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73"/>
            <p:cNvSpPr/>
            <p:nvPr/>
          </p:nvSpPr>
          <p:spPr>
            <a:xfrm>
              <a:off x="3788513" y="3120050"/>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73"/>
            <p:cNvSpPr/>
            <p:nvPr/>
          </p:nvSpPr>
          <p:spPr>
            <a:xfrm>
              <a:off x="3999388" y="3120050"/>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73"/>
            <p:cNvSpPr/>
            <p:nvPr/>
          </p:nvSpPr>
          <p:spPr>
            <a:xfrm>
              <a:off x="4421138" y="3120050"/>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73"/>
            <p:cNvSpPr/>
            <p:nvPr/>
          </p:nvSpPr>
          <p:spPr>
            <a:xfrm>
              <a:off x="4632013" y="3120050"/>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73"/>
            <p:cNvSpPr/>
            <p:nvPr/>
          </p:nvSpPr>
          <p:spPr>
            <a:xfrm>
              <a:off x="3281500" y="3075625"/>
              <a:ext cx="1784700" cy="769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 name="Google Shape;1034;p73"/>
          <p:cNvGrpSpPr/>
          <p:nvPr/>
        </p:nvGrpSpPr>
        <p:grpSpPr>
          <a:xfrm>
            <a:off x="537200" y="4048500"/>
            <a:ext cx="1704600" cy="234000"/>
            <a:chOff x="5522825" y="3130450"/>
            <a:chExt cx="1704600" cy="234000"/>
          </a:xfrm>
        </p:grpSpPr>
        <p:sp>
          <p:nvSpPr>
            <p:cNvPr id="1035" name="Google Shape;1035;p73"/>
            <p:cNvSpPr/>
            <p:nvPr/>
          </p:nvSpPr>
          <p:spPr>
            <a:xfrm>
              <a:off x="5540125" y="3161650"/>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73"/>
            <p:cNvSpPr/>
            <p:nvPr/>
          </p:nvSpPr>
          <p:spPr>
            <a:xfrm>
              <a:off x="5751000" y="3161650"/>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73"/>
            <p:cNvSpPr/>
            <p:nvPr/>
          </p:nvSpPr>
          <p:spPr>
            <a:xfrm>
              <a:off x="5961875" y="3161650"/>
              <a:ext cx="158700" cy="1422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73"/>
            <p:cNvSpPr/>
            <p:nvPr/>
          </p:nvSpPr>
          <p:spPr>
            <a:xfrm>
              <a:off x="6172750" y="3161650"/>
              <a:ext cx="158700" cy="1422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73"/>
            <p:cNvSpPr/>
            <p:nvPr/>
          </p:nvSpPr>
          <p:spPr>
            <a:xfrm>
              <a:off x="6383625" y="3161650"/>
              <a:ext cx="158700" cy="1422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73"/>
            <p:cNvSpPr/>
            <p:nvPr/>
          </p:nvSpPr>
          <p:spPr>
            <a:xfrm>
              <a:off x="6594500" y="3161650"/>
              <a:ext cx="158700" cy="142200"/>
            </a:xfrm>
            <a:prstGeom prst="rect">
              <a:avLst/>
            </a:prstGeom>
            <a:solidFill>
              <a:srgbClr val="99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73"/>
            <p:cNvSpPr/>
            <p:nvPr/>
          </p:nvSpPr>
          <p:spPr>
            <a:xfrm>
              <a:off x="6805375" y="3161650"/>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73"/>
            <p:cNvSpPr/>
            <p:nvPr/>
          </p:nvSpPr>
          <p:spPr>
            <a:xfrm>
              <a:off x="7016250" y="3161650"/>
              <a:ext cx="158700" cy="1422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73"/>
            <p:cNvSpPr/>
            <p:nvPr/>
          </p:nvSpPr>
          <p:spPr>
            <a:xfrm>
              <a:off x="5522825" y="3130450"/>
              <a:ext cx="1704600" cy="234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4" name="Google Shape;1044;p73"/>
          <p:cNvSpPr txBox="1"/>
          <p:nvPr/>
        </p:nvSpPr>
        <p:spPr>
          <a:xfrm>
            <a:off x="2399975" y="1782675"/>
            <a:ext cx="1704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Ideal feature</a:t>
            </a:r>
            <a:endParaRPr>
              <a:latin typeface="Nunito"/>
              <a:ea typeface="Nunito"/>
              <a:cs typeface="Nunito"/>
              <a:sym typeface="Nunito"/>
            </a:endParaRPr>
          </a:p>
        </p:txBody>
      </p:sp>
      <p:sp>
        <p:nvSpPr>
          <p:cNvPr id="1045" name="Google Shape;1045;p73"/>
          <p:cNvSpPr txBox="1"/>
          <p:nvPr/>
        </p:nvSpPr>
        <p:spPr>
          <a:xfrm>
            <a:off x="2399975" y="2926225"/>
            <a:ext cx="1704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Missing values</a:t>
            </a:r>
            <a:endParaRPr>
              <a:latin typeface="Nunito"/>
              <a:ea typeface="Nunito"/>
              <a:cs typeface="Nunito"/>
              <a:sym typeface="Nunito"/>
            </a:endParaRPr>
          </a:p>
        </p:txBody>
      </p:sp>
      <p:sp>
        <p:nvSpPr>
          <p:cNvPr id="1046" name="Google Shape;1046;p73"/>
          <p:cNvSpPr txBox="1"/>
          <p:nvPr/>
        </p:nvSpPr>
        <p:spPr>
          <a:xfrm>
            <a:off x="2399975" y="3965400"/>
            <a:ext cx="1784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Missing mass traces</a:t>
            </a:r>
            <a:endParaRPr>
              <a:latin typeface="Nunito"/>
              <a:ea typeface="Nunito"/>
              <a:cs typeface="Nunito"/>
              <a:sym typeface="Nunito"/>
            </a:endParaRPr>
          </a:p>
        </p:txBody>
      </p:sp>
      <p:grpSp>
        <p:nvGrpSpPr>
          <p:cNvPr id="1047" name="Google Shape;1047;p73"/>
          <p:cNvGrpSpPr/>
          <p:nvPr/>
        </p:nvGrpSpPr>
        <p:grpSpPr>
          <a:xfrm>
            <a:off x="4740975" y="1597875"/>
            <a:ext cx="1784700" cy="769800"/>
            <a:chOff x="5935775" y="1595375"/>
            <a:chExt cx="1784700" cy="769800"/>
          </a:xfrm>
        </p:grpSpPr>
        <p:sp>
          <p:nvSpPr>
            <p:cNvPr id="1048" name="Google Shape;1048;p73"/>
            <p:cNvSpPr/>
            <p:nvPr/>
          </p:nvSpPr>
          <p:spPr>
            <a:xfrm>
              <a:off x="5999700" y="2178550"/>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73"/>
            <p:cNvSpPr/>
            <p:nvPr/>
          </p:nvSpPr>
          <p:spPr>
            <a:xfrm>
              <a:off x="6210575" y="2178550"/>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73"/>
            <p:cNvSpPr/>
            <p:nvPr/>
          </p:nvSpPr>
          <p:spPr>
            <a:xfrm>
              <a:off x="6421450" y="2178550"/>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73"/>
            <p:cNvSpPr/>
            <p:nvPr/>
          </p:nvSpPr>
          <p:spPr>
            <a:xfrm>
              <a:off x="6632325" y="2178550"/>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73"/>
            <p:cNvSpPr/>
            <p:nvPr/>
          </p:nvSpPr>
          <p:spPr>
            <a:xfrm>
              <a:off x="6843200" y="2178550"/>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73"/>
            <p:cNvSpPr/>
            <p:nvPr/>
          </p:nvSpPr>
          <p:spPr>
            <a:xfrm>
              <a:off x="7054075" y="2178550"/>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73"/>
            <p:cNvSpPr/>
            <p:nvPr/>
          </p:nvSpPr>
          <p:spPr>
            <a:xfrm>
              <a:off x="7264950" y="2178550"/>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73"/>
            <p:cNvSpPr/>
            <p:nvPr/>
          </p:nvSpPr>
          <p:spPr>
            <a:xfrm>
              <a:off x="7475825" y="2178550"/>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73"/>
            <p:cNvSpPr/>
            <p:nvPr/>
          </p:nvSpPr>
          <p:spPr>
            <a:xfrm>
              <a:off x="6210575" y="1909175"/>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73"/>
            <p:cNvSpPr/>
            <p:nvPr/>
          </p:nvSpPr>
          <p:spPr>
            <a:xfrm>
              <a:off x="6421450" y="1909175"/>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73"/>
            <p:cNvSpPr/>
            <p:nvPr/>
          </p:nvSpPr>
          <p:spPr>
            <a:xfrm>
              <a:off x="6632325" y="1909175"/>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73"/>
            <p:cNvSpPr/>
            <p:nvPr/>
          </p:nvSpPr>
          <p:spPr>
            <a:xfrm>
              <a:off x="6843200" y="1909175"/>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73"/>
            <p:cNvSpPr/>
            <p:nvPr/>
          </p:nvSpPr>
          <p:spPr>
            <a:xfrm>
              <a:off x="7054075" y="1909175"/>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73"/>
            <p:cNvSpPr/>
            <p:nvPr/>
          </p:nvSpPr>
          <p:spPr>
            <a:xfrm>
              <a:off x="7264950" y="1909175"/>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73"/>
            <p:cNvSpPr/>
            <p:nvPr/>
          </p:nvSpPr>
          <p:spPr>
            <a:xfrm>
              <a:off x="6421450" y="1639800"/>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73"/>
            <p:cNvSpPr/>
            <p:nvPr/>
          </p:nvSpPr>
          <p:spPr>
            <a:xfrm>
              <a:off x="6632325" y="1639800"/>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73"/>
            <p:cNvSpPr/>
            <p:nvPr/>
          </p:nvSpPr>
          <p:spPr>
            <a:xfrm>
              <a:off x="6843200" y="1639800"/>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73"/>
            <p:cNvSpPr/>
            <p:nvPr/>
          </p:nvSpPr>
          <p:spPr>
            <a:xfrm>
              <a:off x="7054075" y="1639800"/>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73"/>
            <p:cNvSpPr/>
            <p:nvPr/>
          </p:nvSpPr>
          <p:spPr>
            <a:xfrm>
              <a:off x="7264950" y="1639800"/>
              <a:ext cx="158700" cy="1422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73"/>
            <p:cNvSpPr/>
            <p:nvPr/>
          </p:nvSpPr>
          <p:spPr>
            <a:xfrm>
              <a:off x="5935775" y="1595375"/>
              <a:ext cx="1784700" cy="769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8" name="Google Shape;1068;p73"/>
          <p:cNvSpPr txBox="1"/>
          <p:nvPr/>
        </p:nvSpPr>
        <p:spPr>
          <a:xfrm>
            <a:off x="6763425" y="1782675"/>
            <a:ext cx="1704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Low intensity</a:t>
            </a:r>
            <a:endParaRPr>
              <a:latin typeface="Nunito"/>
              <a:ea typeface="Nunito"/>
              <a:cs typeface="Nunito"/>
              <a:sym typeface="Nunito"/>
            </a:endParaRPr>
          </a:p>
        </p:txBody>
      </p:sp>
      <p:sp>
        <p:nvSpPr>
          <p:cNvPr id="1069" name="Google Shape;1069;p73"/>
          <p:cNvSpPr txBox="1"/>
          <p:nvPr/>
        </p:nvSpPr>
        <p:spPr>
          <a:xfrm>
            <a:off x="5980725" y="2926225"/>
            <a:ext cx="2049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Many other problems</a:t>
            </a:r>
            <a:endParaRPr>
              <a:latin typeface="Nunito"/>
              <a:ea typeface="Nunito"/>
              <a:cs typeface="Nunito"/>
              <a:sym typeface="Nunito"/>
            </a:endParaRPr>
          </a:p>
        </p:txBody>
      </p:sp>
      <p:sp>
        <p:nvSpPr>
          <p:cNvPr id="1070" name="Google Shape;1070;p73"/>
          <p:cNvSpPr/>
          <p:nvPr/>
        </p:nvSpPr>
        <p:spPr>
          <a:xfrm>
            <a:off x="1998025" y="1942600"/>
            <a:ext cx="158700" cy="142200"/>
          </a:xfrm>
          <a:prstGeom prst="rect">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73"/>
          <p:cNvSpPr/>
          <p:nvPr/>
        </p:nvSpPr>
        <p:spPr>
          <a:xfrm>
            <a:off x="1998025" y="1673225"/>
            <a:ext cx="158700" cy="142200"/>
          </a:xfrm>
          <a:prstGeom prst="rect">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73"/>
          <p:cNvSpPr/>
          <p:nvPr/>
        </p:nvSpPr>
        <p:spPr>
          <a:xfrm>
            <a:off x="541700" y="1942600"/>
            <a:ext cx="158700" cy="142200"/>
          </a:xfrm>
          <a:prstGeom prst="rect">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73"/>
          <p:cNvSpPr/>
          <p:nvPr/>
        </p:nvSpPr>
        <p:spPr>
          <a:xfrm>
            <a:off x="752575" y="1673225"/>
            <a:ext cx="158700" cy="142200"/>
          </a:xfrm>
          <a:prstGeom prst="rect">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73"/>
          <p:cNvSpPr/>
          <p:nvPr/>
        </p:nvSpPr>
        <p:spPr>
          <a:xfrm>
            <a:off x="541700" y="1673225"/>
            <a:ext cx="158700" cy="142200"/>
          </a:xfrm>
          <a:prstGeom prst="rect">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4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3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4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6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80">
          <a:extLst>
            <a:ext uri="{FF2B5EF4-FFF2-40B4-BE49-F238E27FC236}">
              <a16:creationId xmlns:a16="http://schemas.microsoft.com/office/drawing/2014/main" id="{D6E98548-760C-A124-6E1B-9C735DA41BA5}"/>
            </a:ext>
          </a:extLst>
        </p:cNvPr>
        <p:cNvGrpSpPr/>
        <p:nvPr/>
      </p:nvGrpSpPr>
      <p:grpSpPr>
        <a:xfrm>
          <a:off x="0" y="0"/>
          <a:ext cx="0" cy="0"/>
          <a:chOff x="0" y="0"/>
          <a:chExt cx="0" cy="0"/>
        </a:xfrm>
      </p:grpSpPr>
      <p:sp>
        <p:nvSpPr>
          <p:cNvPr id="981" name="Google Shape;981;p72">
            <a:extLst>
              <a:ext uri="{FF2B5EF4-FFF2-40B4-BE49-F238E27FC236}">
                <a16:creationId xmlns:a16="http://schemas.microsoft.com/office/drawing/2014/main" id="{6956565B-C66F-6D05-FD31-8D209A4451D7}"/>
              </a:ext>
            </a:extLst>
          </p:cNvPr>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- 2D-View</a:t>
            </a:r>
            <a:endParaRPr/>
          </a:p>
        </p:txBody>
      </p:sp>
      <p:pic>
        <p:nvPicPr>
          <p:cNvPr id="982" name="Google Shape;982;p72">
            <a:extLst>
              <a:ext uri="{FF2B5EF4-FFF2-40B4-BE49-F238E27FC236}">
                <a16:creationId xmlns:a16="http://schemas.microsoft.com/office/drawing/2014/main" id="{DBFCF1F2-CE83-6D93-4C9F-7AD65432D00B}"/>
              </a:ext>
            </a:extLst>
          </p:cNvPr>
          <p:cNvPicPr preferRelativeResize="0"/>
          <p:nvPr/>
        </p:nvPicPr>
        <p:blipFill rotWithShape="1">
          <a:blip r:embed="rId3">
            <a:alphaModFix/>
          </a:blip>
          <a:srcRect r="23826" b="36269"/>
          <a:stretch/>
        </p:blipFill>
        <p:spPr>
          <a:xfrm>
            <a:off x="2436550" y="1279025"/>
            <a:ext cx="3918001" cy="3277975"/>
          </a:xfrm>
          <a:prstGeom prst="rect">
            <a:avLst/>
          </a:prstGeom>
          <a:noFill/>
          <a:ln w="9525" cap="flat" cmpd="sng">
            <a:solidFill>
              <a:srgbClr val="404040"/>
            </a:solidFill>
            <a:prstDash val="solid"/>
            <a:round/>
            <a:headEnd type="none" w="sm" len="sm"/>
            <a:tailEnd type="none" w="sm" len="sm"/>
          </a:ln>
        </p:spPr>
      </p:pic>
      <p:sp>
        <p:nvSpPr>
          <p:cNvPr id="983" name="Google Shape;983;p72">
            <a:extLst>
              <a:ext uri="{FF2B5EF4-FFF2-40B4-BE49-F238E27FC236}">
                <a16:creationId xmlns:a16="http://schemas.microsoft.com/office/drawing/2014/main" id="{683BFD20-B2E4-500F-592F-9F3A7303D111}"/>
              </a:ext>
            </a:extLst>
          </p:cNvPr>
          <p:cNvSpPr txBox="1"/>
          <p:nvPr/>
        </p:nvSpPr>
        <p:spPr>
          <a:xfrm>
            <a:off x="3476550" y="4612125"/>
            <a:ext cx="1997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Retention time →</a:t>
            </a:r>
            <a:endParaRPr>
              <a:latin typeface="Nunito"/>
              <a:ea typeface="Nunito"/>
              <a:cs typeface="Nunito"/>
              <a:sym typeface="Nunito"/>
            </a:endParaRPr>
          </a:p>
        </p:txBody>
      </p:sp>
      <p:sp>
        <p:nvSpPr>
          <p:cNvPr id="984" name="Google Shape;984;p72">
            <a:extLst>
              <a:ext uri="{FF2B5EF4-FFF2-40B4-BE49-F238E27FC236}">
                <a16:creationId xmlns:a16="http://schemas.microsoft.com/office/drawing/2014/main" id="{6D291CD5-DC56-1610-C4A3-47A869C2A5EF}"/>
              </a:ext>
            </a:extLst>
          </p:cNvPr>
          <p:cNvSpPr txBox="1"/>
          <p:nvPr/>
        </p:nvSpPr>
        <p:spPr>
          <a:xfrm rot="-5400000">
            <a:off x="1527525" y="2717913"/>
            <a:ext cx="985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m/z →</a:t>
            </a:r>
            <a:endParaRPr>
              <a:latin typeface="Nunito"/>
              <a:ea typeface="Nunito"/>
              <a:cs typeface="Nunito"/>
              <a:sym typeface="Nunito"/>
            </a:endParaRPr>
          </a:p>
        </p:txBody>
      </p:sp>
      <p:sp>
        <p:nvSpPr>
          <p:cNvPr id="986" name="Google Shape;986;p72">
            <a:extLst>
              <a:ext uri="{FF2B5EF4-FFF2-40B4-BE49-F238E27FC236}">
                <a16:creationId xmlns:a16="http://schemas.microsoft.com/office/drawing/2014/main" id="{DAEC0B6C-3A17-D736-8719-AF0756A68DCF}"/>
              </a:ext>
            </a:extLst>
          </p:cNvPr>
          <p:cNvSpPr/>
          <p:nvPr/>
        </p:nvSpPr>
        <p:spPr>
          <a:xfrm>
            <a:off x="5054000" y="1473975"/>
            <a:ext cx="134400" cy="84000"/>
          </a:xfrm>
          <a:prstGeom prst="rect">
            <a:avLst/>
          </a:prstGeom>
          <a:no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72">
            <a:extLst>
              <a:ext uri="{FF2B5EF4-FFF2-40B4-BE49-F238E27FC236}">
                <a16:creationId xmlns:a16="http://schemas.microsoft.com/office/drawing/2014/main" id="{10C60A24-5A71-2B57-DF73-78ADA1C4EEF9}"/>
              </a:ext>
            </a:extLst>
          </p:cNvPr>
          <p:cNvSpPr/>
          <p:nvPr/>
        </p:nvSpPr>
        <p:spPr>
          <a:xfrm>
            <a:off x="5218975" y="1790000"/>
            <a:ext cx="134400" cy="84000"/>
          </a:xfrm>
          <a:prstGeom prst="rect">
            <a:avLst/>
          </a:prstGeom>
          <a:no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72">
            <a:extLst>
              <a:ext uri="{FF2B5EF4-FFF2-40B4-BE49-F238E27FC236}">
                <a16:creationId xmlns:a16="http://schemas.microsoft.com/office/drawing/2014/main" id="{467949DE-6EDA-1BE5-40A2-4EFD5B26B0E2}"/>
              </a:ext>
            </a:extLst>
          </p:cNvPr>
          <p:cNvSpPr/>
          <p:nvPr/>
        </p:nvSpPr>
        <p:spPr>
          <a:xfrm>
            <a:off x="5832950" y="1443050"/>
            <a:ext cx="134400" cy="84000"/>
          </a:xfrm>
          <a:prstGeom prst="rect">
            <a:avLst/>
          </a:prstGeom>
          <a:no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89" name="Google Shape;989;p72">
            <a:extLst>
              <a:ext uri="{FF2B5EF4-FFF2-40B4-BE49-F238E27FC236}">
                <a16:creationId xmlns:a16="http://schemas.microsoft.com/office/drawing/2014/main" id="{799057B6-C80A-7F42-EE4F-81A0C837FDBB}"/>
              </a:ext>
            </a:extLst>
          </p:cNvPr>
          <p:cNvCxnSpPr>
            <a:cxnSpLocks/>
            <a:stCxn id="986" idx="3"/>
            <a:endCxn id="990" idx="3"/>
          </p:cNvCxnSpPr>
          <p:nvPr/>
        </p:nvCxnSpPr>
        <p:spPr>
          <a:xfrm>
            <a:off x="5188400" y="1515975"/>
            <a:ext cx="2349573" cy="430403"/>
          </a:xfrm>
          <a:prstGeom prst="straightConnector1">
            <a:avLst/>
          </a:prstGeom>
          <a:noFill/>
          <a:ln w="9525" cap="flat" cmpd="sng">
            <a:solidFill>
              <a:schemeClr val="dk2"/>
            </a:solidFill>
            <a:prstDash val="solid"/>
            <a:round/>
            <a:headEnd type="none" w="med" len="med"/>
            <a:tailEnd type="triangle" w="med" len="med"/>
          </a:ln>
        </p:spPr>
      </p:cxnSp>
      <p:cxnSp>
        <p:nvCxnSpPr>
          <p:cNvPr id="991" name="Google Shape;991;p72">
            <a:extLst>
              <a:ext uri="{FF2B5EF4-FFF2-40B4-BE49-F238E27FC236}">
                <a16:creationId xmlns:a16="http://schemas.microsoft.com/office/drawing/2014/main" id="{63771C80-ED3C-5C86-7722-4917F01E3BF4}"/>
              </a:ext>
            </a:extLst>
          </p:cNvPr>
          <p:cNvCxnSpPr>
            <a:cxnSpLocks/>
            <a:stCxn id="988" idx="3"/>
            <a:endCxn id="990" idx="3"/>
          </p:cNvCxnSpPr>
          <p:nvPr/>
        </p:nvCxnSpPr>
        <p:spPr>
          <a:xfrm>
            <a:off x="5967350" y="1485050"/>
            <a:ext cx="1570623" cy="461328"/>
          </a:xfrm>
          <a:prstGeom prst="straightConnector1">
            <a:avLst/>
          </a:prstGeom>
          <a:noFill/>
          <a:ln w="9525" cap="flat" cmpd="sng">
            <a:solidFill>
              <a:schemeClr val="dk2"/>
            </a:solidFill>
            <a:prstDash val="solid"/>
            <a:round/>
            <a:headEnd type="none" w="med" len="med"/>
            <a:tailEnd type="triangle" w="med" len="med"/>
          </a:ln>
        </p:spPr>
      </p:cxnSp>
      <p:cxnSp>
        <p:nvCxnSpPr>
          <p:cNvPr id="992" name="Google Shape;992;p72">
            <a:extLst>
              <a:ext uri="{FF2B5EF4-FFF2-40B4-BE49-F238E27FC236}">
                <a16:creationId xmlns:a16="http://schemas.microsoft.com/office/drawing/2014/main" id="{4F91C414-DBC1-ACA0-2BC3-64083B9AB8FF}"/>
              </a:ext>
            </a:extLst>
          </p:cNvPr>
          <p:cNvCxnSpPr>
            <a:cxnSpLocks/>
            <a:stCxn id="987" idx="3"/>
            <a:endCxn id="990" idx="3"/>
          </p:cNvCxnSpPr>
          <p:nvPr/>
        </p:nvCxnSpPr>
        <p:spPr>
          <a:xfrm>
            <a:off x="5353375" y="1832000"/>
            <a:ext cx="2184598" cy="114378"/>
          </a:xfrm>
          <a:prstGeom prst="straightConnector1">
            <a:avLst/>
          </a:prstGeom>
          <a:noFill/>
          <a:ln w="9525" cap="flat" cmpd="sng">
            <a:solidFill>
              <a:schemeClr val="dk2"/>
            </a:solidFill>
            <a:prstDash val="solid"/>
            <a:round/>
            <a:headEnd type="none" w="med" len="med"/>
            <a:tailEnd type="triangle" w="med" len="med"/>
          </a:ln>
        </p:spPr>
      </p:cxnSp>
      <p:sp>
        <p:nvSpPr>
          <p:cNvPr id="990" name="Google Shape;990;p72">
            <a:extLst>
              <a:ext uri="{FF2B5EF4-FFF2-40B4-BE49-F238E27FC236}">
                <a16:creationId xmlns:a16="http://schemas.microsoft.com/office/drawing/2014/main" id="{5B53EEA8-01AE-CE74-0E8B-99FE18A79E26}"/>
              </a:ext>
            </a:extLst>
          </p:cNvPr>
          <p:cNvSpPr txBox="1"/>
          <p:nvPr/>
        </p:nvSpPr>
        <p:spPr>
          <a:xfrm flipH="1">
            <a:off x="7537973" y="1746338"/>
            <a:ext cx="937159"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latin typeface="Nunito"/>
                <a:ea typeface="Nunito"/>
                <a:cs typeface="Nunito"/>
                <a:sym typeface="Nunito"/>
              </a:rPr>
              <a:t>Features</a:t>
            </a:r>
            <a:endParaRPr dirty="0">
              <a:latin typeface="Nunito"/>
              <a:ea typeface="Nunito"/>
              <a:cs typeface="Nunito"/>
              <a:sym typeface="Nunito"/>
            </a:endParaRPr>
          </a:p>
        </p:txBody>
      </p:sp>
      <p:sp>
        <p:nvSpPr>
          <p:cNvPr id="11" name="TextBox 10">
            <a:extLst>
              <a:ext uri="{FF2B5EF4-FFF2-40B4-BE49-F238E27FC236}">
                <a16:creationId xmlns:a16="http://schemas.microsoft.com/office/drawing/2014/main" id="{885DC292-8F88-4580-C9EE-27A9704402BB}"/>
              </a:ext>
            </a:extLst>
          </p:cNvPr>
          <p:cNvSpPr txBox="1"/>
          <p:nvPr/>
        </p:nvSpPr>
        <p:spPr>
          <a:xfrm>
            <a:off x="7185434" y="2425263"/>
            <a:ext cx="1642236" cy="738664"/>
          </a:xfrm>
          <a:prstGeom prst="rect">
            <a:avLst/>
          </a:prstGeom>
          <a:noFill/>
        </p:spPr>
        <p:txBody>
          <a:bodyPr wrap="square" rtlCol="0">
            <a:spAutoFit/>
          </a:bodyPr>
          <a:lstStyle/>
          <a:p>
            <a:pPr algn="ctr"/>
            <a:r>
              <a:rPr lang="en-US" dirty="0">
                <a:latin typeface="Nunito"/>
              </a:rPr>
              <a:t>More than 1000s of</a:t>
            </a:r>
            <a:r>
              <a:rPr lang="en-US" dirty="0"/>
              <a:t> </a:t>
            </a:r>
            <a:r>
              <a:rPr lang="en-US" dirty="0">
                <a:latin typeface="Nunito"/>
              </a:rPr>
              <a:t>features in total</a:t>
            </a:r>
          </a:p>
        </p:txBody>
      </p:sp>
    </p:spTree>
    <p:extLst>
      <p:ext uri="{BB962C8B-B14F-4D97-AF65-F5344CB8AC3E}">
        <p14:creationId xmlns:p14="http://schemas.microsoft.com/office/powerpoint/2010/main" val="28612742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78"/>
        <p:cNvGrpSpPr/>
        <p:nvPr/>
      </p:nvGrpSpPr>
      <p:grpSpPr>
        <a:xfrm>
          <a:off x="0" y="0"/>
          <a:ext cx="0" cy="0"/>
          <a:chOff x="0" y="0"/>
          <a:chExt cx="0" cy="0"/>
        </a:xfrm>
      </p:grpSpPr>
      <p:sp>
        <p:nvSpPr>
          <p:cNvPr id="1079" name="Google Shape;1079;p74"/>
          <p:cNvSpPr txBox="1">
            <a:spLocks noGrp="1"/>
          </p:cNvSpPr>
          <p:nvPr>
            <p:ph type="title"/>
          </p:nvPr>
        </p:nvSpPr>
        <p:spPr>
          <a:xfrm>
            <a:off x="1303800" y="598575"/>
            <a:ext cx="33492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 samples</a:t>
            </a:r>
            <a:endParaRPr/>
          </a:p>
        </p:txBody>
      </p:sp>
      <p:pic>
        <p:nvPicPr>
          <p:cNvPr id="1080" name="Google Shape;1080;p74"/>
          <p:cNvPicPr preferRelativeResize="0"/>
          <p:nvPr/>
        </p:nvPicPr>
        <p:blipFill rotWithShape="1">
          <a:blip r:embed="rId3">
            <a:alphaModFix/>
          </a:blip>
          <a:srcRect r="23826" b="36269"/>
          <a:stretch/>
        </p:blipFill>
        <p:spPr>
          <a:xfrm>
            <a:off x="4271875" y="704163"/>
            <a:ext cx="3918001" cy="3277975"/>
          </a:xfrm>
          <a:prstGeom prst="rect">
            <a:avLst/>
          </a:prstGeom>
          <a:noFill/>
          <a:ln w="19050" cap="flat" cmpd="sng">
            <a:solidFill>
              <a:srgbClr val="000000"/>
            </a:solidFill>
            <a:prstDash val="solid"/>
            <a:round/>
            <a:headEnd type="none" w="sm" len="sm"/>
            <a:tailEnd type="none" w="sm" len="sm"/>
          </a:ln>
        </p:spPr>
      </p:pic>
      <p:pic>
        <p:nvPicPr>
          <p:cNvPr id="1081" name="Google Shape;1081;p74"/>
          <p:cNvPicPr preferRelativeResize="0"/>
          <p:nvPr/>
        </p:nvPicPr>
        <p:blipFill rotWithShape="1">
          <a:blip r:embed="rId3">
            <a:alphaModFix/>
          </a:blip>
          <a:srcRect r="23826" b="36269"/>
          <a:stretch/>
        </p:blipFill>
        <p:spPr>
          <a:xfrm>
            <a:off x="4424275" y="856563"/>
            <a:ext cx="3918001" cy="3277975"/>
          </a:xfrm>
          <a:prstGeom prst="rect">
            <a:avLst/>
          </a:prstGeom>
          <a:noFill/>
          <a:ln w="19050" cap="flat" cmpd="sng">
            <a:solidFill>
              <a:srgbClr val="404040"/>
            </a:solidFill>
            <a:prstDash val="solid"/>
            <a:round/>
            <a:headEnd type="none" w="sm" len="sm"/>
            <a:tailEnd type="none" w="sm" len="sm"/>
          </a:ln>
        </p:spPr>
      </p:pic>
      <p:pic>
        <p:nvPicPr>
          <p:cNvPr id="1082" name="Google Shape;1082;p74"/>
          <p:cNvPicPr preferRelativeResize="0"/>
          <p:nvPr/>
        </p:nvPicPr>
        <p:blipFill rotWithShape="1">
          <a:blip r:embed="rId3">
            <a:alphaModFix/>
          </a:blip>
          <a:srcRect r="23826" b="36269"/>
          <a:stretch/>
        </p:blipFill>
        <p:spPr>
          <a:xfrm>
            <a:off x="4576675" y="1008963"/>
            <a:ext cx="3918001" cy="3277975"/>
          </a:xfrm>
          <a:prstGeom prst="rect">
            <a:avLst/>
          </a:prstGeom>
          <a:noFill/>
          <a:ln w="19050" cap="flat" cmpd="sng">
            <a:solidFill>
              <a:srgbClr val="404040"/>
            </a:solidFill>
            <a:prstDash val="solid"/>
            <a:round/>
            <a:headEnd type="none" w="sm" len="sm"/>
            <a:tailEnd type="none" w="sm" len="sm"/>
          </a:ln>
        </p:spPr>
      </p:pic>
      <p:pic>
        <p:nvPicPr>
          <p:cNvPr id="1083" name="Google Shape;1083;p74"/>
          <p:cNvPicPr preferRelativeResize="0"/>
          <p:nvPr/>
        </p:nvPicPr>
        <p:blipFill rotWithShape="1">
          <a:blip r:embed="rId3">
            <a:alphaModFix/>
          </a:blip>
          <a:srcRect r="23826" b="36269"/>
          <a:stretch/>
        </p:blipFill>
        <p:spPr>
          <a:xfrm>
            <a:off x="4729075" y="1161363"/>
            <a:ext cx="3918001" cy="3277975"/>
          </a:xfrm>
          <a:prstGeom prst="rect">
            <a:avLst/>
          </a:prstGeom>
          <a:noFill/>
          <a:ln w="19050" cap="flat" cmpd="sng">
            <a:solidFill>
              <a:srgbClr val="404040"/>
            </a:solidFill>
            <a:prstDash val="solid"/>
            <a:round/>
            <a:headEnd type="none" w="sm" len="sm"/>
            <a:tailEnd type="none" w="sm" len="sm"/>
          </a:ln>
        </p:spPr>
      </p:pic>
      <p:pic>
        <p:nvPicPr>
          <p:cNvPr id="1084" name="Google Shape;1084;p74"/>
          <p:cNvPicPr preferRelativeResize="0"/>
          <p:nvPr/>
        </p:nvPicPr>
        <p:blipFill rotWithShape="1">
          <a:blip r:embed="rId3">
            <a:alphaModFix/>
          </a:blip>
          <a:srcRect r="23826" b="36269"/>
          <a:stretch/>
        </p:blipFill>
        <p:spPr>
          <a:xfrm>
            <a:off x="4881475" y="1313763"/>
            <a:ext cx="3918001" cy="3277975"/>
          </a:xfrm>
          <a:prstGeom prst="rect">
            <a:avLst/>
          </a:prstGeom>
          <a:noFill/>
          <a:ln w="19050" cap="flat" cmpd="sng">
            <a:solidFill>
              <a:srgbClr val="404040"/>
            </a:solidFill>
            <a:prstDash val="solid"/>
            <a:round/>
            <a:headEnd type="none" w="sm" len="sm"/>
            <a:tailEnd type="none" w="sm" len="sm"/>
          </a:ln>
        </p:spPr>
      </p:pic>
      <p:cxnSp>
        <p:nvCxnSpPr>
          <p:cNvPr id="1085" name="Google Shape;1085;p74"/>
          <p:cNvCxnSpPr/>
          <p:nvPr/>
        </p:nvCxnSpPr>
        <p:spPr>
          <a:xfrm>
            <a:off x="3944200" y="3975075"/>
            <a:ext cx="708900" cy="708900"/>
          </a:xfrm>
          <a:prstGeom prst="straightConnector1">
            <a:avLst/>
          </a:prstGeom>
          <a:noFill/>
          <a:ln w="9525" cap="flat" cmpd="sng">
            <a:solidFill>
              <a:schemeClr val="dk2"/>
            </a:solidFill>
            <a:prstDash val="solid"/>
            <a:round/>
            <a:headEnd type="none" w="med" len="med"/>
            <a:tailEnd type="triangle" w="med" len="med"/>
          </a:ln>
        </p:spPr>
      </p:cxnSp>
      <p:sp>
        <p:nvSpPr>
          <p:cNvPr id="1086" name="Google Shape;1086;p74"/>
          <p:cNvSpPr txBox="1"/>
          <p:nvPr/>
        </p:nvSpPr>
        <p:spPr>
          <a:xfrm>
            <a:off x="3119275" y="4134550"/>
            <a:ext cx="1152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n-samples</a:t>
            </a:r>
            <a:endParaRPr>
              <a:latin typeface="Nunito"/>
              <a:ea typeface="Nunito"/>
              <a:cs typeface="Nunito"/>
              <a:sym typeface="Nunito"/>
            </a:endParaRPr>
          </a:p>
        </p:txBody>
      </p:sp>
      <p:sp>
        <p:nvSpPr>
          <p:cNvPr id="1087" name="Google Shape;1087;p74"/>
          <p:cNvSpPr txBox="1"/>
          <p:nvPr/>
        </p:nvSpPr>
        <p:spPr>
          <a:xfrm>
            <a:off x="194950" y="2295463"/>
            <a:ext cx="3200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Nunito"/>
                <a:ea typeface="Nunito"/>
                <a:cs typeface="Nunito"/>
                <a:sym typeface="Nunito"/>
              </a:rPr>
              <a:t>Connecting features across samples</a:t>
            </a:r>
            <a:endParaRPr>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291</TotalTime>
  <Words>5874</Words>
  <Application>Microsoft Macintosh PowerPoint</Application>
  <PresentationFormat>On-screen Show (16:9)</PresentationFormat>
  <Paragraphs>1010</Paragraphs>
  <Slides>63</Slides>
  <Notes>63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63</vt:i4>
      </vt:variant>
    </vt:vector>
  </HeadingPairs>
  <TitlesOfParts>
    <vt:vector size="70" baseType="lpstr">
      <vt:lpstr>Courier New</vt:lpstr>
      <vt:lpstr>Arial</vt:lpstr>
      <vt:lpstr>Lato</vt:lpstr>
      <vt:lpstr>Nunito</vt:lpstr>
      <vt:lpstr>Maven Pro</vt:lpstr>
      <vt:lpstr>Roboto</vt:lpstr>
      <vt:lpstr>Momentum</vt:lpstr>
      <vt:lpstr>Introduction to Nextflow</vt:lpstr>
      <vt:lpstr>Pipeline</vt:lpstr>
      <vt:lpstr>What is Nextflow?</vt:lpstr>
      <vt:lpstr>PowerPoint Presentation</vt:lpstr>
      <vt:lpstr>Nextflow</vt:lpstr>
      <vt:lpstr>PowerPoint Presentation</vt:lpstr>
      <vt:lpstr>Overview</vt:lpstr>
      <vt:lpstr>How does it work?</vt:lpstr>
      <vt:lpstr>Example</vt:lpstr>
      <vt:lpstr>Usage</vt:lpstr>
      <vt:lpstr>Basics</vt:lpstr>
      <vt:lpstr>Channels</vt:lpstr>
      <vt:lpstr>How to create a channel?</vt:lpstr>
      <vt:lpstr>How to create a channel?</vt:lpstr>
      <vt:lpstr>How to create file channels?</vt:lpstr>
      <vt:lpstr>Processes</vt:lpstr>
      <vt:lpstr>Directives</vt:lpstr>
      <vt:lpstr>Directives</vt:lpstr>
      <vt:lpstr>Directives - publishDir</vt:lpstr>
      <vt:lpstr>Directives - publishDir</vt:lpstr>
      <vt:lpstr>Directives - publishDir</vt:lpstr>
      <vt:lpstr>Directives - conda</vt:lpstr>
      <vt:lpstr>Directives - module</vt:lpstr>
      <vt:lpstr>Directives - container</vt:lpstr>
      <vt:lpstr>Directives - stageInMode</vt:lpstr>
      <vt:lpstr>Directives - tag</vt:lpstr>
      <vt:lpstr>Directives - label</vt:lpstr>
      <vt:lpstr>Directives - some more</vt:lpstr>
      <vt:lpstr>Input</vt:lpstr>
      <vt:lpstr>Input</vt:lpstr>
      <vt:lpstr>Input - val</vt:lpstr>
      <vt:lpstr>Input - file</vt:lpstr>
      <vt:lpstr>Input - tuple</vt:lpstr>
      <vt:lpstr>Input - each</vt:lpstr>
      <vt:lpstr>When</vt:lpstr>
      <vt:lpstr>Script</vt:lpstr>
      <vt:lpstr>Script</vt:lpstr>
      <vt:lpstr>Output</vt:lpstr>
      <vt:lpstr>Output</vt:lpstr>
      <vt:lpstr>Output - file</vt:lpstr>
      <vt:lpstr>Output - val</vt:lpstr>
      <vt:lpstr>Workflow</vt:lpstr>
      <vt:lpstr>Operators - view, print, println</vt:lpstr>
      <vt:lpstr>Operators - set, into</vt:lpstr>
      <vt:lpstr>Operators - collect</vt:lpstr>
      <vt:lpstr>Operators - flatten</vt:lpstr>
      <vt:lpstr>Operators - map</vt:lpstr>
      <vt:lpstr>Operators - until</vt:lpstr>
      <vt:lpstr>Configuration file</vt:lpstr>
      <vt:lpstr>Nextflow - how to write a pipeline</vt:lpstr>
      <vt:lpstr>More tutorials</vt:lpstr>
      <vt:lpstr>Questions</vt:lpstr>
      <vt:lpstr>Demo session</vt:lpstr>
      <vt:lpstr>Mass spectrometry and data analysis</vt:lpstr>
      <vt:lpstr>Data - snapshots</vt:lpstr>
      <vt:lpstr>Data</vt:lpstr>
      <vt:lpstr>Data - centroiding</vt:lpstr>
      <vt:lpstr>Data - over time</vt:lpstr>
      <vt:lpstr>Data - over time</vt:lpstr>
      <vt:lpstr>Data - 2D-View</vt:lpstr>
      <vt:lpstr>Data - features</vt:lpstr>
      <vt:lpstr>Data - 2D-View</vt:lpstr>
      <vt:lpstr>Data - samples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Akshai Parakkal Sreenivasan</cp:lastModifiedBy>
  <cp:revision>6</cp:revision>
  <dcterms:modified xsi:type="dcterms:W3CDTF">2026-04-17T13:42:58Z</dcterms:modified>
</cp:coreProperties>
</file>